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f173ed-43f2-5a56-d5e5-846f3da34c6f}">
          <p14:sldIdLst>
            <p14:sldId id="256"/>
          </p14:sldIdLst>
        </p14:section>
        <p14:section name="Problem" id="{4f8d1150-a965-ba58-bbff-9445a187ae56}">
          <p14:sldIdLst>
            <p14:sldId id="257"/>
          </p14:sldIdLst>
        </p14:section>
        <p14:section name="Solution" id="{e221b02d-a0b1-3832-5a1b-04cadae95edb}">
          <p14:sldIdLst>
            <p14:sldId id="258"/>
            <p14:sldId id="259"/>
            <p14:sldId id="260"/>
            <p14:sldId id="261"/>
          </p14:sldIdLst>
        </p14:section>
        <p14:section name="Demo" id="{ea31403f-fbcc-c842-4d45-820fafdf8e22}">
          <p14:sldIdLst>
            <p14:sldId id="262"/>
            <p14:sldId id="263"/>
          </p14:sldIdLst>
        </p14:section>
        <p14:section name="Build" id="{24d2a5ba-0c71-aff1-b938-a84566f191f5}">
          <p14:sldIdLst>
            <p14:sldId id="264"/>
          </p14:sldIdLst>
        </p14:section>
        <p14:section name="Close" id="{13f87c2b-df6e-4c00-09a5-775bfa5f33f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demo you'll see today asks you to hand over your life: your address, your card, your diagnosis. Then it sends that data to whatever tool it feels like calling. We built Consentry, a consent firewall for AI agents. Your agent can use the world's public data. The world can't use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going from chatbots to doers: they book, buy, refill and ride. But context is all or nothing. Whatever the agent knows, every tool it calls can learn, and so can the model provider. One poisoned web page can redirect it. And afterwards nobody can prove what was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principle: don't trust the model, enforce at the boundary. A model that usually refuses is not a control. Consentry is a single choke point. Every field in every request is classified and judged on data type, recipient and purpose. The LLM is treated as a recipient too, so it only sees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outcomes per field. Allow: my VIN goes to NHTSA for recalls. Minimize: my exact GPS becomes a 10-kilometer grid for the weather API. Ask: the agent pauses and I decide. Deny: my SSN, real card and mental-health data never leave. This is the live data-flow map from the product. Every packet is a field, colored by its fate.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Minimizers keep the task working while shrinking what leaves. Exact GPS becomes a 10-km grid. My phone and email become relay aliases. My card becomes a single-use, merchant-locked virtual card. My allergy becomes 'peanut-free meal required', not a diagnosis. An insurance API asked for eight fields. It got two exact, four minimized, two withheld, and still produced the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it matters, the agent stops and asks. Exact versus minimized, side by side, with the partner's own retention policy. Choose minimized, once, thirty days, or deny. Every run prints a privacy receipt, and every decision is hash-chained, so if anyone edits history we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product. The weather, air quality, alerts, earthquakes, vehicle and drug recalls are live from twelve public APIs: NWS, USGS, NHTSA, openFDA, OpenFEMA, Open-Meteo and Wikipedia. Watch the booking: TableTap gets my real name, a relay phone, a relay email and a single-use card. My allergy goes out as a dietary need only after I approve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build defenses, we attacked them. A restaurant review hides instructions to send my SSN to a tracking domain, and we simulate an agent that actually obeys. Ingress quarantine catches it, the run is tainted, default-deny egress blocks the domain, and hard lines hold. Five attacks, five contained.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one isomorphic TypeScript core that runs in Node and in the browser. A Hono gateway with server-sent events, an SQLite ledger and an AES-256-GCM vault. An MCP bridge so Claude Desktop, Claude Code or Cursor can route tool calls through it. And a local-first mode, so the live demo has no backend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Agents are shipping into every app, and privacy law already demands purpose limitation and minimization. Without a boundary like this, agents can't comply. Our model is an open-source core, a team gateway, and enterprise policy packs and anchoring. It's open source today; scan to try it. Your data, your rules, your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875520" cy="310896"/>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13232"/>
            <a:ext cx="1024128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txBox="1"/>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rgbClr val="77736A"/>
                </a:solidFill>
              </a:rPr>
              <a:t>C O N S E N T R Y   ·   the consent firewall for AI agents</a:t>
            </a:r>
            <a:endParaRPr lang="en-US" sz="10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gif"/><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6949440" y="-1463040"/>
            <a:ext cx="6858000" cy="6858000"/>
          </a:xfrm>
          <a:prstGeom prst="rect">
            <a:avLst/>
          </a:prstGeom>
        </p:spPr>
      </p:pic>
      <p:pic>
        <p:nvPicPr>
          <p:cNvPr id="3" name="!!logo" descr="media/logo.png">    </p:cNvPr>
          <p:cNvPicPr>
            <a:picLocks noChangeAspect="1"/>
          </p:cNvPicPr>
          <p:nvPr/>
        </p:nvPicPr>
        <p:blipFill>
          <a:blip r:embed="rId2"/>
          <a:stretch>
            <a:fillRect/>
          </a:stretch>
        </p:blipFill>
        <p:spPr>
          <a:xfrm>
            <a:off x="640080" y="822960"/>
            <a:ext cx="960120" cy="960120"/>
          </a:xfrm>
          <a:prstGeom prst="rect">
            <a:avLst/>
          </a:prstGeom>
        </p:spPr>
      </p:pic>
      <p:sp>
        <p:nvSpPr>
          <p:cNvPr id="4" name="anim-1-fade-wordmark"/>
          <p:cNvSpPr txBox="1"/>
          <p:nvPr/>
        </p:nvSpPr>
        <p:spPr>
          <a:xfrm>
            <a:off x="1783080" y="1078992"/>
            <a:ext cx="4114800" cy="457200"/>
          </a:xfrm>
          <a:prstGeom prst="rect">
            <a:avLst/>
          </a:prstGeom>
          <a:noFill/>
          <a:ln/>
        </p:spPr>
        <p:txBody>
          <a:bodyPr wrap="square" lIns="0" tIns="0" rIns="0" bIns="0" rtlCol="0" anchor="ctr"/>
          <a:lstStyle/>
          <a:p>
            <a:pPr indent="0" marL="0">
              <a:buNone/>
            </a:pPr>
            <a:r>
              <a:rPr lang="en-US" sz="2200" spc="400" kern="0" dirty="0">
                <a:solidFill>
                  <a:srgbClr val="FFFFFF"/>
                </a:solidFill>
              </a:rPr>
              <a:t>C O N S E N T R Y</a:t>
            </a:r>
            <a:endParaRPr lang="en-US" sz="2200" dirty="0"/>
          </a:p>
        </p:txBody>
      </p:sp>
      <p:sp>
        <p:nvSpPr>
          <p:cNvPr id="5" name="anim-1-fade-kicker"/>
          <p:cNvSpPr txBox="1"/>
          <p:nvPr/>
        </p:nvSpPr>
        <p:spPr>
          <a:xfrm>
            <a:off x="640080" y="2011680"/>
            <a:ext cx="5669280" cy="320040"/>
          </a:xfrm>
          <a:prstGeom prst="rect">
            <a:avLst/>
          </a:prstGeom>
          <a:noFill/>
          <a:ln/>
        </p:spPr>
        <p:txBody>
          <a:bodyPr wrap="square" lIns="0" tIns="0" rIns="0" bIns="0" rtlCol="0" anchor="ctr"/>
          <a:lstStyle/>
          <a:p>
            <a:pPr indent="0" marL="0">
              <a:buNone/>
            </a:pPr>
            <a:r>
              <a:rPr lang="en-US" sz="1300" b="1" spc="300" kern="0" dirty="0">
                <a:solidFill>
                  <a:srgbClr val="EFA56F"/>
                </a:solidFill>
              </a:rPr>
              <a:t>NATIONAL RENAISSANCE HACKATHON  ·  SUPER{SET}</a:t>
            </a:r>
            <a:endParaRPr lang="en-US" sz="1300" dirty="0"/>
          </a:p>
        </p:txBody>
      </p:sp>
      <p:sp>
        <p:nvSpPr>
          <p:cNvPr id="6" name="anim-2-rise-title"/>
          <p:cNvSpPr txBox="1"/>
          <p:nvPr/>
        </p:nvSpPr>
        <p:spPr>
          <a:xfrm>
            <a:off x="640080" y="2423160"/>
            <a:ext cx="6035040" cy="1691640"/>
          </a:xfrm>
          <a:prstGeom prst="rect">
            <a:avLst/>
          </a:prstGeom>
          <a:noFill/>
          <a:ln/>
        </p:spPr>
        <p:txBody>
          <a:bodyPr wrap="square" lIns="0" tIns="0" rIns="0" bIns="0" rtlCol="0" anchor="t"/>
          <a:lstStyle/>
          <a:p>
            <a:pPr indent="0" marL="0">
              <a:buNone/>
            </a:pPr>
            <a:r>
              <a:rPr lang="en-US" sz="5200" b="1" dirty="0">
                <a:solidFill>
                  <a:srgbClr val="FFFFFF"/>
                </a:solidFill>
              </a:rPr>
              <a:t>The consent firewall</a:t>
            </a:r>
            <a:endParaRPr lang="en-US" sz="5200" dirty="0"/>
          </a:p>
          <a:p>
            <a:pPr indent="0" marL="0">
              <a:buNone/>
            </a:pPr>
            <a:r>
              <a:rPr lang="en-US" sz="5200" b="1" dirty="0">
                <a:solidFill>
                  <a:srgbClr val="EFA56F"/>
                </a:solidFill>
              </a:rPr>
              <a:t>for AI agents</a:t>
            </a:r>
            <a:endParaRPr lang="en-US" sz="5200" dirty="0"/>
          </a:p>
        </p:txBody>
      </p:sp>
      <p:sp>
        <p:nvSpPr>
          <p:cNvPr id="7" name="anim-3-fade-sub"/>
          <p:cNvSpPr txBox="1"/>
          <p:nvPr/>
        </p:nvSpPr>
        <p:spPr>
          <a:xfrm>
            <a:off x="640080" y="4206240"/>
            <a:ext cx="5486400" cy="777240"/>
          </a:xfrm>
          <a:prstGeom prst="rect">
            <a:avLst/>
          </a:prstGeom>
          <a:noFill/>
          <a:ln/>
        </p:spPr>
        <p:txBody>
          <a:bodyPr wrap="square" lIns="0" tIns="0" rIns="0" bIns="0" rtlCol="0" anchor="t"/>
          <a:lstStyle/>
          <a:p>
            <a:pPr indent="0" marL="0">
              <a:buNone/>
            </a:pPr>
            <a:r>
              <a:rPr lang="en-US" sz="2000" dirty="0">
                <a:solidFill>
                  <a:srgbClr val="CDC7BB"/>
                </a:solidFill>
              </a:rPr>
              <a:t>Your agent can use the world's public data. The world can't use yours.</a:t>
            </a:r>
            <a:endParaRPr lang="en-US" sz="2000" dirty="0"/>
          </a:p>
        </p:txBody>
      </p:sp>
      <p:sp>
        <p:nvSpPr>
          <p:cNvPr id="8" name="anim-4-rise-p1-bg"/>
          <p:cNvSpPr/>
          <p:nvPr/>
        </p:nvSpPr>
        <p:spPr>
          <a:xfrm>
            <a:off x="640080" y="5257800"/>
            <a:ext cx="2697480" cy="384048"/>
          </a:xfrm>
          <a:prstGeom prst="roundRect">
            <a:avLst>
              <a:gd name="adj" fmla="val 50000"/>
            </a:avLst>
          </a:prstGeom>
          <a:solidFill>
            <a:srgbClr val="60A5FA">
              <a:alpha val="14000"/>
            </a:srgbClr>
          </a:solidFill>
          <a:ln w="12700">
            <a:solidFill>
              <a:srgbClr val="60A5FA"/>
            </a:solidFill>
            <a:prstDash val="solid"/>
          </a:ln>
        </p:spPr>
      </p:sp>
      <p:sp>
        <p:nvSpPr>
          <p:cNvPr id="9" name="anim-4-rise-p1-t"/>
          <p:cNvSpPr txBox="1"/>
          <p:nvPr/>
        </p:nvSpPr>
        <p:spPr>
          <a:xfrm>
            <a:off x="640080" y="5257800"/>
            <a:ext cx="2697480" cy="384048"/>
          </a:xfrm>
          <a:prstGeom prst="rect">
            <a:avLst/>
          </a:prstGeom>
          <a:noFill/>
          <a:ln/>
        </p:spPr>
        <p:txBody>
          <a:bodyPr wrap="square" lIns="0" tIns="0" rIns="0" bIns="0" rtlCol="0" anchor="ctr"/>
          <a:lstStyle/>
          <a:p>
            <a:pPr algn="ctr" indent="0" marL="0">
              <a:buNone/>
            </a:pPr>
            <a:r>
              <a:rPr lang="en-US" sz="1300" b="1" dirty="0">
                <a:solidFill>
                  <a:srgbClr val="60A5FA"/>
                </a:solidFill>
              </a:rPr>
              <a:t>Track 1 · Public Data APIs</a:t>
            </a:r>
            <a:endParaRPr lang="en-US" sz="1300" dirty="0"/>
          </a:p>
        </p:txBody>
      </p:sp>
      <p:sp>
        <p:nvSpPr>
          <p:cNvPr id="10" name="anim-4-rise-p2-bg"/>
          <p:cNvSpPr/>
          <p:nvPr/>
        </p:nvSpPr>
        <p:spPr>
          <a:xfrm>
            <a:off x="3474720" y="5257800"/>
            <a:ext cx="3291840" cy="384048"/>
          </a:xfrm>
          <a:prstGeom prst="roundRect">
            <a:avLst>
              <a:gd name="adj" fmla="val 50000"/>
            </a:avLst>
          </a:prstGeom>
          <a:solidFill>
            <a:srgbClr val="F6D8B4">
              <a:alpha val="14000"/>
            </a:srgbClr>
          </a:solidFill>
          <a:ln w="12700">
            <a:solidFill>
              <a:srgbClr val="F6D8B4"/>
            </a:solidFill>
            <a:prstDash val="solid"/>
          </a:ln>
        </p:spPr>
      </p:sp>
      <p:sp>
        <p:nvSpPr>
          <p:cNvPr id="11" name="anim-4-rise-p2-t"/>
          <p:cNvSpPr txBox="1"/>
          <p:nvPr/>
        </p:nvSpPr>
        <p:spPr>
          <a:xfrm>
            <a:off x="3474720" y="5257800"/>
            <a:ext cx="3291840" cy="384048"/>
          </a:xfrm>
          <a:prstGeom prst="rect">
            <a:avLst/>
          </a:prstGeom>
          <a:noFill/>
          <a:ln/>
        </p:spPr>
        <p:txBody>
          <a:bodyPr wrap="square" lIns="0" tIns="0" rIns="0" bIns="0" rtlCol="0" anchor="ctr"/>
          <a:lstStyle/>
          <a:p>
            <a:pPr algn="ctr" indent="0" marL="0">
              <a:buNone/>
            </a:pPr>
            <a:r>
              <a:rPr lang="en-US" sz="1300" b="1" dirty="0">
                <a:solidFill>
                  <a:srgbClr val="F6D8B4"/>
                </a:solidFill>
              </a:rPr>
              <a:t>Track 2 · Personal Agents &amp; Privacy</a:t>
            </a:r>
            <a:endParaRPr lang="en-US" sz="1300" dirty="0"/>
          </a:p>
        </p:txBody>
      </p:sp>
      <p:sp>
        <p:nvSpPr>
          <p:cNvPr id="12" name="anim-5-zoom-shot-frame"/>
          <p:cNvSpPr/>
          <p:nvPr/>
        </p:nvSpPr>
        <p:spPr>
          <a:xfrm>
            <a:off x="6665976" y="1179576"/>
            <a:ext cx="5093208" cy="3227832"/>
          </a:xfrm>
          <a:prstGeom prst="roundRect">
            <a:avLst>
              <a:gd name="adj" fmla="val 3399"/>
            </a:avLst>
          </a:prstGeom>
          <a:solidFill>
            <a:srgbClr val="1A1B17"/>
          </a:solidFill>
          <a:ln w="12700">
            <a:solidFill>
              <a:srgbClr val="3A3A33"/>
            </a:solidFill>
            <a:prstDash val="solid"/>
          </a:ln>
          <a:effectLst>
            <a:outerShdw sx="100000" sy="100000" kx="0" ky="0" algn="bl" rotWithShape="0" blurRad="304800" dist="50800" dir="5400000">
              <a:srgbClr val="EFA56F">
                <a:alpha val="22000"/>
              </a:srgbClr>
            </a:outerShdw>
          </a:effectLst>
        </p:spPr>
      </p:sp>
      <p:pic>
        <p:nvPicPr>
          <p:cNvPr id="13" name="anim-5-zoom-shot" descr="media/command-live.jpg">    </p:cNvPr>
          <p:cNvPicPr>
            <a:picLocks noChangeAspect="1"/>
          </p:cNvPicPr>
          <p:nvPr/>
        </p:nvPicPr>
        <p:blipFill>
          <a:blip r:embed="rId3"/>
          <a:stretch>
            <a:fillRect/>
          </a:stretch>
        </p:blipFill>
        <p:spPr>
          <a:xfrm>
            <a:off x="6720840" y="1234440"/>
            <a:ext cx="4983480" cy="3118104"/>
          </a:xfrm>
          <a:prstGeom prst="rect">
            <a:avLst/>
          </a:prstGeom>
        </p:spPr>
      </p:pic>
      <p:sp>
        <p:nvSpPr>
          <p:cNvPr id="14" name="anim-6-fade-link"/>
          <p:cNvSpPr txBox="1"/>
          <p:nvPr/>
        </p:nvSpPr>
        <p:spPr>
          <a:xfrm>
            <a:off x="6720840" y="4553712"/>
            <a:ext cx="4983480" cy="320040"/>
          </a:xfrm>
          <a:prstGeom prst="rect">
            <a:avLst/>
          </a:prstGeom>
          <a:noFill/>
          <a:ln/>
        </p:spPr>
        <p:txBody>
          <a:bodyPr wrap="square" lIns="0" tIns="0" rIns="0" bIns="0" rtlCol="0" anchor="ctr"/>
          <a:lstStyle/>
          <a:p>
            <a:pPr algn="r" indent="0" marL="0">
              <a:buNone/>
            </a:pPr>
            <a:r>
              <a:rPr lang="en-US" sz="1200" dirty="0">
                <a:solidFill>
                  <a:srgbClr val="A7A196"/>
                </a:solidFill>
              </a:rPr>
              <a:t>github.com/vnmoorthy/consentry   ·   vnmoorthy.github.io/consentry</a:t>
            </a:r>
            <a:endParaRPr lang="en-US" sz="1200" dirty="0"/>
          </a:p>
        </p:txBody>
      </p:sp>
      <p:sp>
        <p:nvSpPr>
          <p:cNvPr id="15" name="anim-7-rise-sn0"/>
          <p:cNvSpPr txBox="1"/>
          <p:nvPr/>
        </p:nvSpPr>
        <p:spPr>
          <a:xfrm>
            <a:off x="640080" y="5806440"/>
            <a:ext cx="2011680" cy="502920"/>
          </a:xfrm>
          <a:prstGeom prst="rect">
            <a:avLst/>
          </a:prstGeom>
          <a:noFill/>
          <a:ln/>
        </p:spPr>
        <p:txBody>
          <a:bodyPr wrap="square" lIns="0" tIns="0" rIns="0" bIns="0" rtlCol="0" anchor="ctr"/>
          <a:lstStyle/>
          <a:p>
            <a:pPr indent="0" marL="0">
              <a:buNone/>
            </a:pPr>
            <a:r>
              <a:rPr lang="en-US" sz="3000" b="1" dirty="0">
                <a:solidFill>
                  <a:srgbClr val="EFA56F"/>
                </a:solidFill>
              </a:rPr>
              <a:t>12</a:t>
            </a:r>
            <a:endParaRPr lang="en-US" sz="3000" dirty="0"/>
          </a:p>
        </p:txBody>
      </p:sp>
      <p:sp>
        <p:nvSpPr>
          <p:cNvPr id="16" name="anim-7-rise-sl0"/>
          <p:cNvSpPr txBox="1"/>
          <p:nvPr/>
        </p:nvSpPr>
        <p:spPr>
          <a:xfrm>
            <a:off x="640080" y="6291072"/>
            <a:ext cx="2011680" cy="274320"/>
          </a:xfrm>
          <a:prstGeom prst="rect">
            <a:avLst/>
          </a:prstGeom>
          <a:noFill/>
          <a:ln/>
        </p:spPr>
        <p:txBody>
          <a:bodyPr wrap="square" lIns="0" tIns="0" rIns="0" bIns="0" rtlCol="0" anchor="ctr"/>
          <a:lstStyle/>
          <a:p>
            <a:pPr indent="0" marL="0">
              <a:buNone/>
            </a:pPr>
            <a:r>
              <a:rPr lang="en-US" sz="1200" dirty="0">
                <a:solidFill>
                  <a:srgbClr val="A7A196"/>
                </a:solidFill>
              </a:rPr>
              <a:t>live public-data APIs</a:t>
            </a:r>
            <a:endParaRPr lang="en-US" sz="1200" dirty="0"/>
          </a:p>
        </p:txBody>
      </p:sp>
      <p:sp>
        <p:nvSpPr>
          <p:cNvPr id="17" name="anim-7-rise-sn1"/>
          <p:cNvSpPr txBox="1"/>
          <p:nvPr/>
        </p:nvSpPr>
        <p:spPr>
          <a:xfrm>
            <a:off x="2788920" y="5806440"/>
            <a:ext cx="2011680" cy="502920"/>
          </a:xfrm>
          <a:prstGeom prst="rect">
            <a:avLst/>
          </a:prstGeom>
          <a:noFill/>
          <a:ln/>
        </p:spPr>
        <p:txBody>
          <a:bodyPr wrap="square" lIns="0" tIns="0" rIns="0" bIns="0" rtlCol="0" anchor="ctr"/>
          <a:lstStyle/>
          <a:p>
            <a:pPr indent="0" marL="0">
              <a:buNone/>
            </a:pPr>
            <a:r>
              <a:rPr lang="en-US" sz="3000" b="1" dirty="0">
                <a:solidFill>
                  <a:srgbClr val="F6D8B4"/>
                </a:solidFill>
              </a:rPr>
              <a:t>19</a:t>
            </a:r>
            <a:endParaRPr lang="en-US" sz="3000" dirty="0"/>
          </a:p>
        </p:txBody>
      </p:sp>
      <p:sp>
        <p:nvSpPr>
          <p:cNvPr id="18" name="anim-7-rise-sl1"/>
          <p:cNvSpPr txBox="1"/>
          <p:nvPr/>
        </p:nvSpPr>
        <p:spPr>
          <a:xfrm>
            <a:off x="2788920" y="6291072"/>
            <a:ext cx="2011680" cy="274320"/>
          </a:xfrm>
          <a:prstGeom prst="rect">
            <a:avLst/>
          </a:prstGeom>
          <a:noFill/>
          <a:ln/>
        </p:spPr>
        <p:txBody>
          <a:bodyPr wrap="square" lIns="0" tIns="0" rIns="0" bIns="0" rtlCol="0" anchor="ctr"/>
          <a:lstStyle/>
          <a:p>
            <a:pPr indent="0" marL="0">
              <a:buNone/>
            </a:pPr>
            <a:r>
              <a:rPr lang="en-US" sz="1200" dirty="0">
                <a:solidFill>
                  <a:srgbClr val="A7A196"/>
                </a:solidFill>
              </a:rPr>
              <a:t>firewalled MCP tools</a:t>
            </a:r>
            <a:endParaRPr lang="en-US" sz="1200" dirty="0"/>
          </a:p>
        </p:txBody>
      </p:sp>
      <p:sp>
        <p:nvSpPr>
          <p:cNvPr id="19" name="anim-7-rise-sn2"/>
          <p:cNvSpPr txBox="1"/>
          <p:nvPr/>
        </p:nvSpPr>
        <p:spPr>
          <a:xfrm>
            <a:off x="4937760" y="5806440"/>
            <a:ext cx="2011680" cy="502920"/>
          </a:xfrm>
          <a:prstGeom prst="rect">
            <a:avLst/>
          </a:prstGeom>
          <a:noFill/>
          <a:ln/>
        </p:spPr>
        <p:txBody>
          <a:bodyPr wrap="square" lIns="0" tIns="0" rIns="0" bIns="0" rtlCol="0" anchor="ctr"/>
          <a:lstStyle/>
          <a:p>
            <a:pPr indent="0" marL="0">
              <a:buNone/>
            </a:pPr>
            <a:r>
              <a:rPr lang="en-US" sz="3000" b="1" dirty="0">
                <a:solidFill>
                  <a:srgbClr val="34D399"/>
                </a:solidFill>
              </a:rPr>
              <a:t>5/5</a:t>
            </a:r>
            <a:endParaRPr lang="en-US" sz="3000" dirty="0"/>
          </a:p>
        </p:txBody>
      </p:sp>
      <p:sp>
        <p:nvSpPr>
          <p:cNvPr id="20" name="anim-7-rise-sl2"/>
          <p:cNvSpPr txBox="1"/>
          <p:nvPr/>
        </p:nvSpPr>
        <p:spPr>
          <a:xfrm>
            <a:off x="4937760" y="6291072"/>
            <a:ext cx="2011680" cy="274320"/>
          </a:xfrm>
          <a:prstGeom prst="rect">
            <a:avLst/>
          </a:prstGeom>
          <a:noFill/>
          <a:ln/>
        </p:spPr>
        <p:txBody>
          <a:bodyPr wrap="square" lIns="0" tIns="0" rIns="0" bIns="0" rtlCol="0" anchor="ctr"/>
          <a:lstStyle/>
          <a:p>
            <a:pPr indent="0" marL="0">
              <a:buNone/>
            </a:pPr>
            <a:r>
              <a:rPr lang="en-US" sz="1200" dirty="0">
                <a:solidFill>
                  <a:srgbClr val="A7A196"/>
                </a:solidFill>
              </a:rPr>
              <a:t>red-team attacks contained</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81" fill="hold">
                            <p:stCondLst>
                              <p:cond delay="0"/>
                            </p:stCondLst>
                            <p:childTnLst>
                              <p:par>
                                <p:cTn id="6" presetID="10" presetClass="entr" presetSubtype="0" fill="hold" grpId="0" nodeType="afterEffect">
                                  <p:stCondLst>
                                    <p:cond delay="25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650"/>
                                        <p:tgtEl>
                                          <p:spTgt spid="4"/>
                                        </p:tgtEl>
                                      </p:cBhvr>
                                    </p:animEffect>
                                  </p:childTnLst>
                                </p:cTn>
                              </p:par>
                              <p:par>
                                <p:cTn id="9" presetID="10" presetClass="entr" presetSubtype="0" fill="hold" grpId="0" nodeType="withEffect">
                                  <p:stCondLst>
                                    <p:cond delay="305"/>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650"/>
                                        <p:tgtEl>
                                          <p:spTgt spid="5"/>
                                        </p:tgtEl>
                                      </p:cBhvr>
                                    </p:animEffect>
                                  </p:childTnLst>
                                </p:cTn>
                              </p:par>
                              <p:par>
                                <p:cTn id="14" presetID="42" presetClass="entr" presetSubtype="0" fill="hold" grpId="0" nodeType="withEffect">
                                  <p:stCondLst>
                                    <p:cond delay="58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750"/>
                                        <p:tgtEl>
                                          <p:spTgt spid="6"/>
                                        </p:tgtEl>
                                      </p:cBhvr>
                                    </p:animEffect>
                                    <p:anim calcmode="lin" valueType="num">
                                      <p:cBhvr>
                                        <p:cTn id="12" dur="750" fill="hold"/>
                                        <p:tgtEl>
                                          <p:spTgt spid="6"/>
                                        </p:tgtEl>
                                        <p:attrNameLst>
                                          <p:attrName>ppt_x</p:attrName>
                                        </p:attrNameLst>
                                      </p:cBhvr>
                                      <p:tavLst>
                                        <p:tav tm="0">
                                          <p:val>
                                            <p:strVal val="#ppt_x"/>
                                          </p:val>
                                        </p:tav>
                                        <p:tav tm="100000">
                                          <p:val>
                                            <p:strVal val="#ppt_x"/>
                                          </p:val>
                                        </p:tav>
                                      </p:tavLst>
                                    </p:anim>
                                    <p:anim calcmode="lin" valueType="num">
                                      <p:cBhvr>
                                        <p:cTn id="13" dur="750" decel="100000" fill="hold"/>
                                        <p:tgtEl>
                                          <p:spTgt spid="6"/>
                                        </p:tgtEl>
                                        <p:attrNameLst>
                                          <p:attrName>ppt_y</p:attrName>
                                        </p:attrNameLst>
                                      </p:cBhvr>
                                      <p:tavLst>
                                        <p:tav tm="0">
                                          <p:val>
                                            <p:strVal val="#ppt_y+.06"/>
                                          </p:val>
                                        </p:tav>
                                        <p:tav tm="100000">
                                          <p:val>
                                            <p:strVal val="#ppt_y"/>
                                          </p:val>
                                        </p:tav>
                                      </p:tavLst>
                                    </p:anim>
                                  </p:childTnLst>
                                </p:cTn>
                              </p:par>
                              <p:par>
                                <p:cTn id="17" presetID="10" presetClass="entr" presetSubtype="0" fill="hold" grpId="0" nodeType="withEffect">
                                  <p:stCondLst>
                                    <p:cond delay="9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50"/>
                                        <p:tgtEl>
                                          <p:spTgt spid="7"/>
                                        </p:tgtEl>
                                      </p:cBhvr>
                                    </p:animEffect>
                                  </p:childTnLst>
                                </p:cTn>
                              </p:par>
                              <p:par>
                                <p:cTn id="22" presetID="42" presetClass="entr" presetSubtype="0" fill="hold" grpId="0" nodeType="withEffect">
                                  <p:stCondLst>
                                    <p:cond delay="12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50"/>
                                        <p:tgtEl>
                                          <p:spTgt spid="8"/>
                                        </p:tgtEl>
                                      </p:cBhvr>
                                    </p:animEffect>
                                    <p:anim calcmode="lin" valueType="num">
                                      <p:cBhvr>
                                        <p:cTn id="20" dur="750" fill="hold"/>
                                        <p:tgtEl>
                                          <p:spTgt spid="8"/>
                                        </p:tgtEl>
                                        <p:attrNameLst>
                                          <p:attrName>ppt_x</p:attrName>
                                        </p:attrNameLst>
                                      </p:cBhvr>
                                      <p:tavLst>
                                        <p:tav tm="0">
                                          <p:val>
                                            <p:strVal val="#ppt_x"/>
                                          </p:val>
                                        </p:tav>
                                        <p:tav tm="100000">
                                          <p:val>
                                            <p:strVal val="#ppt_x"/>
                                          </p:val>
                                        </p:tav>
                                      </p:tavLst>
                                    </p:anim>
                                    <p:anim calcmode="lin" valueType="num">
                                      <p:cBhvr>
                                        <p:cTn id="21" dur="750" decel="100000" fill="hold"/>
                                        <p:tgtEl>
                                          <p:spTgt spid="8"/>
                                        </p:tgtEl>
                                        <p:attrNameLst>
                                          <p:attrName>ppt_y</p:attrName>
                                        </p:attrNameLst>
                                      </p:cBhvr>
                                      <p:tavLst>
                                        <p:tav tm="0">
                                          <p:val>
                                            <p:strVal val="#ppt_y+.06"/>
                                          </p:val>
                                        </p:tav>
                                        <p:tav tm="100000">
                                          <p:val>
                                            <p:strVal val="#ppt_y"/>
                                          </p:val>
                                        </p:tav>
                                      </p:tavLst>
                                    </p:anim>
                                  </p:childTnLst>
                                </p:cTn>
                              </p:par>
                              <p:par>
                                <p:cTn id="27" presetID="42" presetClass="entr" presetSubtype="0" fill="hold" grpId="0" nodeType="withEffect">
                                  <p:stCondLst>
                                    <p:cond delay="1295"/>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750"/>
                                        <p:tgtEl>
                                          <p:spTgt spid="9"/>
                                        </p:tgtEl>
                                      </p:cBhvr>
                                    </p:animEffect>
                                    <p:anim calcmode="lin" valueType="num">
                                      <p:cBhvr>
                                        <p:cTn id="25" dur="750" fill="hold"/>
                                        <p:tgtEl>
                                          <p:spTgt spid="9"/>
                                        </p:tgtEl>
                                        <p:attrNameLst>
                                          <p:attrName>ppt_x</p:attrName>
                                        </p:attrNameLst>
                                      </p:cBhvr>
                                      <p:tavLst>
                                        <p:tav tm="0">
                                          <p:val>
                                            <p:strVal val="#ppt_x"/>
                                          </p:val>
                                        </p:tav>
                                        <p:tav tm="100000">
                                          <p:val>
                                            <p:strVal val="#ppt_x"/>
                                          </p:val>
                                        </p:tav>
                                      </p:tavLst>
                                    </p:anim>
                                    <p:anim calcmode="lin" valueType="num">
                                      <p:cBhvr>
                                        <p:cTn id="26" dur="750" decel="100000" fill="hold"/>
                                        <p:tgtEl>
                                          <p:spTgt spid="9"/>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13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750"/>
                                        <p:tgtEl>
                                          <p:spTgt spid="10"/>
                                        </p:tgtEl>
                                      </p:cBhvr>
                                    </p:animEffect>
                                    <p:anim calcmode="lin" valueType="num">
                                      <p:cBhvr>
                                        <p:cTn id="30" dur="750" fill="hold"/>
                                        <p:tgtEl>
                                          <p:spTgt spid="10"/>
                                        </p:tgtEl>
                                        <p:attrNameLst>
                                          <p:attrName>ppt_x</p:attrName>
                                        </p:attrNameLst>
                                      </p:cBhvr>
                                      <p:tavLst>
                                        <p:tav tm="0">
                                          <p:val>
                                            <p:strVal val="#ppt_x"/>
                                          </p:val>
                                        </p:tav>
                                        <p:tav tm="100000">
                                          <p:val>
                                            <p:strVal val="#ppt_x"/>
                                          </p:val>
                                        </p:tav>
                                      </p:tavLst>
                                    </p:anim>
                                    <p:anim calcmode="lin" valueType="num">
                                      <p:cBhvr>
                                        <p:cTn id="31" dur="750" decel="100000" fill="hold"/>
                                        <p:tgtEl>
                                          <p:spTgt spid="10"/>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1405"/>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750"/>
                                        <p:tgtEl>
                                          <p:spTgt spid="11"/>
                                        </p:tgtEl>
                                      </p:cBhvr>
                                    </p:animEffect>
                                    <p:anim calcmode="lin" valueType="num">
                                      <p:cBhvr>
                                        <p:cTn id="35" dur="750" fill="hold"/>
                                        <p:tgtEl>
                                          <p:spTgt spid="11"/>
                                        </p:tgtEl>
                                        <p:attrNameLst>
                                          <p:attrName>ppt_x</p:attrName>
                                        </p:attrNameLst>
                                      </p:cBhvr>
                                      <p:tavLst>
                                        <p:tav tm="0">
                                          <p:val>
                                            <p:strVal val="#ppt_x"/>
                                          </p:val>
                                        </p:tav>
                                        <p:tav tm="100000">
                                          <p:val>
                                            <p:strVal val="#ppt_x"/>
                                          </p:val>
                                        </p:tav>
                                      </p:tavLst>
                                    </p:anim>
                                    <p:anim calcmode="lin" valueType="num">
                                      <p:cBhvr>
                                        <p:cTn id="36" dur="750" decel="100000" fill="hold"/>
                                        <p:tgtEl>
                                          <p:spTgt spid="11"/>
                                        </p:tgtEl>
                                        <p:attrNameLst>
                                          <p:attrName>ppt_y</p:attrName>
                                        </p:attrNameLst>
                                      </p:cBhvr>
                                      <p:tavLst>
                                        <p:tav tm="0">
                                          <p:val>
                                            <p:strVal val="#ppt_y+.06"/>
                                          </p:val>
                                        </p:tav>
                                        <p:tav tm="100000">
                                          <p:val>
                                            <p:strVal val="#ppt_y"/>
                                          </p:val>
                                        </p:tav>
                                      </p:tavLst>
                                    </p:anim>
                                  </p:childTnLst>
                                </p:cTn>
                              </p:par>
                              <p:par>
                                <p:cTn id="42" presetID="53" presetClass="entr" presetSubtype="16" fill="hold" grpId="0" nodeType="withEffect">
                                  <p:stCondLst>
                                    <p:cond delay="1570"/>
                                  </p:stCondLst>
                                  <p:childTnLst>
                                    <p:set>
                                      <p:cBhvr>
                                        <p:cTn id="38" dur="1" fill="hold">
                                          <p:stCondLst>
                                            <p:cond delay="0"/>
                                          </p:stCondLst>
                                        </p:cTn>
                                        <p:tgtEl>
                                          <p:spTgt spid="12"/>
                                        </p:tgtEl>
                                        <p:attrNameLst>
                                          <p:attrName>style.visibility</p:attrName>
                                        </p:attrNameLst>
                                      </p:cBhvr>
                                      <p:to>
                                        <p:strVal val="visible"/>
                                      </p:to>
                                    </p:set>
                                    <p:anim calcmode="lin" valueType="num">
                                      <p:cBhvr>
                                        <p:cTn id="39" dur="700" decel="100000" fill="hold"/>
                                        <p:tgtEl>
                                          <p:spTgt spid="12"/>
                                        </p:tgtEl>
                                        <p:attrNameLst>
                                          <p:attrName>ppt_w</p:attrName>
                                        </p:attrNameLst>
                                      </p:cBhvr>
                                      <p:tavLst>
                                        <p:tav tm="0">
                                          <p:val>
                                            <p:strVal val="0"/>
                                          </p:val>
                                        </p:tav>
                                        <p:tav tm="100000">
                                          <p:val>
                                            <p:strVal val="#ppt_w"/>
                                          </p:val>
                                        </p:tav>
                                      </p:tavLst>
                                    </p:anim>
                                    <p:anim calcmode="lin" valueType="num">
                                      <p:cBhvr>
                                        <p:cTn id="40" dur="700" decel="100000" fill="hold"/>
                                        <p:tgtEl>
                                          <p:spTgt spid="12"/>
                                        </p:tgtEl>
                                        <p:attrNameLst>
                                          <p:attrName>ppt_h</p:attrName>
                                        </p:attrNameLst>
                                      </p:cBhvr>
                                      <p:tavLst>
                                        <p:tav tm="0">
                                          <p:val>
                                            <p:strVal val="0"/>
                                          </p:val>
                                        </p:tav>
                                        <p:tav tm="100000">
                                          <p:val>
                                            <p:strVal val="#ppt_h"/>
                                          </p:val>
                                        </p:tav>
                                      </p:tavLst>
                                    </p:anim>
                                    <p:animEffect transition="in" filter="fade">
                                      <p:cBhvr>
                                        <p:cTn id="41" dur="700"/>
                                        <p:tgtEl>
                                          <p:spTgt spid="12"/>
                                        </p:tgtEl>
                                      </p:cBhvr>
                                    </p:animEffect>
                                  </p:childTnLst>
                                </p:cTn>
                              </p:par>
                              <p:par>
                                <p:cTn id="47" presetID="53" presetClass="entr" presetSubtype="16" fill="hold" grpId="0" nodeType="withEffect">
                                  <p:stCondLst>
                                    <p:cond delay="1625"/>
                                  </p:stCondLst>
                                  <p:childTnLst>
                                    <p:set>
                                      <p:cBhvr>
                                        <p:cTn id="43" dur="1" fill="hold">
                                          <p:stCondLst>
                                            <p:cond delay="0"/>
                                          </p:stCondLst>
                                        </p:cTn>
                                        <p:tgtEl>
                                          <p:spTgt spid="13"/>
                                        </p:tgtEl>
                                        <p:attrNameLst>
                                          <p:attrName>style.visibility</p:attrName>
                                        </p:attrNameLst>
                                      </p:cBhvr>
                                      <p:to>
                                        <p:strVal val="visible"/>
                                      </p:to>
                                    </p:set>
                                    <p:anim calcmode="lin" valueType="num">
                                      <p:cBhvr>
                                        <p:cTn id="44" dur="700" decel="100000" fill="hold"/>
                                        <p:tgtEl>
                                          <p:spTgt spid="13"/>
                                        </p:tgtEl>
                                        <p:attrNameLst>
                                          <p:attrName>ppt_w</p:attrName>
                                        </p:attrNameLst>
                                      </p:cBhvr>
                                      <p:tavLst>
                                        <p:tav tm="0">
                                          <p:val>
                                            <p:strVal val="0"/>
                                          </p:val>
                                        </p:tav>
                                        <p:tav tm="100000">
                                          <p:val>
                                            <p:strVal val="#ppt_w"/>
                                          </p:val>
                                        </p:tav>
                                      </p:tavLst>
                                    </p:anim>
                                    <p:anim calcmode="lin" valueType="num">
                                      <p:cBhvr>
                                        <p:cTn id="45" dur="700" decel="100000" fill="hold"/>
                                        <p:tgtEl>
                                          <p:spTgt spid="13"/>
                                        </p:tgtEl>
                                        <p:attrNameLst>
                                          <p:attrName>ppt_h</p:attrName>
                                        </p:attrNameLst>
                                      </p:cBhvr>
                                      <p:tavLst>
                                        <p:tav tm="0">
                                          <p:val>
                                            <p:strVal val="0"/>
                                          </p:val>
                                        </p:tav>
                                        <p:tav tm="100000">
                                          <p:val>
                                            <p:strVal val="#ppt_h"/>
                                          </p:val>
                                        </p:tav>
                                      </p:tavLst>
                                    </p:anim>
                                    <p:animEffect transition="in" filter="fade">
                                      <p:cBhvr>
                                        <p:cTn id="46" dur="700"/>
                                        <p:tgtEl>
                                          <p:spTgt spid="13"/>
                                        </p:tgtEl>
                                      </p:cBhvr>
                                    </p:animEffect>
                                  </p:childTnLst>
                                </p:cTn>
                              </p:par>
                              <p:par>
                                <p:cTn id="50" presetID="10" presetClass="entr" presetSubtype="0" fill="hold" grpId="0" nodeType="withEffect">
                                  <p:stCondLst>
                                    <p:cond delay="19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650"/>
                                        <p:tgtEl>
                                          <p:spTgt spid="14"/>
                                        </p:tgtEl>
                                      </p:cBhvr>
                                    </p:animEffect>
                                  </p:childTnLst>
                                </p:cTn>
                              </p:par>
                              <p:par>
                                <p:cTn id="55" presetID="42" presetClass="entr" presetSubtype="0" fill="hold" grpId="0" nodeType="withEffect">
                                  <p:stCondLst>
                                    <p:cond delay="223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750"/>
                                        <p:tgtEl>
                                          <p:spTgt spid="15"/>
                                        </p:tgtEl>
                                      </p:cBhvr>
                                    </p:animEffect>
                                    <p:anim calcmode="lin" valueType="num">
                                      <p:cBhvr>
                                        <p:cTn id="53" dur="750" fill="hold"/>
                                        <p:tgtEl>
                                          <p:spTgt spid="15"/>
                                        </p:tgtEl>
                                        <p:attrNameLst>
                                          <p:attrName>ppt_x</p:attrName>
                                        </p:attrNameLst>
                                      </p:cBhvr>
                                      <p:tavLst>
                                        <p:tav tm="0">
                                          <p:val>
                                            <p:strVal val="#ppt_x"/>
                                          </p:val>
                                        </p:tav>
                                        <p:tav tm="100000">
                                          <p:val>
                                            <p:strVal val="#ppt_x"/>
                                          </p:val>
                                        </p:tav>
                                      </p:tavLst>
                                    </p:anim>
                                    <p:anim calcmode="lin" valueType="num">
                                      <p:cBhvr>
                                        <p:cTn id="54" dur="750" decel="100000" fill="hold"/>
                                        <p:tgtEl>
                                          <p:spTgt spid="15"/>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2285"/>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750"/>
                                        <p:tgtEl>
                                          <p:spTgt spid="16"/>
                                        </p:tgtEl>
                                      </p:cBhvr>
                                    </p:animEffect>
                                    <p:anim calcmode="lin" valueType="num">
                                      <p:cBhvr>
                                        <p:cTn id="58" dur="750" fill="hold"/>
                                        <p:tgtEl>
                                          <p:spTgt spid="16"/>
                                        </p:tgtEl>
                                        <p:attrNameLst>
                                          <p:attrName>ppt_x</p:attrName>
                                        </p:attrNameLst>
                                      </p:cBhvr>
                                      <p:tavLst>
                                        <p:tav tm="0">
                                          <p:val>
                                            <p:strVal val="#ppt_x"/>
                                          </p:val>
                                        </p:tav>
                                        <p:tav tm="100000">
                                          <p:val>
                                            <p:strVal val="#ppt_x"/>
                                          </p:val>
                                        </p:tav>
                                      </p:tavLst>
                                    </p:anim>
                                    <p:anim calcmode="lin" valueType="num">
                                      <p:cBhvr>
                                        <p:cTn id="59" dur="750" decel="100000" fill="hold"/>
                                        <p:tgtEl>
                                          <p:spTgt spid="16"/>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234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750"/>
                                        <p:tgtEl>
                                          <p:spTgt spid="17"/>
                                        </p:tgtEl>
                                      </p:cBhvr>
                                    </p:animEffect>
                                    <p:anim calcmode="lin" valueType="num">
                                      <p:cBhvr>
                                        <p:cTn id="63" dur="750" fill="hold"/>
                                        <p:tgtEl>
                                          <p:spTgt spid="17"/>
                                        </p:tgtEl>
                                        <p:attrNameLst>
                                          <p:attrName>ppt_x</p:attrName>
                                        </p:attrNameLst>
                                      </p:cBhvr>
                                      <p:tavLst>
                                        <p:tav tm="0">
                                          <p:val>
                                            <p:strVal val="#ppt_x"/>
                                          </p:val>
                                        </p:tav>
                                        <p:tav tm="100000">
                                          <p:val>
                                            <p:strVal val="#ppt_x"/>
                                          </p:val>
                                        </p:tav>
                                      </p:tavLst>
                                    </p:anim>
                                    <p:anim calcmode="lin" valueType="num">
                                      <p:cBhvr>
                                        <p:cTn id="64" dur="750" decel="100000" fill="hold"/>
                                        <p:tgtEl>
                                          <p:spTgt spid="17"/>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2395"/>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750"/>
                                        <p:tgtEl>
                                          <p:spTgt spid="18"/>
                                        </p:tgtEl>
                                      </p:cBhvr>
                                    </p:animEffect>
                                    <p:anim calcmode="lin" valueType="num">
                                      <p:cBhvr>
                                        <p:cTn id="68" dur="750" fill="hold"/>
                                        <p:tgtEl>
                                          <p:spTgt spid="18"/>
                                        </p:tgtEl>
                                        <p:attrNameLst>
                                          <p:attrName>ppt_x</p:attrName>
                                        </p:attrNameLst>
                                      </p:cBhvr>
                                      <p:tavLst>
                                        <p:tav tm="0">
                                          <p:val>
                                            <p:strVal val="#ppt_x"/>
                                          </p:val>
                                        </p:tav>
                                        <p:tav tm="100000">
                                          <p:val>
                                            <p:strVal val="#ppt_x"/>
                                          </p:val>
                                        </p:tav>
                                      </p:tavLst>
                                    </p:anim>
                                    <p:anim calcmode="lin" valueType="num">
                                      <p:cBhvr>
                                        <p:cTn id="69" dur="750" decel="100000" fill="hold"/>
                                        <p:tgtEl>
                                          <p:spTgt spid="18"/>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245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750"/>
                                        <p:tgtEl>
                                          <p:spTgt spid="19"/>
                                        </p:tgtEl>
                                      </p:cBhvr>
                                    </p:animEffect>
                                    <p:anim calcmode="lin" valueType="num">
                                      <p:cBhvr>
                                        <p:cTn id="73" dur="750" fill="hold"/>
                                        <p:tgtEl>
                                          <p:spTgt spid="19"/>
                                        </p:tgtEl>
                                        <p:attrNameLst>
                                          <p:attrName>ppt_x</p:attrName>
                                        </p:attrNameLst>
                                      </p:cBhvr>
                                      <p:tavLst>
                                        <p:tav tm="0">
                                          <p:val>
                                            <p:strVal val="#ppt_x"/>
                                          </p:val>
                                        </p:tav>
                                        <p:tav tm="100000">
                                          <p:val>
                                            <p:strVal val="#ppt_x"/>
                                          </p:val>
                                        </p:tav>
                                      </p:tavLst>
                                    </p:anim>
                                    <p:anim calcmode="lin" valueType="num">
                                      <p:cBhvr>
                                        <p:cTn id="74" dur="750" decel="100000" fill="hold"/>
                                        <p:tgtEl>
                                          <p:spTgt spid="19"/>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2505"/>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750"/>
                                        <p:tgtEl>
                                          <p:spTgt spid="20"/>
                                        </p:tgtEl>
                                      </p:cBhvr>
                                    </p:animEffect>
                                    <p:anim calcmode="lin" valueType="num">
                                      <p:cBhvr>
                                        <p:cTn id="78" dur="750" fill="hold"/>
                                        <p:tgtEl>
                                          <p:spTgt spid="20"/>
                                        </p:tgtEl>
                                        <p:attrNameLst>
                                          <p:attrName>ppt_x</p:attrName>
                                        </p:attrNameLst>
                                      </p:cBhvr>
                                      <p:tavLst>
                                        <p:tav tm="0">
                                          <p:val>
                                            <p:strVal val="#ppt_x"/>
                                          </p:val>
                                        </p:tav>
                                        <p:tav tm="100000">
                                          <p:val>
                                            <p:strVal val="#ppt_x"/>
                                          </p:val>
                                        </p:tav>
                                      </p:tavLst>
                                    </p:anim>
                                    <p:anim calcmode="lin" valueType="num">
                                      <p:cBhvr>
                                        <p:cTn id="79" dur="750" decel="100000" fill="hold"/>
                                        <p:tgtEl>
                                          <p:spTgt spid="2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2377440" y="2926080"/>
            <a:ext cx="5943600" cy="594360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Agents now hold the keys to your life</a:t>
            </a:r>
            <a:endParaRPr lang="en-US" sz="3400" dirty="0"/>
          </a:p>
        </p:txBody>
      </p:sp>
      <p:sp>
        <p:nvSpPr>
          <p:cNvPr id="6" name="anim-1-rise-n1-c"/>
          <p:cNvSpPr/>
          <p:nvPr/>
        </p:nvSpPr>
        <p:spPr>
          <a:xfrm>
            <a:off x="548640" y="1783080"/>
            <a:ext cx="566928" cy="566928"/>
          </a:xfrm>
          <a:prstGeom prst="ellipse">
            <a:avLst/>
          </a:prstGeom>
          <a:solidFill>
            <a:srgbClr val="FB7185">
              <a:alpha val="22000"/>
            </a:srgbClr>
          </a:solidFill>
          <a:ln w="15875">
            <a:solidFill>
              <a:srgbClr val="FB7185"/>
            </a:solidFill>
            <a:prstDash val="solid"/>
          </a:ln>
        </p:spPr>
      </p:sp>
      <p:sp>
        <p:nvSpPr>
          <p:cNvPr id="7" name="anim-1-rise-n1-t"/>
          <p:cNvSpPr txBox="1"/>
          <p:nvPr/>
        </p:nvSpPr>
        <p:spPr>
          <a:xfrm>
            <a:off x="548640" y="1783080"/>
            <a:ext cx="566928" cy="566928"/>
          </a:xfrm>
          <a:prstGeom prst="rect">
            <a:avLst/>
          </a:prstGeom>
          <a:noFill/>
          <a:ln/>
        </p:spPr>
        <p:txBody>
          <a:bodyPr wrap="square" lIns="0" tIns="0" rIns="0" bIns="0" rtlCol="0" anchor="ctr"/>
          <a:lstStyle/>
          <a:p>
            <a:pPr algn="ctr" indent="0" marL="0">
              <a:buNone/>
            </a:pPr>
            <a:r>
              <a:rPr lang="en-US" sz="1800" b="1" dirty="0">
                <a:solidFill>
                  <a:srgbClr val="FB7185"/>
                </a:solidFill>
              </a:rPr>
              <a:t>1</a:t>
            </a:r>
            <a:endParaRPr lang="en-US" sz="1800" dirty="0"/>
          </a:p>
        </p:txBody>
      </p:sp>
      <p:sp>
        <p:nvSpPr>
          <p:cNvPr id="8" name="anim-1-rise-h1"/>
          <p:cNvSpPr txBox="1"/>
          <p:nvPr/>
        </p:nvSpPr>
        <p:spPr>
          <a:xfrm>
            <a:off x="1325880" y="1746504"/>
            <a:ext cx="4572000" cy="384048"/>
          </a:xfrm>
          <a:prstGeom prst="rect">
            <a:avLst/>
          </a:prstGeom>
          <a:noFill/>
          <a:ln/>
        </p:spPr>
        <p:txBody>
          <a:bodyPr wrap="square" lIns="0" tIns="0" rIns="0" bIns="0" rtlCol="0" anchor="ctr"/>
          <a:lstStyle/>
          <a:p>
            <a:pPr indent="0" marL="0">
              <a:buNone/>
            </a:pPr>
            <a:r>
              <a:rPr lang="en-US" sz="2000" b="1" dirty="0">
                <a:solidFill>
                  <a:srgbClr val="FFFFFF"/>
                </a:solidFill>
              </a:rPr>
              <a:t>All-or-nothing context</a:t>
            </a:r>
            <a:endParaRPr lang="en-US" sz="2000" dirty="0"/>
          </a:p>
        </p:txBody>
      </p:sp>
      <p:sp>
        <p:nvSpPr>
          <p:cNvPr id="9" name="anim-1-rise-b1"/>
          <p:cNvSpPr txBox="1"/>
          <p:nvPr/>
        </p:nvSpPr>
        <p:spPr>
          <a:xfrm>
            <a:off x="1325880" y="2167128"/>
            <a:ext cx="4663440" cy="868680"/>
          </a:xfrm>
          <a:prstGeom prst="rect">
            <a:avLst/>
          </a:prstGeom>
          <a:noFill/>
          <a:ln/>
        </p:spPr>
        <p:txBody>
          <a:bodyPr wrap="square" lIns="0" tIns="0" rIns="0" bIns="0" rtlCol="0" anchor="t"/>
          <a:lstStyle/>
          <a:p>
            <a:pPr indent="0" marL="0">
              <a:buNone/>
            </a:pPr>
            <a:r>
              <a:rPr lang="en-US" sz="1500" dirty="0">
                <a:solidFill>
                  <a:srgbClr val="CDC7BB"/>
                </a:solidFill>
              </a:rPr>
              <a:t>Once your address, card or diagnosis is in the context window, every tool, partner and model provider it touches can receive it.</a:t>
            </a:r>
            <a:endParaRPr lang="en-US" sz="1500" dirty="0"/>
          </a:p>
        </p:txBody>
      </p:sp>
      <p:sp>
        <p:nvSpPr>
          <p:cNvPr id="10" name="anim-2-rise-n2-c"/>
          <p:cNvSpPr/>
          <p:nvPr/>
        </p:nvSpPr>
        <p:spPr>
          <a:xfrm>
            <a:off x="548640" y="3246120"/>
            <a:ext cx="566928" cy="566928"/>
          </a:xfrm>
          <a:prstGeom prst="ellipse">
            <a:avLst/>
          </a:prstGeom>
          <a:solidFill>
            <a:srgbClr val="FBBF24">
              <a:alpha val="22000"/>
            </a:srgbClr>
          </a:solidFill>
          <a:ln w="15875">
            <a:solidFill>
              <a:srgbClr val="FBBF24"/>
            </a:solidFill>
            <a:prstDash val="solid"/>
          </a:ln>
        </p:spPr>
      </p:sp>
      <p:sp>
        <p:nvSpPr>
          <p:cNvPr id="11" name="anim-2-rise-n2-t"/>
          <p:cNvSpPr txBox="1"/>
          <p:nvPr/>
        </p:nvSpPr>
        <p:spPr>
          <a:xfrm>
            <a:off x="548640" y="3246120"/>
            <a:ext cx="566928" cy="566928"/>
          </a:xfrm>
          <a:prstGeom prst="rect">
            <a:avLst/>
          </a:prstGeom>
          <a:noFill/>
          <a:ln/>
        </p:spPr>
        <p:txBody>
          <a:bodyPr wrap="square" lIns="0" tIns="0" rIns="0" bIns="0" rtlCol="0" anchor="ctr"/>
          <a:lstStyle/>
          <a:p>
            <a:pPr algn="ctr" indent="0" marL="0">
              <a:buNone/>
            </a:pPr>
            <a:r>
              <a:rPr lang="en-US" sz="1800" b="1" dirty="0">
                <a:solidFill>
                  <a:srgbClr val="FBBF24"/>
                </a:solidFill>
              </a:rPr>
              <a:t>2</a:t>
            </a:r>
            <a:endParaRPr lang="en-US" sz="1800" dirty="0"/>
          </a:p>
        </p:txBody>
      </p:sp>
      <p:sp>
        <p:nvSpPr>
          <p:cNvPr id="12" name="anim-2-rise-h2"/>
          <p:cNvSpPr txBox="1"/>
          <p:nvPr/>
        </p:nvSpPr>
        <p:spPr>
          <a:xfrm>
            <a:off x="1325880" y="3209544"/>
            <a:ext cx="4572000" cy="384048"/>
          </a:xfrm>
          <a:prstGeom prst="rect">
            <a:avLst/>
          </a:prstGeom>
          <a:noFill/>
          <a:ln/>
        </p:spPr>
        <p:txBody>
          <a:bodyPr wrap="square" lIns="0" tIns="0" rIns="0" bIns="0" rtlCol="0" anchor="ctr"/>
          <a:lstStyle/>
          <a:p>
            <a:pPr indent="0" marL="0">
              <a:buNone/>
            </a:pPr>
            <a:r>
              <a:rPr lang="en-US" sz="2000" b="1" dirty="0">
                <a:solidFill>
                  <a:srgbClr val="FFFFFF"/>
                </a:solidFill>
              </a:rPr>
              <a:t>Tool output can hijack the agent</a:t>
            </a:r>
            <a:endParaRPr lang="en-US" sz="2000" dirty="0"/>
          </a:p>
        </p:txBody>
      </p:sp>
      <p:sp>
        <p:nvSpPr>
          <p:cNvPr id="13" name="anim-2-rise-b2"/>
          <p:cNvSpPr txBox="1"/>
          <p:nvPr/>
        </p:nvSpPr>
        <p:spPr>
          <a:xfrm>
            <a:off x="1325880" y="3630168"/>
            <a:ext cx="4663440" cy="868680"/>
          </a:xfrm>
          <a:prstGeom prst="rect">
            <a:avLst/>
          </a:prstGeom>
          <a:noFill/>
          <a:ln/>
        </p:spPr>
        <p:txBody>
          <a:bodyPr wrap="square" lIns="0" tIns="0" rIns="0" bIns="0" rtlCol="0" anchor="t"/>
          <a:lstStyle/>
          <a:p>
            <a:pPr indent="0" marL="0">
              <a:buNone/>
            </a:pPr>
            <a:r>
              <a:rPr lang="en-US" sz="1500" dirty="0">
                <a:solidFill>
                  <a:srgbClr val="CDC7BB"/>
                </a:solidFill>
              </a:rPr>
              <a:t>One poisoned review or web page can tell the agent to send your data somewhere else. That is indirect prompt injection.</a:t>
            </a:r>
            <a:endParaRPr lang="en-US" sz="1500" dirty="0"/>
          </a:p>
        </p:txBody>
      </p:sp>
      <p:sp>
        <p:nvSpPr>
          <p:cNvPr id="14" name="anim-3-rise-n3-c"/>
          <p:cNvSpPr/>
          <p:nvPr/>
        </p:nvSpPr>
        <p:spPr>
          <a:xfrm>
            <a:off x="548640" y="4709160"/>
            <a:ext cx="566928" cy="566928"/>
          </a:xfrm>
          <a:prstGeom prst="ellipse">
            <a:avLst/>
          </a:prstGeom>
          <a:solidFill>
            <a:srgbClr val="F6D8B4">
              <a:alpha val="22000"/>
            </a:srgbClr>
          </a:solidFill>
          <a:ln w="15875">
            <a:solidFill>
              <a:srgbClr val="F6D8B4"/>
            </a:solidFill>
            <a:prstDash val="solid"/>
          </a:ln>
        </p:spPr>
      </p:sp>
      <p:sp>
        <p:nvSpPr>
          <p:cNvPr id="15" name="anim-3-rise-n3-t"/>
          <p:cNvSpPr txBox="1"/>
          <p:nvPr/>
        </p:nvSpPr>
        <p:spPr>
          <a:xfrm>
            <a:off x="548640" y="4709160"/>
            <a:ext cx="566928" cy="566928"/>
          </a:xfrm>
          <a:prstGeom prst="rect">
            <a:avLst/>
          </a:prstGeom>
          <a:noFill/>
          <a:ln/>
        </p:spPr>
        <p:txBody>
          <a:bodyPr wrap="square" lIns="0" tIns="0" rIns="0" bIns="0" rtlCol="0" anchor="ctr"/>
          <a:lstStyle/>
          <a:p>
            <a:pPr algn="ctr" indent="0" marL="0">
              <a:buNone/>
            </a:pPr>
            <a:r>
              <a:rPr lang="en-US" sz="1800" b="1" dirty="0">
                <a:solidFill>
                  <a:srgbClr val="F6D8B4"/>
                </a:solidFill>
              </a:rPr>
              <a:t>3</a:t>
            </a:r>
            <a:endParaRPr lang="en-US" sz="1800" dirty="0"/>
          </a:p>
        </p:txBody>
      </p:sp>
      <p:sp>
        <p:nvSpPr>
          <p:cNvPr id="16" name="anim-3-rise-h3"/>
          <p:cNvSpPr txBox="1"/>
          <p:nvPr/>
        </p:nvSpPr>
        <p:spPr>
          <a:xfrm>
            <a:off x="1325880" y="4672584"/>
            <a:ext cx="4572000" cy="384048"/>
          </a:xfrm>
          <a:prstGeom prst="rect">
            <a:avLst/>
          </a:prstGeom>
          <a:noFill/>
          <a:ln/>
        </p:spPr>
        <p:txBody>
          <a:bodyPr wrap="square" lIns="0" tIns="0" rIns="0" bIns="0" rtlCol="0" anchor="ctr"/>
          <a:lstStyle/>
          <a:p>
            <a:pPr indent="0" marL="0">
              <a:buNone/>
            </a:pPr>
            <a:r>
              <a:rPr lang="en-US" sz="2000" b="1" dirty="0">
                <a:solidFill>
                  <a:srgbClr val="FFFFFF"/>
                </a:solidFill>
              </a:rPr>
              <a:t>No proof, no recourse</a:t>
            </a:r>
            <a:endParaRPr lang="en-US" sz="2000" dirty="0"/>
          </a:p>
        </p:txBody>
      </p:sp>
      <p:sp>
        <p:nvSpPr>
          <p:cNvPr id="17" name="anim-3-rise-b3"/>
          <p:cNvSpPr txBox="1"/>
          <p:nvPr/>
        </p:nvSpPr>
        <p:spPr>
          <a:xfrm>
            <a:off x="1325880" y="5093208"/>
            <a:ext cx="4663440" cy="868680"/>
          </a:xfrm>
          <a:prstGeom prst="rect">
            <a:avLst/>
          </a:prstGeom>
          <a:noFill/>
          <a:ln/>
        </p:spPr>
        <p:txBody>
          <a:bodyPr wrap="square" lIns="0" tIns="0" rIns="0" bIns="0" rtlCol="0" anchor="t"/>
          <a:lstStyle/>
          <a:p>
            <a:pPr indent="0" marL="0">
              <a:buNone/>
            </a:pPr>
            <a:r>
              <a:rPr lang="en-US" sz="1500" dirty="0">
                <a:solidFill>
                  <a:srgbClr val="CDC7BB"/>
                </a:solidFill>
              </a:rPr>
              <a:t>Nobody can show what was shared, with whom, or why. Consent today is a banner you clicked once.</a:t>
            </a:r>
            <a:endParaRPr lang="en-US" sz="1500" dirty="0"/>
          </a:p>
        </p:txBody>
      </p:sp>
      <p:sp>
        <p:nvSpPr>
          <p:cNvPr id="18" name="anim-4-fade-diag"/>
          <p:cNvSpPr/>
          <p:nvPr/>
        </p:nvSpPr>
        <p:spPr>
          <a:xfrm>
            <a:off x="6355080" y="1691640"/>
            <a:ext cx="5303520" cy="4343400"/>
          </a:xfrm>
          <a:prstGeom prst="roundRect">
            <a:avLst>
              <a:gd name="adj" fmla="val 2947"/>
            </a:avLst>
          </a:prstGeom>
          <a:solidFill>
            <a:srgbClr val="1A1B17">
              <a:alpha val="92000"/>
            </a:srgbClr>
          </a:solidFill>
          <a:ln w="12700">
            <a:solidFill>
              <a:srgbClr val="33342E"/>
            </a:solidFill>
            <a:prstDash val="solid"/>
          </a:ln>
        </p:spPr>
      </p:sp>
      <p:sp>
        <p:nvSpPr>
          <p:cNvPr id="19" name="anim-5-fade-d0"/>
          <p:cNvSpPr/>
          <p:nvPr/>
        </p:nvSpPr>
        <p:spPr>
          <a:xfrm>
            <a:off x="6583680" y="2148840"/>
            <a:ext cx="1417320" cy="438912"/>
          </a:xfrm>
          <a:prstGeom prst="roundRect">
            <a:avLst>
              <a:gd name="adj" fmla="val 50000"/>
            </a:avLst>
          </a:prstGeom>
          <a:solidFill>
            <a:srgbClr val="FB7185">
              <a:alpha val="15000"/>
            </a:srgbClr>
          </a:solidFill>
          <a:ln w="12700">
            <a:solidFill>
              <a:srgbClr val="FB7185"/>
            </a:solidFill>
            <a:prstDash val="solid"/>
          </a:ln>
        </p:spPr>
      </p:sp>
      <p:sp>
        <p:nvSpPr>
          <p:cNvPr id="20" name="anim-5-fade-dt0"/>
          <p:cNvSpPr txBox="1"/>
          <p:nvPr/>
        </p:nvSpPr>
        <p:spPr>
          <a:xfrm>
            <a:off x="6583680" y="2148840"/>
            <a:ext cx="1417320" cy="438912"/>
          </a:xfrm>
          <a:prstGeom prst="rect">
            <a:avLst/>
          </a:prstGeom>
          <a:noFill/>
          <a:ln/>
        </p:spPr>
        <p:txBody>
          <a:bodyPr wrap="square" lIns="0" tIns="0" rIns="0" bIns="0" rtlCol="0" anchor="ctr"/>
          <a:lstStyle/>
          <a:p>
            <a:pPr algn="ctr" indent="0" marL="0">
              <a:buNone/>
            </a:pPr>
            <a:r>
              <a:rPr lang="en-US" sz="1300" b="1" dirty="0">
                <a:solidFill>
                  <a:srgbClr val="FDA4AF"/>
                </a:solidFill>
              </a:rPr>
              <a:t>SSN</a:t>
            </a:r>
            <a:endParaRPr lang="en-US" sz="1300" dirty="0"/>
          </a:p>
        </p:txBody>
      </p:sp>
      <p:sp>
        <p:nvSpPr>
          <p:cNvPr id="21" name="anim-7-fade-r0"/>
          <p:cNvSpPr/>
          <p:nvPr/>
        </p:nvSpPr>
        <p:spPr>
          <a:xfrm>
            <a:off x="10012680" y="2148840"/>
            <a:ext cx="1463040" cy="438912"/>
          </a:xfrm>
          <a:prstGeom prst="roundRect">
            <a:avLst>
              <a:gd name="adj" fmla="val 20833"/>
            </a:avLst>
          </a:prstGeom>
          <a:solidFill>
            <a:srgbClr val="22231E"/>
          </a:solidFill>
          <a:ln w="12700">
            <a:solidFill>
              <a:srgbClr val="3A3A33"/>
            </a:solidFill>
            <a:prstDash val="solid"/>
          </a:ln>
        </p:spPr>
      </p:sp>
      <p:sp>
        <p:nvSpPr>
          <p:cNvPr id="22" name="anim-7-fade-rt0"/>
          <p:cNvSpPr txBox="1"/>
          <p:nvPr/>
        </p:nvSpPr>
        <p:spPr>
          <a:xfrm>
            <a:off x="10012680" y="2148840"/>
            <a:ext cx="1463040" cy="438912"/>
          </a:xfrm>
          <a:prstGeom prst="rect">
            <a:avLst/>
          </a:prstGeom>
          <a:noFill/>
          <a:ln/>
        </p:spPr>
        <p:txBody>
          <a:bodyPr wrap="square" lIns="0" tIns="0" rIns="0" bIns="0" rtlCol="0" anchor="ctr"/>
          <a:lstStyle/>
          <a:p>
            <a:pPr algn="ctr" indent="0" marL="0">
              <a:buNone/>
            </a:pPr>
            <a:r>
              <a:rPr lang="en-US" sz="1200" dirty="0">
                <a:solidFill>
                  <a:srgbClr val="CDC7BB"/>
                </a:solidFill>
              </a:rPr>
              <a:t>Weather API</a:t>
            </a:r>
            <a:endParaRPr lang="en-US" sz="1200" dirty="0"/>
          </a:p>
        </p:txBody>
      </p:sp>
      <p:sp>
        <p:nvSpPr>
          <p:cNvPr id="23" name="anim-5-fade-d1"/>
          <p:cNvSpPr/>
          <p:nvPr/>
        </p:nvSpPr>
        <p:spPr>
          <a:xfrm>
            <a:off x="6583680" y="3063240"/>
            <a:ext cx="1417320" cy="438912"/>
          </a:xfrm>
          <a:prstGeom prst="roundRect">
            <a:avLst>
              <a:gd name="adj" fmla="val 50000"/>
            </a:avLst>
          </a:prstGeom>
          <a:solidFill>
            <a:srgbClr val="FB7185">
              <a:alpha val="15000"/>
            </a:srgbClr>
          </a:solidFill>
          <a:ln w="12700">
            <a:solidFill>
              <a:srgbClr val="FB7185"/>
            </a:solidFill>
            <a:prstDash val="solid"/>
          </a:ln>
        </p:spPr>
      </p:sp>
      <p:sp>
        <p:nvSpPr>
          <p:cNvPr id="24" name="anim-5-fade-dt1"/>
          <p:cNvSpPr txBox="1"/>
          <p:nvPr/>
        </p:nvSpPr>
        <p:spPr>
          <a:xfrm>
            <a:off x="6583680" y="3063240"/>
            <a:ext cx="1417320" cy="438912"/>
          </a:xfrm>
          <a:prstGeom prst="rect">
            <a:avLst/>
          </a:prstGeom>
          <a:noFill/>
          <a:ln/>
        </p:spPr>
        <p:txBody>
          <a:bodyPr wrap="square" lIns="0" tIns="0" rIns="0" bIns="0" rtlCol="0" anchor="ctr"/>
          <a:lstStyle/>
          <a:p>
            <a:pPr algn="ctr" indent="0" marL="0">
              <a:buNone/>
            </a:pPr>
            <a:r>
              <a:rPr lang="en-US" sz="1300" b="1" dirty="0">
                <a:solidFill>
                  <a:srgbClr val="FDA4AF"/>
                </a:solidFill>
              </a:rPr>
              <a:t>Real card</a:t>
            </a:r>
            <a:endParaRPr lang="en-US" sz="1300" dirty="0"/>
          </a:p>
        </p:txBody>
      </p:sp>
      <p:sp>
        <p:nvSpPr>
          <p:cNvPr id="25" name="anim-7-fade-r1"/>
          <p:cNvSpPr/>
          <p:nvPr/>
        </p:nvSpPr>
        <p:spPr>
          <a:xfrm>
            <a:off x="10012680" y="3063240"/>
            <a:ext cx="1463040" cy="438912"/>
          </a:xfrm>
          <a:prstGeom prst="roundRect">
            <a:avLst>
              <a:gd name="adj" fmla="val 20833"/>
            </a:avLst>
          </a:prstGeom>
          <a:solidFill>
            <a:srgbClr val="22231E"/>
          </a:solidFill>
          <a:ln w="12700">
            <a:solidFill>
              <a:srgbClr val="3A3A33"/>
            </a:solidFill>
            <a:prstDash val="solid"/>
          </a:ln>
        </p:spPr>
      </p:sp>
      <p:sp>
        <p:nvSpPr>
          <p:cNvPr id="26" name="anim-7-fade-rt1"/>
          <p:cNvSpPr txBox="1"/>
          <p:nvPr/>
        </p:nvSpPr>
        <p:spPr>
          <a:xfrm>
            <a:off x="10012680" y="3063240"/>
            <a:ext cx="1463040" cy="438912"/>
          </a:xfrm>
          <a:prstGeom prst="rect">
            <a:avLst/>
          </a:prstGeom>
          <a:noFill/>
          <a:ln/>
        </p:spPr>
        <p:txBody>
          <a:bodyPr wrap="square" lIns="0" tIns="0" rIns="0" bIns="0" rtlCol="0" anchor="ctr"/>
          <a:lstStyle/>
          <a:p>
            <a:pPr algn="ctr" indent="0" marL="0">
              <a:buNone/>
            </a:pPr>
            <a:r>
              <a:rPr lang="en-US" sz="1200" dirty="0">
                <a:solidFill>
                  <a:srgbClr val="CDC7BB"/>
                </a:solidFill>
              </a:rPr>
              <a:t>Restaurant app</a:t>
            </a:r>
            <a:endParaRPr lang="en-US" sz="1200" dirty="0"/>
          </a:p>
        </p:txBody>
      </p:sp>
      <p:sp>
        <p:nvSpPr>
          <p:cNvPr id="27" name="anim-5-fade-d2"/>
          <p:cNvSpPr/>
          <p:nvPr/>
        </p:nvSpPr>
        <p:spPr>
          <a:xfrm>
            <a:off x="6583680" y="3977640"/>
            <a:ext cx="1417320" cy="438912"/>
          </a:xfrm>
          <a:prstGeom prst="roundRect">
            <a:avLst>
              <a:gd name="adj" fmla="val 50000"/>
            </a:avLst>
          </a:prstGeom>
          <a:solidFill>
            <a:srgbClr val="FB7185">
              <a:alpha val="15000"/>
            </a:srgbClr>
          </a:solidFill>
          <a:ln w="12700">
            <a:solidFill>
              <a:srgbClr val="FB7185"/>
            </a:solidFill>
            <a:prstDash val="solid"/>
          </a:ln>
        </p:spPr>
      </p:sp>
      <p:sp>
        <p:nvSpPr>
          <p:cNvPr id="28" name="anim-5-fade-dt2"/>
          <p:cNvSpPr txBox="1"/>
          <p:nvPr/>
        </p:nvSpPr>
        <p:spPr>
          <a:xfrm>
            <a:off x="6583680" y="3977640"/>
            <a:ext cx="1417320" cy="438912"/>
          </a:xfrm>
          <a:prstGeom prst="rect">
            <a:avLst/>
          </a:prstGeom>
          <a:noFill/>
          <a:ln/>
        </p:spPr>
        <p:txBody>
          <a:bodyPr wrap="square" lIns="0" tIns="0" rIns="0" bIns="0" rtlCol="0" anchor="ctr"/>
          <a:lstStyle/>
          <a:p>
            <a:pPr algn="ctr" indent="0" marL="0">
              <a:buNone/>
            </a:pPr>
            <a:r>
              <a:rPr lang="en-US" sz="1300" b="1" dirty="0">
                <a:solidFill>
                  <a:srgbClr val="FDA4AF"/>
                </a:solidFill>
              </a:rPr>
              <a:t>Home address</a:t>
            </a:r>
            <a:endParaRPr lang="en-US" sz="1300" dirty="0"/>
          </a:p>
        </p:txBody>
      </p:sp>
      <p:sp>
        <p:nvSpPr>
          <p:cNvPr id="29" name="anim-7-fade-r2"/>
          <p:cNvSpPr/>
          <p:nvPr/>
        </p:nvSpPr>
        <p:spPr>
          <a:xfrm>
            <a:off x="10012680" y="3977640"/>
            <a:ext cx="1463040" cy="438912"/>
          </a:xfrm>
          <a:prstGeom prst="roundRect">
            <a:avLst>
              <a:gd name="adj" fmla="val 20833"/>
            </a:avLst>
          </a:prstGeom>
          <a:solidFill>
            <a:srgbClr val="22231E"/>
          </a:solidFill>
          <a:ln w="12700">
            <a:solidFill>
              <a:srgbClr val="3A3A33"/>
            </a:solidFill>
            <a:prstDash val="solid"/>
          </a:ln>
        </p:spPr>
      </p:sp>
      <p:sp>
        <p:nvSpPr>
          <p:cNvPr id="30" name="anim-7-fade-rt2"/>
          <p:cNvSpPr txBox="1"/>
          <p:nvPr/>
        </p:nvSpPr>
        <p:spPr>
          <a:xfrm>
            <a:off x="10012680" y="3977640"/>
            <a:ext cx="1463040" cy="438912"/>
          </a:xfrm>
          <a:prstGeom prst="rect">
            <a:avLst/>
          </a:prstGeom>
          <a:noFill/>
          <a:ln/>
        </p:spPr>
        <p:txBody>
          <a:bodyPr wrap="square" lIns="0" tIns="0" rIns="0" bIns="0" rtlCol="0" anchor="ctr"/>
          <a:lstStyle/>
          <a:p>
            <a:pPr algn="ctr" indent="0" marL="0">
              <a:buNone/>
            </a:pPr>
            <a:r>
              <a:rPr lang="en-US" sz="1200" dirty="0">
                <a:solidFill>
                  <a:srgbClr val="CDC7BB"/>
                </a:solidFill>
              </a:rPr>
              <a:t>Pharmacy</a:t>
            </a:r>
            <a:endParaRPr lang="en-US" sz="1200" dirty="0"/>
          </a:p>
        </p:txBody>
      </p:sp>
      <p:sp>
        <p:nvSpPr>
          <p:cNvPr id="31" name="anim-5-fade-d3"/>
          <p:cNvSpPr/>
          <p:nvPr/>
        </p:nvSpPr>
        <p:spPr>
          <a:xfrm>
            <a:off x="6583680" y="4892040"/>
            <a:ext cx="1417320" cy="438912"/>
          </a:xfrm>
          <a:prstGeom prst="roundRect">
            <a:avLst>
              <a:gd name="adj" fmla="val 50000"/>
            </a:avLst>
          </a:prstGeom>
          <a:solidFill>
            <a:srgbClr val="FB7185">
              <a:alpha val="15000"/>
            </a:srgbClr>
          </a:solidFill>
          <a:ln w="12700">
            <a:solidFill>
              <a:srgbClr val="FB7185"/>
            </a:solidFill>
            <a:prstDash val="solid"/>
          </a:ln>
        </p:spPr>
      </p:sp>
      <p:sp>
        <p:nvSpPr>
          <p:cNvPr id="32" name="anim-5-fade-dt3"/>
          <p:cNvSpPr txBox="1"/>
          <p:nvPr/>
        </p:nvSpPr>
        <p:spPr>
          <a:xfrm>
            <a:off x="6583680" y="4892040"/>
            <a:ext cx="1417320" cy="438912"/>
          </a:xfrm>
          <a:prstGeom prst="rect">
            <a:avLst/>
          </a:prstGeom>
          <a:noFill/>
          <a:ln/>
        </p:spPr>
        <p:txBody>
          <a:bodyPr wrap="square" lIns="0" tIns="0" rIns="0" bIns="0" rtlCol="0" anchor="ctr"/>
          <a:lstStyle/>
          <a:p>
            <a:pPr algn="ctr" indent="0" marL="0">
              <a:buNone/>
            </a:pPr>
            <a:r>
              <a:rPr lang="en-US" sz="1300" b="1" dirty="0">
                <a:solidFill>
                  <a:srgbClr val="FDA4AF"/>
                </a:solidFill>
              </a:rPr>
              <a:t>Anxiety meds</a:t>
            </a:r>
            <a:endParaRPr lang="en-US" sz="1300" dirty="0"/>
          </a:p>
        </p:txBody>
      </p:sp>
      <p:sp>
        <p:nvSpPr>
          <p:cNvPr id="33" name="anim-7-fade-r3"/>
          <p:cNvSpPr/>
          <p:nvPr/>
        </p:nvSpPr>
        <p:spPr>
          <a:xfrm>
            <a:off x="10012680" y="4892040"/>
            <a:ext cx="1463040" cy="438912"/>
          </a:xfrm>
          <a:prstGeom prst="roundRect">
            <a:avLst>
              <a:gd name="adj" fmla="val 20833"/>
            </a:avLst>
          </a:prstGeom>
          <a:solidFill>
            <a:srgbClr val="22231E"/>
          </a:solidFill>
          <a:ln w="12700">
            <a:solidFill>
              <a:srgbClr val="FB7185"/>
            </a:solidFill>
            <a:prstDash val="solid"/>
          </a:ln>
        </p:spPr>
      </p:sp>
      <p:sp>
        <p:nvSpPr>
          <p:cNvPr id="34" name="anim-7-fade-rt3"/>
          <p:cNvSpPr txBox="1"/>
          <p:nvPr/>
        </p:nvSpPr>
        <p:spPr>
          <a:xfrm>
            <a:off x="10012680" y="4892040"/>
            <a:ext cx="1463040" cy="438912"/>
          </a:xfrm>
          <a:prstGeom prst="rect">
            <a:avLst/>
          </a:prstGeom>
          <a:noFill/>
          <a:ln/>
        </p:spPr>
        <p:txBody>
          <a:bodyPr wrap="square" lIns="0" tIns="0" rIns="0" bIns="0" rtlCol="0" anchor="ctr"/>
          <a:lstStyle/>
          <a:p>
            <a:pPr algn="ctr" indent="0" marL="0">
              <a:buNone/>
            </a:pPr>
            <a:r>
              <a:rPr lang="en-US" sz="1200" dirty="0">
                <a:solidFill>
                  <a:srgbClr val="FDA4AF"/>
                </a:solidFill>
              </a:rPr>
              <a:t>telemetry-cdn.io</a:t>
            </a:r>
            <a:endParaRPr lang="en-US" sz="1200" dirty="0"/>
          </a:p>
        </p:txBody>
      </p:sp>
      <p:sp>
        <p:nvSpPr>
          <p:cNvPr id="35" name="anim-6-zoom-agent"/>
          <p:cNvSpPr/>
          <p:nvPr/>
        </p:nvSpPr>
        <p:spPr>
          <a:xfrm>
            <a:off x="8458200" y="3108960"/>
            <a:ext cx="1097280" cy="1097280"/>
          </a:xfrm>
          <a:prstGeom prst="ellipse">
            <a:avLst/>
          </a:prstGeom>
          <a:solidFill>
            <a:srgbClr val="F6D8B4">
              <a:alpha val="20000"/>
            </a:srgbClr>
          </a:solidFill>
          <a:ln w="19050">
            <a:solidFill>
              <a:srgbClr val="F6D8B4"/>
            </a:solidFill>
            <a:prstDash val="solid"/>
          </a:ln>
        </p:spPr>
      </p:sp>
      <p:sp>
        <p:nvSpPr>
          <p:cNvPr id="36" name="anim-6-zoom-agentt"/>
          <p:cNvSpPr txBox="1"/>
          <p:nvPr/>
        </p:nvSpPr>
        <p:spPr>
          <a:xfrm>
            <a:off x="8458200" y="3108960"/>
            <a:ext cx="1097280" cy="1097280"/>
          </a:xfrm>
          <a:prstGeom prst="rect">
            <a:avLst/>
          </a:prstGeom>
          <a:noFill/>
          <a:ln/>
        </p:spPr>
        <p:txBody>
          <a:bodyPr wrap="square" lIns="0" tIns="0" rIns="0" bIns="0" rtlCol="0" anchor="ctr"/>
          <a:lstStyle/>
          <a:p>
            <a:pPr algn="ctr" indent="0" marL="0">
              <a:buNone/>
            </a:pPr>
            <a:r>
              <a:rPr lang="en-US" sz="1400" b="1" dirty="0">
                <a:solidFill>
                  <a:srgbClr val="DDD6FE"/>
                </a:solidFill>
              </a:rPr>
              <a:t>AI agent</a:t>
            </a:r>
            <a:endParaRPr lang="en-US" sz="1400" dirty="0"/>
          </a:p>
        </p:txBody>
      </p:sp>
      <p:sp>
        <p:nvSpPr>
          <p:cNvPr id="37" name="anim-6-fade-l0"/>
          <p:cNvSpPr/>
          <p:nvPr/>
        </p:nvSpPr>
        <p:spPr>
          <a:xfrm>
            <a:off x="8001000" y="2368296"/>
            <a:ext cx="457200" cy="1289304"/>
          </a:xfrm>
          <a:prstGeom prst="line">
            <a:avLst/>
          </a:prstGeom>
          <a:noFill/>
          <a:ln w="15875">
            <a:solidFill>
              <a:srgbClr val="FB7185"/>
            </a:solidFill>
            <a:prstDash val="solid"/>
          </a:ln>
        </p:spPr>
      </p:sp>
      <p:sp>
        <p:nvSpPr>
          <p:cNvPr id="38" name="anim-7-fade-m0"/>
          <p:cNvSpPr/>
          <p:nvPr/>
        </p:nvSpPr>
        <p:spPr>
          <a:xfrm flipV="1">
            <a:off x="9555480" y="2368296"/>
            <a:ext cx="457200" cy="1289304"/>
          </a:xfrm>
          <a:prstGeom prst="line">
            <a:avLst/>
          </a:prstGeom>
          <a:noFill/>
          <a:ln w="15875">
            <a:solidFill>
              <a:srgbClr val="FB7185"/>
            </a:solidFill>
            <a:prstDash val="solid"/>
            <a:tailEnd type="triangle"/>
          </a:ln>
        </p:spPr>
      </p:sp>
      <p:sp>
        <p:nvSpPr>
          <p:cNvPr id="39" name="anim-6-fade-l1"/>
          <p:cNvSpPr/>
          <p:nvPr/>
        </p:nvSpPr>
        <p:spPr>
          <a:xfrm>
            <a:off x="8001000" y="3282696"/>
            <a:ext cx="457200" cy="374904"/>
          </a:xfrm>
          <a:prstGeom prst="line">
            <a:avLst/>
          </a:prstGeom>
          <a:noFill/>
          <a:ln w="15875">
            <a:solidFill>
              <a:srgbClr val="FB7185"/>
            </a:solidFill>
            <a:prstDash val="solid"/>
          </a:ln>
        </p:spPr>
      </p:sp>
      <p:sp>
        <p:nvSpPr>
          <p:cNvPr id="40" name="anim-7-fade-m1"/>
          <p:cNvSpPr/>
          <p:nvPr/>
        </p:nvSpPr>
        <p:spPr>
          <a:xfrm flipV="1">
            <a:off x="9555480" y="3282696"/>
            <a:ext cx="457200" cy="374904"/>
          </a:xfrm>
          <a:prstGeom prst="line">
            <a:avLst/>
          </a:prstGeom>
          <a:noFill/>
          <a:ln w="15875">
            <a:solidFill>
              <a:srgbClr val="FB7185"/>
            </a:solidFill>
            <a:prstDash val="solid"/>
            <a:tailEnd type="triangle"/>
          </a:ln>
        </p:spPr>
      </p:sp>
      <p:sp>
        <p:nvSpPr>
          <p:cNvPr id="41" name="anim-6-fade-l2"/>
          <p:cNvSpPr/>
          <p:nvPr/>
        </p:nvSpPr>
        <p:spPr>
          <a:xfrm flipV="1">
            <a:off x="8001000" y="3657600"/>
            <a:ext cx="457200" cy="539496"/>
          </a:xfrm>
          <a:prstGeom prst="line">
            <a:avLst/>
          </a:prstGeom>
          <a:noFill/>
          <a:ln w="15875">
            <a:solidFill>
              <a:srgbClr val="FB7185"/>
            </a:solidFill>
            <a:prstDash val="solid"/>
          </a:ln>
        </p:spPr>
      </p:sp>
      <p:sp>
        <p:nvSpPr>
          <p:cNvPr id="42" name="anim-7-fade-m2"/>
          <p:cNvSpPr/>
          <p:nvPr/>
        </p:nvSpPr>
        <p:spPr>
          <a:xfrm>
            <a:off x="9555480" y="3657600"/>
            <a:ext cx="457200" cy="539496"/>
          </a:xfrm>
          <a:prstGeom prst="line">
            <a:avLst/>
          </a:prstGeom>
          <a:noFill/>
          <a:ln w="15875">
            <a:solidFill>
              <a:srgbClr val="FB7185"/>
            </a:solidFill>
            <a:prstDash val="solid"/>
            <a:tailEnd type="triangle"/>
          </a:ln>
        </p:spPr>
      </p:sp>
      <p:sp>
        <p:nvSpPr>
          <p:cNvPr id="43" name="anim-6-fade-l3"/>
          <p:cNvSpPr/>
          <p:nvPr/>
        </p:nvSpPr>
        <p:spPr>
          <a:xfrm flipV="1">
            <a:off x="8001000" y="3657600"/>
            <a:ext cx="457200" cy="1453896"/>
          </a:xfrm>
          <a:prstGeom prst="line">
            <a:avLst/>
          </a:prstGeom>
          <a:noFill/>
          <a:ln w="15875">
            <a:solidFill>
              <a:srgbClr val="FB7185"/>
            </a:solidFill>
            <a:prstDash val="solid"/>
          </a:ln>
        </p:spPr>
      </p:sp>
      <p:sp>
        <p:nvSpPr>
          <p:cNvPr id="44" name="anim-7-fade-m3"/>
          <p:cNvSpPr/>
          <p:nvPr/>
        </p:nvSpPr>
        <p:spPr>
          <a:xfrm>
            <a:off x="9555480" y="3657600"/>
            <a:ext cx="457200" cy="1453896"/>
          </a:xfrm>
          <a:prstGeom prst="line">
            <a:avLst/>
          </a:prstGeom>
          <a:noFill/>
          <a:ln w="15875">
            <a:solidFill>
              <a:srgbClr val="FB7185"/>
            </a:solidFill>
            <a:prstDash val="solid"/>
            <a:tailEnd type="triangle"/>
          </a:ln>
        </p:spPr>
      </p:sp>
      <p:sp>
        <p:nvSpPr>
          <p:cNvPr id="45" name="anim-8-fade-cap"/>
          <p:cNvSpPr txBox="1"/>
          <p:nvPr/>
        </p:nvSpPr>
        <p:spPr>
          <a:xfrm>
            <a:off x="6583680" y="5596128"/>
            <a:ext cx="4937760" cy="320040"/>
          </a:xfrm>
          <a:prstGeom prst="rect">
            <a:avLst/>
          </a:prstGeom>
          <a:noFill/>
          <a:ln/>
        </p:spPr>
        <p:txBody>
          <a:bodyPr wrap="square" lIns="0" tIns="0" rIns="0" bIns="0" rtlCol="0" anchor="ctr"/>
          <a:lstStyle/>
          <a:p>
            <a:pPr indent="0" marL="0">
              <a:buNone/>
            </a:pPr>
            <a:r>
              <a:rPr lang="en-US" sz="1300" i="1" dirty="0">
                <a:solidFill>
                  <a:srgbClr val="A7A196"/>
                </a:solidFill>
              </a:rPr>
              <a:t>Today: whatever is in context can go anywhere.</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52" fill="hold">
                            <p:stCondLst>
                              <p:cond delay="0"/>
                            </p:stCondLst>
                            <p:childTnLst>
                              <p:par>
                                <p:cTn id="8" presetID="42" presetClass="entr" presetSubtype="0"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750"/>
                                        <p:tgtEl>
                                          <p:spTgt spid="6"/>
                                        </p:tgtEl>
                                      </p:cBhvr>
                                    </p:animEffect>
                                    <p:anim calcmode="lin" valueType="num">
                                      <p:cBhvr>
                                        <p:cTn id="6" dur="750" fill="hold"/>
                                        <p:tgtEl>
                                          <p:spTgt spid="6"/>
                                        </p:tgtEl>
                                        <p:attrNameLst>
                                          <p:attrName>ppt_x</p:attrName>
                                        </p:attrNameLst>
                                      </p:cBhvr>
                                      <p:tavLst>
                                        <p:tav tm="0">
                                          <p:val>
                                            <p:strVal val="#ppt_x"/>
                                          </p:val>
                                        </p:tav>
                                        <p:tav tm="100000">
                                          <p:val>
                                            <p:strVal val="#ppt_x"/>
                                          </p:val>
                                        </p:tav>
                                      </p:tavLst>
                                    </p:anim>
                                    <p:anim calcmode="lin" valueType="num">
                                      <p:cBhvr>
                                        <p:cTn id="7" dur="750" decel="10000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30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750"/>
                                        <p:tgtEl>
                                          <p:spTgt spid="7"/>
                                        </p:tgtEl>
                                      </p:cBhvr>
                                    </p:animEffect>
                                    <p:anim calcmode="lin" valueType="num">
                                      <p:cBhvr>
                                        <p:cTn id="11" dur="750" fill="hold"/>
                                        <p:tgtEl>
                                          <p:spTgt spid="7"/>
                                        </p:tgtEl>
                                        <p:attrNameLst>
                                          <p:attrName>ppt_x</p:attrName>
                                        </p:attrNameLst>
                                      </p:cBhvr>
                                      <p:tavLst>
                                        <p:tav tm="0">
                                          <p:val>
                                            <p:strVal val="#ppt_x"/>
                                          </p:val>
                                        </p:tav>
                                        <p:tav tm="100000">
                                          <p:val>
                                            <p:strVal val="#ppt_x"/>
                                          </p:val>
                                        </p:tav>
                                      </p:tavLst>
                                    </p:anim>
                                    <p:anim calcmode="lin" valueType="num">
                                      <p:cBhvr>
                                        <p:cTn id="12" dur="750" decel="10000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36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50"/>
                                        <p:tgtEl>
                                          <p:spTgt spid="8"/>
                                        </p:tgtEl>
                                      </p:cBhvr>
                                    </p:animEffect>
                                    <p:anim calcmode="lin" valueType="num">
                                      <p:cBhvr>
                                        <p:cTn id="16" dur="750" fill="hold"/>
                                        <p:tgtEl>
                                          <p:spTgt spid="8"/>
                                        </p:tgtEl>
                                        <p:attrNameLst>
                                          <p:attrName>ppt_x</p:attrName>
                                        </p:attrNameLst>
                                      </p:cBhvr>
                                      <p:tavLst>
                                        <p:tav tm="0">
                                          <p:val>
                                            <p:strVal val="#ppt_x"/>
                                          </p:val>
                                        </p:tav>
                                        <p:tav tm="100000">
                                          <p:val>
                                            <p:strVal val="#ppt_x"/>
                                          </p:val>
                                        </p:tav>
                                      </p:tavLst>
                                    </p:anim>
                                    <p:anim calcmode="lin" valueType="num">
                                      <p:cBhvr>
                                        <p:cTn id="17" dur="750" decel="10000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415"/>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750"/>
                                        <p:tgtEl>
                                          <p:spTgt spid="9"/>
                                        </p:tgtEl>
                                      </p:cBhvr>
                                    </p:animEffect>
                                    <p:anim calcmode="lin" valueType="num">
                                      <p:cBhvr>
                                        <p:cTn id="21" dur="750" fill="hold"/>
                                        <p:tgtEl>
                                          <p:spTgt spid="9"/>
                                        </p:tgtEl>
                                        <p:attrNameLst>
                                          <p:attrName>ppt_x</p:attrName>
                                        </p:attrNameLst>
                                      </p:cBhvr>
                                      <p:tavLst>
                                        <p:tav tm="0">
                                          <p:val>
                                            <p:strVal val="#ppt_x"/>
                                          </p:val>
                                        </p:tav>
                                        <p:tav tm="100000">
                                          <p:val>
                                            <p:strVal val="#ppt_x"/>
                                          </p:val>
                                        </p:tav>
                                      </p:tavLst>
                                    </p:anim>
                                    <p:anim calcmode="lin" valueType="num">
                                      <p:cBhvr>
                                        <p:cTn id="22" dur="750" decel="10000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58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50"/>
                                        <p:tgtEl>
                                          <p:spTgt spid="10"/>
                                        </p:tgtEl>
                                      </p:cBhvr>
                                    </p:animEffect>
                                    <p:anim calcmode="lin" valueType="num">
                                      <p:cBhvr>
                                        <p:cTn id="26" dur="750" fill="hold"/>
                                        <p:tgtEl>
                                          <p:spTgt spid="10"/>
                                        </p:tgtEl>
                                        <p:attrNameLst>
                                          <p:attrName>ppt_x</p:attrName>
                                        </p:attrNameLst>
                                      </p:cBhvr>
                                      <p:tavLst>
                                        <p:tav tm="0">
                                          <p:val>
                                            <p:strVal val="#ppt_x"/>
                                          </p:val>
                                        </p:tav>
                                        <p:tav tm="100000">
                                          <p:val>
                                            <p:strVal val="#ppt_x"/>
                                          </p:val>
                                        </p:tav>
                                      </p:tavLst>
                                    </p:anim>
                                    <p:anim calcmode="lin" valueType="num">
                                      <p:cBhvr>
                                        <p:cTn id="27" dur="750" decel="10000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635"/>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50"/>
                                        <p:tgtEl>
                                          <p:spTgt spid="11"/>
                                        </p:tgtEl>
                                      </p:cBhvr>
                                    </p:animEffect>
                                    <p:anim calcmode="lin" valueType="num">
                                      <p:cBhvr>
                                        <p:cTn id="31" dur="750" fill="hold"/>
                                        <p:tgtEl>
                                          <p:spTgt spid="11"/>
                                        </p:tgtEl>
                                        <p:attrNameLst>
                                          <p:attrName>ppt_x</p:attrName>
                                        </p:attrNameLst>
                                      </p:cBhvr>
                                      <p:tavLst>
                                        <p:tav tm="0">
                                          <p:val>
                                            <p:strVal val="#ppt_x"/>
                                          </p:val>
                                        </p:tav>
                                        <p:tav tm="100000">
                                          <p:val>
                                            <p:strVal val="#ppt_x"/>
                                          </p:val>
                                        </p:tav>
                                      </p:tavLst>
                                    </p:anim>
                                    <p:anim calcmode="lin" valueType="num">
                                      <p:cBhvr>
                                        <p:cTn id="32" dur="750" decel="10000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50"/>
                                        <p:tgtEl>
                                          <p:spTgt spid="12"/>
                                        </p:tgtEl>
                                      </p:cBhvr>
                                    </p:animEffect>
                                    <p:anim calcmode="lin" valueType="num">
                                      <p:cBhvr>
                                        <p:cTn id="36" dur="750" fill="hold"/>
                                        <p:tgtEl>
                                          <p:spTgt spid="12"/>
                                        </p:tgtEl>
                                        <p:attrNameLst>
                                          <p:attrName>ppt_x</p:attrName>
                                        </p:attrNameLst>
                                      </p:cBhvr>
                                      <p:tavLst>
                                        <p:tav tm="0">
                                          <p:val>
                                            <p:strVal val="#ppt_x"/>
                                          </p:val>
                                        </p:tav>
                                        <p:tav tm="100000">
                                          <p:val>
                                            <p:strVal val="#ppt_x"/>
                                          </p:val>
                                        </p:tav>
                                      </p:tavLst>
                                    </p:anim>
                                    <p:anim calcmode="lin" valueType="num">
                                      <p:cBhvr>
                                        <p:cTn id="37" dur="750" decel="10000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745"/>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50"/>
                                        <p:tgtEl>
                                          <p:spTgt spid="13"/>
                                        </p:tgtEl>
                                      </p:cBhvr>
                                    </p:animEffect>
                                    <p:anim calcmode="lin" valueType="num">
                                      <p:cBhvr>
                                        <p:cTn id="41" dur="750" fill="hold"/>
                                        <p:tgtEl>
                                          <p:spTgt spid="13"/>
                                        </p:tgtEl>
                                        <p:attrNameLst>
                                          <p:attrName>ppt_x</p:attrName>
                                        </p:attrNameLst>
                                      </p:cBhvr>
                                      <p:tavLst>
                                        <p:tav tm="0">
                                          <p:val>
                                            <p:strVal val="#ppt_x"/>
                                          </p:val>
                                        </p:tav>
                                        <p:tav tm="100000">
                                          <p:val>
                                            <p:strVal val="#ppt_x"/>
                                          </p:val>
                                        </p:tav>
                                      </p:tavLst>
                                    </p:anim>
                                    <p:anim calcmode="lin" valueType="num">
                                      <p:cBhvr>
                                        <p:cTn id="42" dur="750" decel="10000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91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50"/>
                                        <p:tgtEl>
                                          <p:spTgt spid="14"/>
                                        </p:tgtEl>
                                      </p:cBhvr>
                                    </p:animEffect>
                                    <p:anim calcmode="lin" valueType="num">
                                      <p:cBhvr>
                                        <p:cTn id="46" dur="750" fill="hold"/>
                                        <p:tgtEl>
                                          <p:spTgt spid="14"/>
                                        </p:tgtEl>
                                        <p:attrNameLst>
                                          <p:attrName>ppt_x</p:attrName>
                                        </p:attrNameLst>
                                      </p:cBhvr>
                                      <p:tavLst>
                                        <p:tav tm="0">
                                          <p:val>
                                            <p:strVal val="#ppt_x"/>
                                          </p:val>
                                        </p:tav>
                                        <p:tav tm="100000">
                                          <p:val>
                                            <p:strVal val="#ppt_x"/>
                                          </p:val>
                                        </p:tav>
                                      </p:tavLst>
                                    </p:anim>
                                    <p:anim calcmode="lin" valueType="num">
                                      <p:cBhvr>
                                        <p:cTn id="47" dur="750" decel="10000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965"/>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750"/>
                                        <p:tgtEl>
                                          <p:spTgt spid="15"/>
                                        </p:tgtEl>
                                      </p:cBhvr>
                                    </p:animEffect>
                                    <p:anim calcmode="lin" valueType="num">
                                      <p:cBhvr>
                                        <p:cTn id="51" dur="750" fill="hold"/>
                                        <p:tgtEl>
                                          <p:spTgt spid="15"/>
                                        </p:tgtEl>
                                        <p:attrNameLst>
                                          <p:attrName>ppt_x</p:attrName>
                                        </p:attrNameLst>
                                      </p:cBhvr>
                                      <p:tavLst>
                                        <p:tav tm="0">
                                          <p:val>
                                            <p:strVal val="#ppt_x"/>
                                          </p:val>
                                        </p:tav>
                                        <p:tav tm="100000">
                                          <p:val>
                                            <p:strVal val="#ppt_x"/>
                                          </p:val>
                                        </p:tav>
                                      </p:tavLst>
                                    </p:anim>
                                    <p:anim calcmode="lin" valueType="num">
                                      <p:cBhvr>
                                        <p:cTn id="52" dur="750" decel="10000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02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ppt_x</p:attrName>
                                        </p:attrNameLst>
                                      </p:cBhvr>
                                      <p:tavLst>
                                        <p:tav tm="0">
                                          <p:val>
                                            <p:strVal val="#ppt_x"/>
                                          </p:val>
                                        </p:tav>
                                        <p:tav tm="100000">
                                          <p:val>
                                            <p:strVal val="#ppt_x"/>
                                          </p:val>
                                        </p:tav>
                                      </p:tavLst>
                                    </p:anim>
                                    <p:anim calcmode="lin" valueType="num">
                                      <p:cBhvr>
                                        <p:cTn id="57" dur="750" decel="10000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1075"/>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750"/>
                                        <p:tgtEl>
                                          <p:spTgt spid="17"/>
                                        </p:tgtEl>
                                      </p:cBhvr>
                                    </p:animEffect>
                                    <p:anim calcmode="lin" valueType="num">
                                      <p:cBhvr>
                                        <p:cTn id="61" dur="750" fill="hold"/>
                                        <p:tgtEl>
                                          <p:spTgt spid="17"/>
                                        </p:tgtEl>
                                        <p:attrNameLst>
                                          <p:attrName>ppt_x</p:attrName>
                                        </p:attrNameLst>
                                      </p:cBhvr>
                                      <p:tavLst>
                                        <p:tav tm="0">
                                          <p:val>
                                            <p:strVal val="#ppt_x"/>
                                          </p:val>
                                        </p:tav>
                                        <p:tav tm="100000">
                                          <p:val>
                                            <p:strVal val="#ppt_x"/>
                                          </p:val>
                                        </p:tav>
                                      </p:tavLst>
                                    </p:anim>
                                    <p:anim calcmode="lin" valueType="num">
                                      <p:cBhvr>
                                        <p:cTn id="62" dur="750" decel="100000" fill="hold"/>
                                        <p:tgtEl>
                                          <p:spTgt spid="17"/>
                                        </p:tgtEl>
                                        <p:attrNameLst>
                                          <p:attrName>ppt_y</p:attrName>
                                        </p:attrNameLst>
                                      </p:cBhvr>
                                      <p:tavLst>
                                        <p:tav tm="0">
                                          <p:val>
                                            <p:strVal val="#ppt_y+.06"/>
                                          </p:val>
                                        </p:tav>
                                        <p:tav tm="100000">
                                          <p:val>
                                            <p:strVal val="#ppt_y"/>
                                          </p:val>
                                        </p:tav>
                                      </p:tavLst>
                                    </p:anim>
                                  </p:childTnLst>
                                </p:cTn>
                              </p:par>
                              <p:par>
                                <p:cTn id="66" presetID="10" presetClass="entr" presetSubtype="0" fill="hold" grpId="0" nodeType="withEffect">
                                  <p:stCondLst>
                                    <p:cond delay="124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650"/>
                                        <p:tgtEl>
                                          <p:spTgt spid="18"/>
                                        </p:tgtEl>
                                      </p:cBhvr>
                                    </p:animEffect>
                                  </p:childTnLst>
                                </p:cTn>
                              </p:par>
                              <p:par>
                                <p:cTn id="69" presetID="10" presetClass="entr" presetSubtype="0" fill="hold" grpId="0" nodeType="withEffect">
                                  <p:stCondLst>
                                    <p:cond delay="157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650"/>
                                        <p:tgtEl>
                                          <p:spTgt spid="19"/>
                                        </p:tgtEl>
                                      </p:cBhvr>
                                    </p:animEffect>
                                  </p:childTnLst>
                                </p:cTn>
                              </p:par>
                              <p:par>
                                <p:cTn id="72" presetID="10" presetClass="entr" presetSubtype="0" fill="hold" grpId="0" nodeType="withEffect">
                                  <p:stCondLst>
                                    <p:cond delay="1625"/>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50"/>
                                        <p:tgtEl>
                                          <p:spTgt spid="20"/>
                                        </p:tgtEl>
                                      </p:cBhvr>
                                    </p:animEffect>
                                  </p:childTnLst>
                                </p:cTn>
                              </p:par>
                              <p:par>
                                <p:cTn id="75" presetID="10" presetClass="entr" presetSubtype="0" fill="hold" grpId="0" nodeType="withEffect">
                                  <p:stCondLst>
                                    <p:cond delay="168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50"/>
                                        <p:tgtEl>
                                          <p:spTgt spid="23"/>
                                        </p:tgtEl>
                                      </p:cBhvr>
                                    </p:animEffect>
                                  </p:childTnLst>
                                </p:cTn>
                              </p:par>
                              <p:par>
                                <p:cTn id="78" presetID="10" presetClass="entr" presetSubtype="0" fill="hold" grpId="0" nodeType="withEffect">
                                  <p:stCondLst>
                                    <p:cond delay="1735"/>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650"/>
                                        <p:tgtEl>
                                          <p:spTgt spid="24"/>
                                        </p:tgtEl>
                                      </p:cBhvr>
                                    </p:animEffect>
                                  </p:childTnLst>
                                </p:cTn>
                              </p:par>
                              <p:par>
                                <p:cTn id="81" presetID="10" presetClass="entr" presetSubtype="0" fill="hold" grpId="0" nodeType="withEffect">
                                  <p:stCondLst>
                                    <p:cond delay="179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650"/>
                                        <p:tgtEl>
                                          <p:spTgt spid="27"/>
                                        </p:tgtEl>
                                      </p:cBhvr>
                                    </p:animEffect>
                                  </p:childTnLst>
                                </p:cTn>
                              </p:par>
                              <p:par>
                                <p:cTn id="84" presetID="10" presetClass="entr" presetSubtype="0" fill="hold" grpId="0" nodeType="withEffect">
                                  <p:stCondLst>
                                    <p:cond delay="1845"/>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650"/>
                                        <p:tgtEl>
                                          <p:spTgt spid="28"/>
                                        </p:tgtEl>
                                      </p:cBhvr>
                                    </p:animEffect>
                                  </p:childTnLst>
                                </p:cTn>
                              </p:par>
                              <p:par>
                                <p:cTn id="87" presetID="10" presetClass="entr" presetSubtype="0" fill="hold" grpId="0" nodeType="withEffect">
                                  <p:stCondLst>
                                    <p:cond delay="190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650"/>
                                        <p:tgtEl>
                                          <p:spTgt spid="31"/>
                                        </p:tgtEl>
                                      </p:cBhvr>
                                    </p:animEffect>
                                  </p:childTnLst>
                                </p:cTn>
                              </p:par>
                              <p:par>
                                <p:cTn id="90" presetID="10" presetClass="entr" presetSubtype="0" fill="hold" grpId="0" nodeType="withEffect">
                                  <p:stCondLst>
                                    <p:cond delay="1955"/>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650"/>
                                        <p:tgtEl>
                                          <p:spTgt spid="32"/>
                                        </p:tgtEl>
                                      </p:cBhvr>
                                    </p:animEffect>
                                  </p:childTnLst>
                                </p:cTn>
                              </p:par>
                              <p:par>
                                <p:cTn id="95" presetID="53" presetClass="entr" presetSubtype="16" fill="hold" grpId="0" nodeType="withEffect">
                                  <p:stCondLst>
                                    <p:cond delay="1900"/>
                                  </p:stCondLst>
                                  <p:childTnLst>
                                    <p:set>
                                      <p:cBhvr>
                                        <p:cTn id="91" dur="1" fill="hold">
                                          <p:stCondLst>
                                            <p:cond delay="0"/>
                                          </p:stCondLst>
                                        </p:cTn>
                                        <p:tgtEl>
                                          <p:spTgt spid="35"/>
                                        </p:tgtEl>
                                        <p:attrNameLst>
                                          <p:attrName>style.visibility</p:attrName>
                                        </p:attrNameLst>
                                      </p:cBhvr>
                                      <p:to>
                                        <p:strVal val="visible"/>
                                      </p:to>
                                    </p:set>
                                    <p:anim calcmode="lin" valueType="num">
                                      <p:cBhvr>
                                        <p:cTn id="92" dur="700" decel="100000" fill="hold"/>
                                        <p:tgtEl>
                                          <p:spTgt spid="35"/>
                                        </p:tgtEl>
                                        <p:attrNameLst>
                                          <p:attrName>ppt_w</p:attrName>
                                        </p:attrNameLst>
                                      </p:cBhvr>
                                      <p:tavLst>
                                        <p:tav tm="0">
                                          <p:val>
                                            <p:strVal val="0"/>
                                          </p:val>
                                        </p:tav>
                                        <p:tav tm="100000">
                                          <p:val>
                                            <p:strVal val="#ppt_w"/>
                                          </p:val>
                                        </p:tav>
                                      </p:tavLst>
                                    </p:anim>
                                    <p:anim calcmode="lin" valueType="num">
                                      <p:cBhvr>
                                        <p:cTn id="93" dur="700" decel="100000" fill="hold"/>
                                        <p:tgtEl>
                                          <p:spTgt spid="35"/>
                                        </p:tgtEl>
                                        <p:attrNameLst>
                                          <p:attrName>ppt_h</p:attrName>
                                        </p:attrNameLst>
                                      </p:cBhvr>
                                      <p:tavLst>
                                        <p:tav tm="0">
                                          <p:val>
                                            <p:strVal val="0"/>
                                          </p:val>
                                        </p:tav>
                                        <p:tav tm="100000">
                                          <p:val>
                                            <p:strVal val="#ppt_h"/>
                                          </p:val>
                                        </p:tav>
                                      </p:tavLst>
                                    </p:anim>
                                    <p:animEffect transition="in" filter="fade">
                                      <p:cBhvr>
                                        <p:cTn id="94" dur="700"/>
                                        <p:tgtEl>
                                          <p:spTgt spid="35"/>
                                        </p:tgtEl>
                                      </p:cBhvr>
                                    </p:animEffect>
                                  </p:childTnLst>
                                </p:cTn>
                              </p:par>
                              <p:par>
                                <p:cTn id="100" presetID="53" presetClass="entr" presetSubtype="16" fill="hold" grpId="0" nodeType="withEffect">
                                  <p:stCondLst>
                                    <p:cond delay="1955"/>
                                  </p:stCondLst>
                                  <p:childTnLst>
                                    <p:set>
                                      <p:cBhvr>
                                        <p:cTn id="96" dur="1" fill="hold">
                                          <p:stCondLst>
                                            <p:cond delay="0"/>
                                          </p:stCondLst>
                                        </p:cTn>
                                        <p:tgtEl>
                                          <p:spTgt spid="36"/>
                                        </p:tgtEl>
                                        <p:attrNameLst>
                                          <p:attrName>style.visibility</p:attrName>
                                        </p:attrNameLst>
                                      </p:cBhvr>
                                      <p:to>
                                        <p:strVal val="visible"/>
                                      </p:to>
                                    </p:set>
                                    <p:anim calcmode="lin" valueType="num">
                                      <p:cBhvr>
                                        <p:cTn id="97" dur="700" decel="100000" fill="hold"/>
                                        <p:tgtEl>
                                          <p:spTgt spid="36"/>
                                        </p:tgtEl>
                                        <p:attrNameLst>
                                          <p:attrName>ppt_w</p:attrName>
                                        </p:attrNameLst>
                                      </p:cBhvr>
                                      <p:tavLst>
                                        <p:tav tm="0">
                                          <p:val>
                                            <p:strVal val="0"/>
                                          </p:val>
                                        </p:tav>
                                        <p:tav tm="100000">
                                          <p:val>
                                            <p:strVal val="#ppt_w"/>
                                          </p:val>
                                        </p:tav>
                                      </p:tavLst>
                                    </p:anim>
                                    <p:anim calcmode="lin" valueType="num">
                                      <p:cBhvr>
                                        <p:cTn id="98" dur="700" decel="100000" fill="hold"/>
                                        <p:tgtEl>
                                          <p:spTgt spid="36"/>
                                        </p:tgtEl>
                                        <p:attrNameLst>
                                          <p:attrName>ppt_h</p:attrName>
                                        </p:attrNameLst>
                                      </p:cBhvr>
                                      <p:tavLst>
                                        <p:tav tm="0">
                                          <p:val>
                                            <p:strVal val="0"/>
                                          </p:val>
                                        </p:tav>
                                        <p:tav tm="100000">
                                          <p:val>
                                            <p:strVal val="#ppt_h"/>
                                          </p:val>
                                        </p:tav>
                                      </p:tavLst>
                                    </p:anim>
                                    <p:animEffect transition="in" filter="fade">
                                      <p:cBhvr>
                                        <p:cTn id="99" dur="700"/>
                                        <p:tgtEl>
                                          <p:spTgt spid="36"/>
                                        </p:tgtEl>
                                      </p:cBhvr>
                                    </p:animEffect>
                                  </p:childTnLst>
                                </p:cTn>
                              </p:par>
                              <p:par>
                                <p:cTn id="103" presetID="10" presetClass="entr" presetSubtype="0" fill="hold" grpId="0" nodeType="withEffect">
                                  <p:stCondLst>
                                    <p:cond delay="201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650"/>
                                        <p:tgtEl>
                                          <p:spTgt spid="37"/>
                                        </p:tgtEl>
                                      </p:cBhvr>
                                    </p:animEffect>
                                  </p:childTnLst>
                                </p:cTn>
                              </p:par>
                              <p:par>
                                <p:cTn id="106" presetID="10" presetClass="entr" presetSubtype="0" fill="hold" grpId="0" nodeType="withEffect">
                                  <p:stCondLst>
                                    <p:cond delay="2065"/>
                                  </p:stCondLst>
                                  <p:childTnLst>
                                    <p:set>
                                      <p:cBhvr>
                                        <p:cTn id="104" dur="1" fill="hold">
                                          <p:stCondLst>
                                            <p:cond delay="0"/>
                                          </p:stCondLst>
                                        </p:cTn>
                                        <p:tgtEl>
                                          <p:spTgt spid="39"/>
                                        </p:tgtEl>
                                        <p:attrNameLst>
                                          <p:attrName>style.visibility</p:attrName>
                                        </p:attrNameLst>
                                      </p:cBhvr>
                                      <p:to>
                                        <p:strVal val="visible"/>
                                      </p:to>
                                    </p:set>
                                    <p:animEffect transition="in" filter="fade">
                                      <p:cBhvr>
                                        <p:cTn id="105" dur="650"/>
                                        <p:tgtEl>
                                          <p:spTgt spid="39"/>
                                        </p:tgtEl>
                                      </p:cBhvr>
                                    </p:animEffect>
                                  </p:childTnLst>
                                </p:cTn>
                              </p:par>
                              <p:par>
                                <p:cTn id="109" presetID="10" presetClass="entr" presetSubtype="0" fill="hold" grpId="0" nodeType="withEffect">
                                  <p:stCondLst>
                                    <p:cond delay="212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650"/>
                                        <p:tgtEl>
                                          <p:spTgt spid="41"/>
                                        </p:tgtEl>
                                      </p:cBhvr>
                                    </p:animEffect>
                                  </p:childTnLst>
                                </p:cTn>
                              </p:par>
                              <p:par>
                                <p:cTn id="112" presetID="10" presetClass="entr" presetSubtype="0" fill="hold" grpId="0" nodeType="withEffect">
                                  <p:stCondLst>
                                    <p:cond delay="2175"/>
                                  </p:stCondLst>
                                  <p:childTnLst>
                                    <p:set>
                                      <p:cBhvr>
                                        <p:cTn id="110" dur="1" fill="hold">
                                          <p:stCondLst>
                                            <p:cond delay="0"/>
                                          </p:stCondLst>
                                        </p:cTn>
                                        <p:tgtEl>
                                          <p:spTgt spid="43"/>
                                        </p:tgtEl>
                                        <p:attrNameLst>
                                          <p:attrName>style.visibility</p:attrName>
                                        </p:attrNameLst>
                                      </p:cBhvr>
                                      <p:to>
                                        <p:strVal val="visible"/>
                                      </p:to>
                                    </p:set>
                                    <p:animEffect transition="in" filter="fade">
                                      <p:cBhvr>
                                        <p:cTn id="111" dur="650"/>
                                        <p:tgtEl>
                                          <p:spTgt spid="43"/>
                                        </p:tgtEl>
                                      </p:cBhvr>
                                    </p:animEffect>
                                  </p:childTnLst>
                                </p:cTn>
                              </p:par>
                              <p:par>
                                <p:cTn id="115" presetID="10" presetClass="entr" presetSubtype="0" fill="hold" grpId="0" nodeType="withEffect">
                                  <p:stCondLst>
                                    <p:cond delay="2230"/>
                                  </p:stCondLst>
                                  <p:childTnLst>
                                    <p:set>
                                      <p:cBhvr>
                                        <p:cTn id="113" dur="1" fill="hold">
                                          <p:stCondLst>
                                            <p:cond delay="0"/>
                                          </p:stCondLst>
                                        </p:cTn>
                                        <p:tgtEl>
                                          <p:spTgt spid="21"/>
                                        </p:tgtEl>
                                        <p:attrNameLst>
                                          <p:attrName>style.visibility</p:attrName>
                                        </p:attrNameLst>
                                      </p:cBhvr>
                                      <p:to>
                                        <p:strVal val="visible"/>
                                      </p:to>
                                    </p:set>
                                    <p:animEffect transition="in" filter="fade">
                                      <p:cBhvr>
                                        <p:cTn id="114" dur="650"/>
                                        <p:tgtEl>
                                          <p:spTgt spid="21"/>
                                        </p:tgtEl>
                                      </p:cBhvr>
                                    </p:animEffect>
                                  </p:childTnLst>
                                </p:cTn>
                              </p:par>
                              <p:par>
                                <p:cTn id="118" presetID="10" presetClass="entr" presetSubtype="0" fill="hold" grpId="0" nodeType="withEffect">
                                  <p:stCondLst>
                                    <p:cond delay="2285"/>
                                  </p:stCondLst>
                                  <p:childTnLst>
                                    <p:set>
                                      <p:cBhvr>
                                        <p:cTn id="116" dur="1" fill="hold">
                                          <p:stCondLst>
                                            <p:cond delay="0"/>
                                          </p:stCondLst>
                                        </p:cTn>
                                        <p:tgtEl>
                                          <p:spTgt spid="22"/>
                                        </p:tgtEl>
                                        <p:attrNameLst>
                                          <p:attrName>style.visibility</p:attrName>
                                        </p:attrNameLst>
                                      </p:cBhvr>
                                      <p:to>
                                        <p:strVal val="visible"/>
                                      </p:to>
                                    </p:set>
                                    <p:animEffect transition="in" filter="fade">
                                      <p:cBhvr>
                                        <p:cTn id="117" dur="650"/>
                                        <p:tgtEl>
                                          <p:spTgt spid="22"/>
                                        </p:tgtEl>
                                      </p:cBhvr>
                                    </p:animEffect>
                                  </p:childTnLst>
                                </p:cTn>
                              </p:par>
                              <p:par>
                                <p:cTn id="121" presetID="10" presetClass="entr" presetSubtype="0" fill="hold" grpId="0" nodeType="withEffect">
                                  <p:stCondLst>
                                    <p:cond delay="234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650"/>
                                        <p:tgtEl>
                                          <p:spTgt spid="25"/>
                                        </p:tgtEl>
                                      </p:cBhvr>
                                    </p:animEffect>
                                  </p:childTnLst>
                                </p:cTn>
                              </p:par>
                              <p:par>
                                <p:cTn id="124" presetID="10" presetClass="entr" presetSubtype="0" fill="hold" grpId="0" nodeType="withEffect">
                                  <p:stCondLst>
                                    <p:cond delay="2395"/>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650"/>
                                        <p:tgtEl>
                                          <p:spTgt spid="26"/>
                                        </p:tgtEl>
                                      </p:cBhvr>
                                    </p:animEffect>
                                  </p:childTnLst>
                                </p:cTn>
                              </p:par>
                              <p:par>
                                <p:cTn id="127" presetID="10" presetClass="entr" presetSubtype="0" fill="hold" grpId="0" nodeType="withEffect">
                                  <p:stCondLst>
                                    <p:cond delay="2450"/>
                                  </p:stCondLst>
                                  <p:childTnLst>
                                    <p:set>
                                      <p:cBhvr>
                                        <p:cTn id="125" dur="1" fill="hold">
                                          <p:stCondLst>
                                            <p:cond delay="0"/>
                                          </p:stCondLst>
                                        </p:cTn>
                                        <p:tgtEl>
                                          <p:spTgt spid="29"/>
                                        </p:tgtEl>
                                        <p:attrNameLst>
                                          <p:attrName>style.visibility</p:attrName>
                                        </p:attrNameLst>
                                      </p:cBhvr>
                                      <p:to>
                                        <p:strVal val="visible"/>
                                      </p:to>
                                    </p:set>
                                    <p:animEffect transition="in" filter="fade">
                                      <p:cBhvr>
                                        <p:cTn id="126" dur="650"/>
                                        <p:tgtEl>
                                          <p:spTgt spid="29"/>
                                        </p:tgtEl>
                                      </p:cBhvr>
                                    </p:animEffect>
                                  </p:childTnLst>
                                </p:cTn>
                              </p:par>
                              <p:par>
                                <p:cTn id="130" presetID="10" presetClass="entr" presetSubtype="0" fill="hold" grpId="0" nodeType="withEffect">
                                  <p:stCondLst>
                                    <p:cond delay="2505"/>
                                  </p:stCondLst>
                                  <p:childTnLst>
                                    <p:set>
                                      <p:cBhvr>
                                        <p:cTn id="128" dur="1" fill="hold">
                                          <p:stCondLst>
                                            <p:cond delay="0"/>
                                          </p:stCondLst>
                                        </p:cTn>
                                        <p:tgtEl>
                                          <p:spTgt spid="30"/>
                                        </p:tgtEl>
                                        <p:attrNameLst>
                                          <p:attrName>style.visibility</p:attrName>
                                        </p:attrNameLst>
                                      </p:cBhvr>
                                      <p:to>
                                        <p:strVal val="visible"/>
                                      </p:to>
                                    </p:set>
                                    <p:animEffect transition="in" filter="fade">
                                      <p:cBhvr>
                                        <p:cTn id="129" dur="650"/>
                                        <p:tgtEl>
                                          <p:spTgt spid="30"/>
                                        </p:tgtEl>
                                      </p:cBhvr>
                                    </p:animEffect>
                                  </p:childTnLst>
                                </p:cTn>
                              </p:par>
                              <p:par>
                                <p:cTn id="133" presetID="10" presetClass="entr" presetSubtype="0" fill="hold" grpId="0" nodeType="withEffect">
                                  <p:stCondLst>
                                    <p:cond delay="256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50"/>
                                        <p:tgtEl>
                                          <p:spTgt spid="33"/>
                                        </p:tgtEl>
                                      </p:cBhvr>
                                    </p:animEffect>
                                  </p:childTnLst>
                                </p:cTn>
                              </p:par>
                              <p:par>
                                <p:cTn id="136" presetID="10" presetClass="entr" presetSubtype="0" fill="hold" grpId="0" nodeType="withEffect">
                                  <p:stCondLst>
                                    <p:cond delay="2615"/>
                                  </p:stCondLst>
                                  <p:childTnLst>
                                    <p:set>
                                      <p:cBhvr>
                                        <p:cTn id="134" dur="1" fill="hold">
                                          <p:stCondLst>
                                            <p:cond delay="0"/>
                                          </p:stCondLst>
                                        </p:cTn>
                                        <p:tgtEl>
                                          <p:spTgt spid="34"/>
                                        </p:tgtEl>
                                        <p:attrNameLst>
                                          <p:attrName>style.visibility</p:attrName>
                                        </p:attrNameLst>
                                      </p:cBhvr>
                                      <p:to>
                                        <p:strVal val="visible"/>
                                      </p:to>
                                    </p:set>
                                    <p:animEffect transition="in" filter="fade">
                                      <p:cBhvr>
                                        <p:cTn id="135" dur="650"/>
                                        <p:tgtEl>
                                          <p:spTgt spid="34"/>
                                        </p:tgtEl>
                                      </p:cBhvr>
                                    </p:animEffect>
                                  </p:childTnLst>
                                </p:cTn>
                              </p:par>
                              <p:par>
                                <p:cTn id="139" presetID="10" presetClass="entr" presetSubtype="0" fill="hold" grpId="0" nodeType="withEffect">
                                  <p:stCondLst>
                                    <p:cond delay="2670"/>
                                  </p:stCondLst>
                                  <p:childTnLst>
                                    <p:set>
                                      <p:cBhvr>
                                        <p:cTn id="137" dur="1" fill="hold">
                                          <p:stCondLst>
                                            <p:cond delay="0"/>
                                          </p:stCondLst>
                                        </p:cTn>
                                        <p:tgtEl>
                                          <p:spTgt spid="38"/>
                                        </p:tgtEl>
                                        <p:attrNameLst>
                                          <p:attrName>style.visibility</p:attrName>
                                        </p:attrNameLst>
                                      </p:cBhvr>
                                      <p:to>
                                        <p:strVal val="visible"/>
                                      </p:to>
                                    </p:set>
                                    <p:animEffect transition="in" filter="fade">
                                      <p:cBhvr>
                                        <p:cTn id="138" dur="650"/>
                                        <p:tgtEl>
                                          <p:spTgt spid="38"/>
                                        </p:tgtEl>
                                      </p:cBhvr>
                                    </p:animEffect>
                                  </p:childTnLst>
                                </p:cTn>
                              </p:par>
                              <p:par>
                                <p:cTn id="142" presetID="10" presetClass="entr" presetSubtype="0" fill="hold" grpId="0" nodeType="withEffect">
                                  <p:stCondLst>
                                    <p:cond delay="2725"/>
                                  </p:stCondLst>
                                  <p:childTnLst>
                                    <p:set>
                                      <p:cBhvr>
                                        <p:cTn id="140" dur="1" fill="hold">
                                          <p:stCondLst>
                                            <p:cond delay="0"/>
                                          </p:stCondLst>
                                        </p:cTn>
                                        <p:tgtEl>
                                          <p:spTgt spid="40"/>
                                        </p:tgtEl>
                                        <p:attrNameLst>
                                          <p:attrName>style.visibility</p:attrName>
                                        </p:attrNameLst>
                                      </p:cBhvr>
                                      <p:to>
                                        <p:strVal val="visible"/>
                                      </p:to>
                                    </p:set>
                                    <p:animEffect transition="in" filter="fade">
                                      <p:cBhvr>
                                        <p:cTn id="141" dur="650"/>
                                        <p:tgtEl>
                                          <p:spTgt spid="40"/>
                                        </p:tgtEl>
                                      </p:cBhvr>
                                    </p:animEffect>
                                  </p:childTnLst>
                                </p:cTn>
                              </p:par>
                              <p:par>
                                <p:cTn id="145" presetID="10" presetClass="entr" presetSubtype="0" fill="hold" grpId="0" nodeType="withEffect">
                                  <p:stCondLst>
                                    <p:cond delay="2780"/>
                                  </p:stCondLst>
                                  <p:childTnLst>
                                    <p:set>
                                      <p:cBhvr>
                                        <p:cTn id="143" dur="1" fill="hold">
                                          <p:stCondLst>
                                            <p:cond delay="0"/>
                                          </p:stCondLst>
                                        </p:cTn>
                                        <p:tgtEl>
                                          <p:spTgt spid="42"/>
                                        </p:tgtEl>
                                        <p:attrNameLst>
                                          <p:attrName>style.visibility</p:attrName>
                                        </p:attrNameLst>
                                      </p:cBhvr>
                                      <p:to>
                                        <p:strVal val="visible"/>
                                      </p:to>
                                    </p:set>
                                    <p:animEffect transition="in" filter="fade">
                                      <p:cBhvr>
                                        <p:cTn id="144" dur="650"/>
                                        <p:tgtEl>
                                          <p:spTgt spid="42"/>
                                        </p:tgtEl>
                                      </p:cBhvr>
                                    </p:animEffect>
                                  </p:childTnLst>
                                </p:cTn>
                              </p:par>
                              <p:par>
                                <p:cTn id="148" presetID="10" presetClass="entr" presetSubtype="0" fill="hold" grpId="0" nodeType="withEffect">
                                  <p:stCondLst>
                                    <p:cond delay="2835"/>
                                  </p:stCondLst>
                                  <p:childTnLst>
                                    <p:set>
                                      <p:cBhvr>
                                        <p:cTn id="146" dur="1" fill="hold">
                                          <p:stCondLst>
                                            <p:cond delay="0"/>
                                          </p:stCondLst>
                                        </p:cTn>
                                        <p:tgtEl>
                                          <p:spTgt spid="44"/>
                                        </p:tgtEl>
                                        <p:attrNameLst>
                                          <p:attrName>style.visibility</p:attrName>
                                        </p:attrNameLst>
                                      </p:cBhvr>
                                      <p:to>
                                        <p:strVal val="visible"/>
                                      </p:to>
                                    </p:set>
                                    <p:animEffect transition="in" filter="fade">
                                      <p:cBhvr>
                                        <p:cTn id="147" dur="650"/>
                                        <p:tgtEl>
                                          <p:spTgt spid="44"/>
                                        </p:tgtEl>
                                      </p:cBhvr>
                                    </p:animEffect>
                                  </p:childTnLst>
                                </p:cTn>
                              </p:par>
                              <p:par>
                                <p:cTn id="151" presetID="10" presetClass="entr" presetSubtype="0" fill="hold" grpId="0" nodeType="withEffect">
                                  <p:stCondLst>
                                    <p:cond delay="2560"/>
                                  </p:stCondLst>
                                  <p:childTnLst>
                                    <p:set>
                                      <p:cBhvr>
                                        <p:cTn id="149" dur="1" fill="hold">
                                          <p:stCondLst>
                                            <p:cond delay="0"/>
                                          </p:stCondLst>
                                        </p:cTn>
                                        <p:tgtEl>
                                          <p:spTgt spid="45"/>
                                        </p:tgtEl>
                                        <p:attrNameLst>
                                          <p:attrName>style.visibility</p:attrName>
                                        </p:attrNameLst>
                                      </p:cBhvr>
                                      <p:to>
                                        <p:strVal val="visible"/>
                                      </p:to>
                                    </p:set>
                                    <p:animEffect transition="in" filter="fade">
                                      <p:cBhvr>
                                        <p:cTn id="150" dur="6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6583680" y="365760"/>
            <a:ext cx="6217920" cy="6217920"/>
          </a:xfrm>
          <a:prstGeom prst="rect">
            <a:avLst/>
          </a:prstGeom>
        </p:spPr>
      </p:pic>
      <p:pic>
        <p:nvPicPr>
          <p:cNvPr id="3" name="!!logo" descr="media/logo.png">    </p:cNvPr>
          <p:cNvPicPr>
            <a:picLocks noChangeAspect="1"/>
          </p:cNvPicPr>
          <p:nvPr/>
        </p:nvPicPr>
        <p:blipFill>
          <a:blip r:embed="rId2"/>
          <a:stretch>
            <a:fillRect/>
          </a:stretch>
        </p:blipFill>
        <p:spPr>
          <a:xfrm>
            <a:off x="10149840" y="1572768"/>
            <a:ext cx="1097280" cy="1097280"/>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THE INSIGHT</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Don't trust the model. Enforce at the boundary</a:t>
            </a:r>
            <a:endParaRPr lang="en-US" sz="3400" dirty="0"/>
          </a:p>
        </p:txBody>
      </p:sp>
      <p:sp>
        <p:nvSpPr>
          <p:cNvPr id="6" name="anim-1-fade-lead"/>
          <p:cNvSpPr txBox="1"/>
          <p:nvPr/>
        </p:nvSpPr>
        <p:spPr>
          <a:xfrm>
            <a:off x="548640" y="1691640"/>
            <a:ext cx="9144000" cy="822960"/>
          </a:xfrm>
          <a:prstGeom prst="rect">
            <a:avLst/>
          </a:prstGeom>
          <a:noFill/>
          <a:ln/>
        </p:spPr>
        <p:txBody>
          <a:bodyPr wrap="square" lIns="0" tIns="0" rIns="0" bIns="0" rtlCol="0" anchor="t"/>
          <a:lstStyle/>
          <a:p>
            <a:pPr indent="0" marL="0">
              <a:buNone/>
            </a:pPr>
            <a:r>
              <a:rPr lang="en-US" sz="1800" dirty="0">
                <a:solidFill>
                  <a:srgbClr val="CDC7BB"/>
                </a:solidFill>
              </a:rPr>
              <a:t>Consentry sits between your agent and everything it talks to (tools, partners, MCP servers, even the LLM) and decides what leaves, field by field.</a:t>
            </a:r>
            <a:endParaRPr lang="en-US" sz="1800" dirty="0"/>
          </a:p>
        </p:txBody>
      </p:sp>
      <p:sp>
        <p:nvSpPr>
          <p:cNvPr id="7" name="anim-2-rise-cl"/>
          <p:cNvSpPr/>
          <p:nvPr/>
        </p:nvSpPr>
        <p:spPr>
          <a:xfrm>
            <a:off x="548640" y="2743200"/>
            <a:ext cx="5120640" cy="3246120"/>
          </a:xfrm>
          <a:prstGeom prst="roundRect">
            <a:avLst>
              <a:gd name="adj" fmla="val 3944"/>
            </a:avLst>
          </a:prstGeom>
          <a:solidFill>
            <a:srgbClr val="1A1B17">
              <a:alpha val="92000"/>
            </a:srgbClr>
          </a:solidFill>
          <a:ln w="12700">
            <a:solidFill>
              <a:srgbClr val="33342E"/>
            </a:solidFill>
            <a:prstDash val="solid"/>
          </a:ln>
        </p:spPr>
      </p:sp>
      <p:sp>
        <p:nvSpPr>
          <p:cNvPr id="8" name="anim-2-rise-tl"/>
          <p:cNvSpPr txBox="1"/>
          <p:nvPr/>
        </p:nvSpPr>
        <p:spPr>
          <a:xfrm>
            <a:off x="868680" y="2971800"/>
            <a:ext cx="2743200" cy="320040"/>
          </a:xfrm>
          <a:prstGeom prst="rect">
            <a:avLst/>
          </a:prstGeom>
          <a:noFill/>
          <a:ln/>
        </p:spPr>
        <p:txBody>
          <a:bodyPr wrap="square" lIns="0" tIns="0" rIns="0" bIns="0" rtlCol="0" anchor="ctr"/>
          <a:lstStyle/>
          <a:p>
            <a:pPr indent="0" marL="0">
              <a:buNone/>
            </a:pPr>
            <a:r>
              <a:rPr lang="en-US" sz="1300" b="1" spc="300" kern="0" dirty="0">
                <a:solidFill>
                  <a:srgbClr val="FB7185"/>
                </a:solidFill>
              </a:rPr>
              <a:t>TODAY</a:t>
            </a:r>
            <a:endParaRPr lang="en-US" sz="1300" dirty="0"/>
          </a:p>
        </p:txBody>
      </p:sp>
      <p:sp>
        <p:nvSpPr>
          <p:cNvPr id="9" name="anim-2-rise-l0"/>
          <p:cNvSpPr txBox="1"/>
          <p:nvPr/>
        </p:nvSpPr>
        <p:spPr>
          <a:xfrm>
            <a:off x="868680" y="3474720"/>
            <a:ext cx="4663440" cy="411480"/>
          </a:xfrm>
          <a:prstGeom prst="rect">
            <a:avLst/>
          </a:prstGeom>
          <a:noFill/>
          <a:ln/>
        </p:spPr>
        <p:txBody>
          <a:bodyPr wrap="square" lIns="0" tIns="0" rIns="0" bIns="0" rtlCol="0" anchor="ctr"/>
          <a:lstStyle/>
          <a:p>
            <a:pPr indent="0" marL="0">
              <a:buNone/>
            </a:pPr>
            <a:r>
              <a:rPr lang="en-US" sz="1600" dirty="0">
                <a:solidFill>
                  <a:srgbClr val="CDC7BB"/>
                </a:solidFill>
              </a:rPr>
              <a:t>✕   Agent sees your raw data</a:t>
            </a:r>
            <a:endParaRPr lang="en-US" sz="1600" dirty="0"/>
          </a:p>
        </p:txBody>
      </p:sp>
      <p:sp>
        <p:nvSpPr>
          <p:cNvPr id="10" name="anim-2-rise-l1"/>
          <p:cNvSpPr txBox="1"/>
          <p:nvPr/>
        </p:nvSpPr>
        <p:spPr>
          <a:xfrm>
            <a:off x="868680" y="4041648"/>
            <a:ext cx="4663440" cy="411480"/>
          </a:xfrm>
          <a:prstGeom prst="rect">
            <a:avLst/>
          </a:prstGeom>
          <a:noFill/>
          <a:ln/>
        </p:spPr>
        <p:txBody>
          <a:bodyPr wrap="square" lIns="0" tIns="0" rIns="0" bIns="0" rtlCol="0" anchor="ctr"/>
          <a:lstStyle/>
          <a:p>
            <a:pPr indent="0" marL="0">
              <a:buNone/>
            </a:pPr>
            <a:r>
              <a:rPr lang="en-US" sz="1600" dirty="0">
                <a:solidFill>
                  <a:srgbClr val="CDC7BB"/>
                </a:solidFill>
              </a:rPr>
              <a:t>✕   Every tool gets everything</a:t>
            </a:r>
            <a:endParaRPr lang="en-US" sz="1600" dirty="0"/>
          </a:p>
        </p:txBody>
      </p:sp>
      <p:sp>
        <p:nvSpPr>
          <p:cNvPr id="11" name="anim-2-rise-l2"/>
          <p:cNvSpPr txBox="1"/>
          <p:nvPr/>
        </p:nvSpPr>
        <p:spPr>
          <a:xfrm>
            <a:off x="868680" y="4608576"/>
            <a:ext cx="4663440" cy="411480"/>
          </a:xfrm>
          <a:prstGeom prst="rect">
            <a:avLst/>
          </a:prstGeom>
          <a:noFill/>
          <a:ln/>
        </p:spPr>
        <p:txBody>
          <a:bodyPr wrap="square" lIns="0" tIns="0" rIns="0" bIns="0" rtlCol="0" anchor="ctr"/>
          <a:lstStyle/>
          <a:p>
            <a:pPr indent="0" marL="0">
              <a:buNone/>
            </a:pPr>
            <a:r>
              <a:rPr lang="en-US" sz="1600" dirty="0">
                <a:solidFill>
                  <a:srgbClr val="CDC7BB"/>
                </a:solidFill>
              </a:rPr>
              <a:t>✕   Consent is a banner</a:t>
            </a:r>
            <a:endParaRPr lang="en-US" sz="1600" dirty="0"/>
          </a:p>
        </p:txBody>
      </p:sp>
      <p:sp>
        <p:nvSpPr>
          <p:cNvPr id="12" name="anim-2-rise-l3"/>
          <p:cNvSpPr txBox="1"/>
          <p:nvPr/>
        </p:nvSpPr>
        <p:spPr>
          <a:xfrm>
            <a:off x="868680" y="5175504"/>
            <a:ext cx="4663440" cy="411480"/>
          </a:xfrm>
          <a:prstGeom prst="rect">
            <a:avLst/>
          </a:prstGeom>
          <a:noFill/>
          <a:ln/>
        </p:spPr>
        <p:txBody>
          <a:bodyPr wrap="square" lIns="0" tIns="0" rIns="0" bIns="0" rtlCol="0" anchor="ctr"/>
          <a:lstStyle/>
          <a:p>
            <a:pPr indent="0" marL="0">
              <a:buNone/>
            </a:pPr>
            <a:r>
              <a:rPr lang="en-US" sz="1600" dirty="0">
                <a:solidFill>
                  <a:srgbClr val="CDC7BB"/>
                </a:solidFill>
              </a:rPr>
              <a:t>✕   Logs you have to trust</a:t>
            </a:r>
            <a:endParaRPr lang="en-US" sz="1600" dirty="0"/>
          </a:p>
        </p:txBody>
      </p:sp>
      <p:sp>
        <p:nvSpPr>
          <p:cNvPr id="13" name="anim-3-rise-cr"/>
          <p:cNvSpPr/>
          <p:nvPr/>
        </p:nvSpPr>
        <p:spPr>
          <a:xfrm>
            <a:off x="5989320" y="2743200"/>
            <a:ext cx="5669280" cy="3246120"/>
          </a:xfrm>
          <a:prstGeom prst="roundRect">
            <a:avLst>
              <a:gd name="adj" fmla="val 3944"/>
            </a:avLst>
          </a:prstGeom>
          <a:solidFill>
            <a:srgbClr val="241A12">
              <a:alpha val="92000"/>
            </a:srgbClr>
          </a:solidFill>
          <a:ln w="12700">
            <a:solidFill>
              <a:srgbClr val="EFA56F"/>
            </a:solidFill>
            <a:prstDash val="solid"/>
          </a:ln>
        </p:spPr>
      </p:sp>
      <p:sp>
        <p:nvSpPr>
          <p:cNvPr id="14" name="anim-3-rise-tr"/>
          <p:cNvSpPr txBox="1"/>
          <p:nvPr/>
        </p:nvSpPr>
        <p:spPr>
          <a:xfrm>
            <a:off x="6309360" y="2971800"/>
            <a:ext cx="3657600" cy="320040"/>
          </a:xfrm>
          <a:prstGeom prst="rect">
            <a:avLst/>
          </a:prstGeom>
          <a:noFill/>
          <a:ln/>
        </p:spPr>
        <p:txBody>
          <a:bodyPr wrap="square" lIns="0" tIns="0" rIns="0" bIns="0" rtlCol="0" anchor="ctr"/>
          <a:lstStyle/>
          <a:p>
            <a:pPr indent="0" marL="0">
              <a:buNone/>
            </a:pPr>
            <a:r>
              <a:rPr lang="en-US" sz="1300" b="1" spc="300" kern="0" dirty="0">
                <a:solidFill>
                  <a:srgbClr val="EFA56F"/>
                </a:solidFill>
              </a:rPr>
              <a:t>WITH CONSENTRY</a:t>
            </a:r>
            <a:endParaRPr lang="en-US" sz="1300" dirty="0"/>
          </a:p>
        </p:txBody>
      </p:sp>
      <p:sp>
        <p:nvSpPr>
          <p:cNvPr id="15" name="anim-3-rise-r0"/>
          <p:cNvSpPr txBox="1"/>
          <p:nvPr/>
        </p:nvSpPr>
        <p:spPr>
          <a:xfrm>
            <a:off x="6309360" y="3474720"/>
            <a:ext cx="5212080" cy="411480"/>
          </a:xfrm>
          <a:prstGeom prst="rect">
            <a:avLst/>
          </a:prstGeom>
          <a:noFill/>
          <a:ln/>
        </p:spPr>
        <p:txBody>
          <a:bodyPr wrap="square" lIns="0" tIns="0" rIns="0" bIns="0" rtlCol="0" anchor="ctr"/>
          <a:lstStyle/>
          <a:p>
            <a:pPr indent="0" marL="0">
              <a:buNone/>
            </a:pPr>
            <a:r>
              <a:rPr lang="en-US" sz="1600" b="1" dirty="0">
                <a:solidFill>
                  <a:srgbClr val="FFFFFF"/>
                </a:solidFill>
              </a:rPr>
              <a:t>✓   Agent sees only vault tokens</a:t>
            </a:r>
            <a:endParaRPr lang="en-US" sz="1600" dirty="0"/>
          </a:p>
        </p:txBody>
      </p:sp>
      <p:sp>
        <p:nvSpPr>
          <p:cNvPr id="16" name="anim-3-rise-r1"/>
          <p:cNvSpPr txBox="1"/>
          <p:nvPr/>
        </p:nvSpPr>
        <p:spPr>
          <a:xfrm>
            <a:off x="6309360" y="4041648"/>
            <a:ext cx="5212080" cy="411480"/>
          </a:xfrm>
          <a:prstGeom prst="rect">
            <a:avLst/>
          </a:prstGeom>
          <a:noFill/>
          <a:ln/>
        </p:spPr>
        <p:txBody>
          <a:bodyPr wrap="square" lIns="0" tIns="0" rIns="0" bIns="0" rtlCol="0" anchor="ctr"/>
          <a:lstStyle/>
          <a:p>
            <a:pPr indent="0" marL="0">
              <a:buNone/>
            </a:pPr>
            <a:r>
              <a:rPr lang="en-US" sz="1600" b="1" dirty="0">
                <a:solidFill>
                  <a:srgbClr val="FFFFFF"/>
                </a:solidFill>
              </a:rPr>
              <a:t>✓   Each field judged per recipient &amp; purpose</a:t>
            </a:r>
            <a:endParaRPr lang="en-US" sz="1600" dirty="0"/>
          </a:p>
        </p:txBody>
      </p:sp>
      <p:sp>
        <p:nvSpPr>
          <p:cNvPr id="17" name="anim-3-rise-r2"/>
          <p:cNvSpPr txBox="1"/>
          <p:nvPr/>
        </p:nvSpPr>
        <p:spPr>
          <a:xfrm>
            <a:off x="6309360" y="4608576"/>
            <a:ext cx="5212080" cy="411480"/>
          </a:xfrm>
          <a:prstGeom prst="rect">
            <a:avLst/>
          </a:prstGeom>
          <a:noFill/>
          <a:ln/>
        </p:spPr>
        <p:txBody>
          <a:bodyPr wrap="square" lIns="0" tIns="0" rIns="0" bIns="0" rtlCol="0" anchor="ctr"/>
          <a:lstStyle/>
          <a:p>
            <a:pPr indent="0" marL="0">
              <a:buNone/>
            </a:pPr>
            <a:r>
              <a:rPr lang="en-US" sz="1600" b="1" dirty="0">
                <a:solidFill>
                  <a:srgbClr val="FFFFFF"/>
                </a:solidFill>
              </a:rPr>
              <a:t>✓   Consent in-flow, minimized by default</a:t>
            </a:r>
            <a:endParaRPr lang="en-US" sz="1600" dirty="0"/>
          </a:p>
        </p:txBody>
      </p:sp>
      <p:sp>
        <p:nvSpPr>
          <p:cNvPr id="18" name="anim-3-rise-r3"/>
          <p:cNvSpPr txBox="1"/>
          <p:nvPr/>
        </p:nvSpPr>
        <p:spPr>
          <a:xfrm>
            <a:off x="6309360" y="5175504"/>
            <a:ext cx="5212080" cy="411480"/>
          </a:xfrm>
          <a:prstGeom prst="rect">
            <a:avLst/>
          </a:prstGeom>
          <a:noFill/>
          <a:ln/>
        </p:spPr>
        <p:txBody>
          <a:bodyPr wrap="square" lIns="0" tIns="0" rIns="0" bIns="0" rtlCol="0" anchor="ctr"/>
          <a:lstStyle/>
          <a:p>
            <a:pPr indent="0" marL="0">
              <a:buNone/>
            </a:pPr>
            <a:r>
              <a:rPr lang="en-US" sz="1600" b="1" dirty="0">
                <a:solidFill>
                  <a:srgbClr val="FFFFFF"/>
                </a:solidFill>
              </a:rPr>
              <a:t>✓   SHA-256 hash-chained receipts</a:t>
            </a:r>
            <a:endParaRPr lang="en-US" sz="16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7" fill="hold">
                            <p:stCondLst>
                              <p:cond delay="0"/>
                            </p:stCondLst>
                            <p:childTnLst>
                              <p:par>
                                <p:cTn id="6" presetID="10" presetClass="entr" presetSubtype="0"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650"/>
                                        <p:tgtEl>
                                          <p:spTgt spid="6"/>
                                        </p:tgtEl>
                                      </p:cBhvr>
                                    </p:animEffect>
                                  </p:childTnLst>
                                </p:cTn>
                              </p:par>
                              <p:par>
                                <p:cTn id="11" presetID="42" presetClass="entr" presetSubtype="0" fill="hold" grpId="0" nodeType="withEffect">
                                  <p:stCondLst>
                                    <p:cond delay="58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750"/>
                                        <p:tgtEl>
                                          <p:spTgt spid="7"/>
                                        </p:tgtEl>
                                      </p:cBhvr>
                                    </p:animEffect>
                                    <p:anim calcmode="lin" valueType="num">
                                      <p:cBhvr>
                                        <p:cTn id="9" dur="750" fill="hold"/>
                                        <p:tgtEl>
                                          <p:spTgt spid="7"/>
                                        </p:tgtEl>
                                        <p:attrNameLst>
                                          <p:attrName>ppt_x</p:attrName>
                                        </p:attrNameLst>
                                      </p:cBhvr>
                                      <p:tavLst>
                                        <p:tav tm="0">
                                          <p:val>
                                            <p:strVal val="#ppt_x"/>
                                          </p:val>
                                        </p:tav>
                                        <p:tav tm="100000">
                                          <p:val>
                                            <p:strVal val="#ppt_x"/>
                                          </p:val>
                                        </p:tav>
                                      </p:tavLst>
                                    </p:anim>
                                    <p:anim calcmode="lin" valueType="num">
                                      <p:cBhvr>
                                        <p:cTn id="10" dur="750" decel="100000" fill="hold"/>
                                        <p:tgtEl>
                                          <p:spTgt spid="7"/>
                                        </p:tgtEl>
                                        <p:attrNameLst>
                                          <p:attrName>ppt_y</p:attrName>
                                        </p:attrNameLst>
                                      </p:cBhvr>
                                      <p:tavLst>
                                        <p:tav tm="0">
                                          <p:val>
                                            <p:strVal val="#ppt_y+.06"/>
                                          </p:val>
                                        </p:tav>
                                        <p:tav tm="100000">
                                          <p:val>
                                            <p:strVal val="#ppt_y"/>
                                          </p:val>
                                        </p:tav>
                                      </p:tavLst>
                                    </p:anim>
                                  </p:childTnLst>
                                </p:cTn>
                              </p:par>
                              <p:par>
                                <p:cTn id="16" presetID="42" presetClass="entr" presetSubtype="0" fill="hold" grpId="0" nodeType="withEffect">
                                  <p:stCondLst>
                                    <p:cond delay="635"/>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750"/>
                                        <p:tgtEl>
                                          <p:spTgt spid="8"/>
                                        </p:tgtEl>
                                      </p:cBhvr>
                                    </p:animEffect>
                                    <p:anim calcmode="lin" valueType="num">
                                      <p:cBhvr>
                                        <p:cTn id="14" dur="750" fill="hold"/>
                                        <p:tgtEl>
                                          <p:spTgt spid="8"/>
                                        </p:tgtEl>
                                        <p:attrNameLst>
                                          <p:attrName>ppt_x</p:attrName>
                                        </p:attrNameLst>
                                      </p:cBhvr>
                                      <p:tavLst>
                                        <p:tav tm="0">
                                          <p:val>
                                            <p:strVal val="#ppt_x"/>
                                          </p:val>
                                        </p:tav>
                                        <p:tav tm="100000">
                                          <p:val>
                                            <p:strVal val="#ppt_x"/>
                                          </p:val>
                                        </p:tav>
                                      </p:tavLst>
                                    </p:anim>
                                    <p:anim calcmode="lin" valueType="num">
                                      <p:cBhvr>
                                        <p:cTn id="15" dur="750" decel="100000" fill="hold"/>
                                        <p:tgtEl>
                                          <p:spTgt spid="8"/>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69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50"/>
                                        <p:tgtEl>
                                          <p:spTgt spid="9"/>
                                        </p:tgtEl>
                                      </p:cBhvr>
                                    </p:animEffect>
                                    <p:anim calcmode="lin" valueType="num">
                                      <p:cBhvr>
                                        <p:cTn id="19" dur="750" fill="hold"/>
                                        <p:tgtEl>
                                          <p:spTgt spid="9"/>
                                        </p:tgtEl>
                                        <p:attrNameLst>
                                          <p:attrName>ppt_x</p:attrName>
                                        </p:attrNameLst>
                                      </p:cBhvr>
                                      <p:tavLst>
                                        <p:tav tm="0">
                                          <p:val>
                                            <p:strVal val="#ppt_x"/>
                                          </p:val>
                                        </p:tav>
                                        <p:tav tm="100000">
                                          <p:val>
                                            <p:strVal val="#ppt_x"/>
                                          </p:val>
                                        </p:tav>
                                      </p:tavLst>
                                    </p:anim>
                                    <p:anim calcmode="lin" valueType="num">
                                      <p:cBhvr>
                                        <p:cTn id="20" dur="750" decel="10000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745"/>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750"/>
                                        <p:tgtEl>
                                          <p:spTgt spid="10"/>
                                        </p:tgtEl>
                                      </p:cBhvr>
                                    </p:animEffect>
                                    <p:anim calcmode="lin" valueType="num">
                                      <p:cBhvr>
                                        <p:cTn id="24" dur="750" fill="hold"/>
                                        <p:tgtEl>
                                          <p:spTgt spid="10"/>
                                        </p:tgtEl>
                                        <p:attrNameLst>
                                          <p:attrName>ppt_x</p:attrName>
                                        </p:attrNameLst>
                                      </p:cBhvr>
                                      <p:tavLst>
                                        <p:tav tm="0">
                                          <p:val>
                                            <p:strVal val="#ppt_x"/>
                                          </p:val>
                                        </p:tav>
                                        <p:tav tm="100000">
                                          <p:val>
                                            <p:strVal val="#ppt_x"/>
                                          </p:val>
                                        </p:tav>
                                      </p:tavLst>
                                    </p:anim>
                                    <p:anim calcmode="lin" valueType="num">
                                      <p:cBhvr>
                                        <p:cTn id="25" dur="750" decel="100000" fill="hold"/>
                                        <p:tgtEl>
                                          <p:spTgt spid="10"/>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8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750"/>
                                        <p:tgtEl>
                                          <p:spTgt spid="11"/>
                                        </p:tgtEl>
                                      </p:cBhvr>
                                    </p:animEffect>
                                    <p:anim calcmode="lin" valueType="num">
                                      <p:cBhvr>
                                        <p:cTn id="29" dur="750" fill="hold"/>
                                        <p:tgtEl>
                                          <p:spTgt spid="11"/>
                                        </p:tgtEl>
                                        <p:attrNameLst>
                                          <p:attrName>ppt_x</p:attrName>
                                        </p:attrNameLst>
                                      </p:cBhvr>
                                      <p:tavLst>
                                        <p:tav tm="0">
                                          <p:val>
                                            <p:strVal val="#ppt_x"/>
                                          </p:val>
                                        </p:tav>
                                        <p:tav tm="100000">
                                          <p:val>
                                            <p:strVal val="#ppt_x"/>
                                          </p:val>
                                        </p:tav>
                                      </p:tavLst>
                                    </p:anim>
                                    <p:anim calcmode="lin" valueType="num">
                                      <p:cBhvr>
                                        <p:cTn id="30" dur="750" decel="10000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855"/>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750"/>
                                        <p:tgtEl>
                                          <p:spTgt spid="12"/>
                                        </p:tgtEl>
                                      </p:cBhvr>
                                    </p:animEffect>
                                    <p:anim calcmode="lin" valueType="num">
                                      <p:cBhvr>
                                        <p:cTn id="34" dur="750" fill="hold"/>
                                        <p:tgtEl>
                                          <p:spTgt spid="12"/>
                                        </p:tgtEl>
                                        <p:attrNameLst>
                                          <p:attrName>ppt_x</p:attrName>
                                        </p:attrNameLst>
                                      </p:cBhvr>
                                      <p:tavLst>
                                        <p:tav tm="0">
                                          <p:val>
                                            <p:strVal val="#ppt_x"/>
                                          </p:val>
                                        </p:tav>
                                        <p:tav tm="100000">
                                          <p:val>
                                            <p:strVal val="#ppt_x"/>
                                          </p:val>
                                        </p:tav>
                                      </p:tavLst>
                                    </p:anim>
                                    <p:anim calcmode="lin" valueType="num">
                                      <p:cBhvr>
                                        <p:cTn id="35" dur="750" decel="10000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9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50"/>
                                        <p:tgtEl>
                                          <p:spTgt spid="13"/>
                                        </p:tgtEl>
                                      </p:cBhvr>
                                    </p:animEffect>
                                    <p:anim calcmode="lin" valueType="num">
                                      <p:cBhvr>
                                        <p:cTn id="39" dur="750" fill="hold"/>
                                        <p:tgtEl>
                                          <p:spTgt spid="13"/>
                                        </p:tgtEl>
                                        <p:attrNameLst>
                                          <p:attrName>ppt_x</p:attrName>
                                        </p:attrNameLst>
                                      </p:cBhvr>
                                      <p:tavLst>
                                        <p:tav tm="0">
                                          <p:val>
                                            <p:strVal val="#ppt_x"/>
                                          </p:val>
                                        </p:tav>
                                        <p:tav tm="100000">
                                          <p:val>
                                            <p:strVal val="#ppt_x"/>
                                          </p:val>
                                        </p:tav>
                                      </p:tavLst>
                                    </p:anim>
                                    <p:anim calcmode="lin" valueType="num">
                                      <p:cBhvr>
                                        <p:cTn id="40" dur="750" decel="100000" fill="hold"/>
                                        <p:tgtEl>
                                          <p:spTgt spid="13"/>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965"/>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50"/>
                                        <p:tgtEl>
                                          <p:spTgt spid="14"/>
                                        </p:tgtEl>
                                      </p:cBhvr>
                                    </p:animEffect>
                                    <p:anim calcmode="lin" valueType="num">
                                      <p:cBhvr>
                                        <p:cTn id="44" dur="750" fill="hold"/>
                                        <p:tgtEl>
                                          <p:spTgt spid="14"/>
                                        </p:tgtEl>
                                        <p:attrNameLst>
                                          <p:attrName>ppt_x</p:attrName>
                                        </p:attrNameLst>
                                      </p:cBhvr>
                                      <p:tavLst>
                                        <p:tav tm="0">
                                          <p:val>
                                            <p:strVal val="#ppt_x"/>
                                          </p:val>
                                        </p:tav>
                                        <p:tav tm="100000">
                                          <p:val>
                                            <p:strVal val="#ppt_x"/>
                                          </p:val>
                                        </p:tav>
                                      </p:tavLst>
                                    </p:anim>
                                    <p:anim calcmode="lin" valueType="num">
                                      <p:cBhvr>
                                        <p:cTn id="45" dur="750" decel="100000" fill="hold"/>
                                        <p:tgtEl>
                                          <p:spTgt spid="14"/>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102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750"/>
                                        <p:tgtEl>
                                          <p:spTgt spid="15"/>
                                        </p:tgtEl>
                                      </p:cBhvr>
                                    </p:animEffect>
                                    <p:anim calcmode="lin" valueType="num">
                                      <p:cBhvr>
                                        <p:cTn id="49" dur="750" fill="hold"/>
                                        <p:tgtEl>
                                          <p:spTgt spid="15"/>
                                        </p:tgtEl>
                                        <p:attrNameLst>
                                          <p:attrName>ppt_x</p:attrName>
                                        </p:attrNameLst>
                                      </p:cBhvr>
                                      <p:tavLst>
                                        <p:tav tm="0">
                                          <p:val>
                                            <p:strVal val="#ppt_x"/>
                                          </p:val>
                                        </p:tav>
                                        <p:tav tm="100000">
                                          <p:val>
                                            <p:strVal val="#ppt_x"/>
                                          </p:val>
                                        </p:tav>
                                      </p:tavLst>
                                    </p:anim>
                                    <p:anim calcmode="lin" valueType="num">
                                      <p:cBhvr>
                                        <p:cTn id="50" dur="750" decel="100000" fill="hold"/>
                                        <p:tgtEl>
                                          <p:spTgt spid="15"/>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1075"/>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750"/>
                                        <p:tgtEl>
                                          <p:spTgt spid="16"/>
                                        </p:tgtEl>
                                      </p:cBhvr>
                                    </p:animEffect>
                                    <p:anim calcmode="lin" valueType="num">
                                      <p:cBhvr>
                                        <p:cTn id="54" dur="750" fill="hold"/>
                                        <p:tgtEl>
                                          <p:spTgt spid="16"/>
                                        </p:tgtEl>
                                        <p:attrNameLst>
                                          <p:attrName>ppt_x</p:attrName>
                                        </p:attrNameLst>
                                      </p:cBhvr>
                                      <p:tavLst>
                                        <p:tav tm="0">
                                          <p:val>
                                            <p:strVal val="#ppt_x"/>
                                          </p:val>
                                        </p:tav>
                                        <p:tav tm="100000">
                                          <p:val>
                                            <p:strVal val="#ppt_x"/>
                                          </p:val>
                                        </p:tav>
                                      </p:tavLst>
                                    </p:anim>
                                    <p:anim calcmode="lin" valueType="num">
                                      <p:cBhvr>
                                        <p:cTn id="55" dur="750" decel="100000" fill="hold"/>
                                        <p:tgtEl>
                                          <p:spTgt spid="16"/>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113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750"/>
                                        <p:tgtEl>
                                          <p:spTgt spid="17"/>
                                        </p:tgtEl>
                                      </p:cBhvr>
                                    </p:animEffect>
                                    <p:anim calcmode="lin" valueType="num">
                                      <p:cBhvr>
                                        <p:cTn id="59" dur="750" fill="hold"/>
                                        <p:tgtEl>
                                          <p:spTgt spid="17"/>
                                        </p:tgtEl>
                                        <p:attrNameLst>
                                          <p:attrName>ppt_x</p:attrName>
                                        </p:attrNameLst>
                                      </p:cBhvr>
                                      <p:tavLst>
                                        <p:tav tm="0">
                                          <p:val>
                                            <p:strVal val="#ppt_x"/>
                                          </p:val>
                                        </p:tav>
                                        <p:tav tm="100000">
                                          <p:val>
                                            <p:strVal val="#ppt_x"/>
                                          </p:val>
                                        </p:tav>
                                      </p:tavLst>
                                    </p:anim>
                                    <p:anim calcmode="lin" valueType="num">
                                      <p:cBhvr>
                                        <p:cTn id="60" dur="750" decel="100000" fill="hold"/>
                                        <p:tgtEl>
                                          <p:spTgt spid="17"/>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1185"/>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750"/>
                                        <p:tgtEl>
                                          <p:spTgt spid="18"/>
                                        </p:tgtEl>
                                      </p:cBhvr>
                                    </p:animEffect>
                                    <p:anim calcmode="lin" valueType="num">
                                      <p:cBhvr>
                                        <p:cTn id="64" dur="750" fill="hold"/>
                                        <p:tgtEl>
                                          <p:spTgt spid="18"/>
                                        </p:tgtEl>
                                        <p:attrNameLst>
                                          <p:attrName>ppt_x</p:attrName>
                                        </p:attrNameLst>
                                      </p:cBhvr>
                                      <p:tavLst>
                                        <p:tav tm="0">
                                          <p:val>
                                            <p:strVal val="#ppt_x"/>
                                          </p:val>
                                        </p:tav>
                                        <p:tav tm="100000">
                                          <p:val>
                                            <p:strVal val="#ppt_x"/>
                                          </p:val>
                                        </p:tav>
                                      </p:tavLst>
                                    </p:anim>
                                    <p:anim calcmode="lin" valueType="num">
                                      <p:cBhvr>
                                        <p:cTn id="65" dur="750" decel="100000" fill="hold"/>
                                        <p:tgtEl>
                                          <p:spTgt spid="1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2011680" y="-1371600"/>
            <a:ext cx="5486400" cy="548640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HOW IT WORKS</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One choke point for every byte that leaves</a:t>
            </a:r>
            <a:endParaRPr lang="en-US" sz="3400" dirty="0"/>
          </a:p>
        </p:txBody>
      </p:sp>
      <p:sp>
        <p:nvSpPr>
          <p:cNvPr id="6" name="anim-1-rise-e0"/>
          <p:cNvSpPr/>
          <p:nvPr/>
        </p:nvSpPr>
        <p:spPr>
          <a:xfrm>
            <a:off x="548640" y="1737360"/>
            <a:ext cx="4343400" cy="868680"/>
          </a:xfrm>
          <a:prstGeom prst="roundRect">
            <a:avLst>
              <a:gd name="adj" fmla="val 14737"/>
            </a:avLst>
          </a:prstGeom>
          <a:solidFill>
            <a:srgbClr val="1A1B17">
              <a:alpha val="92000"/>
            </a:srgbClr>
          </a:solidFill>
          <a:ln w="12700">
            <a:solidFill>
              <a:srgbClr val="33342E"/>
            </a:solidFill>
            <a:prstDash val="solid"/>
          </a:ln>
        </p:spPr>
      </p:sp>
      <p:sp>
        <p:nvSpPr>
          <p:cNvPr id="7" name="anim-1-rise-ep0"/>
          <p:cNvSpPr/>
          <p:nvPr/>
        </p:nvSpPr>
        <p:spPr>
          <a:xfrm>
            <a:off x="749808" y="1984248"/>
            <a:ext cx="1143000" cy="384048"/>
          </a:xfrm>
          <a:prstGeom prst="roundRect">
            <a:avLst>
              <a:gd name="adj" fmla="val 50000"/>
            </a:avLst>
          </a:prstGeom>
          <a:solidFill>
            <a:srgbClr val="34D399">
              <a:alpha val="18000"/>
            </a:srgbClr>
          </a:solidFill>
          <a:ln w="12700">
            <a:solidFill>
              <a:srgbClr val="34D399"/>
            </a:solidFill>
            <a:prstDash val="solid"/>
          </a:ln>
        </p:spPr>
      </p:sp>
      <p:sp>
        <p:nvSpPr>
          <p:cNvPr id="8" name="anim-1-rise-et0"/>
          <p:cNvSpPr txBox="1"/>
          <p:nvPr/>
        </p:nvSpPr>
        <p:spPr>
          <a:xfrm>
            <a:off x="749808" y="1984248"/>
            <a:ext cx="1143000" cy="384048"/>
          </a:xfrm>
          <a:prstGeom prst="rect">
            <a:avLst/>
          </a:prstGeom>
          <a:noFill/>
          <a:ln/>
        </p:spPr>
        <p:txBody>
          <a:bodyPr wrap="square" lIns="0" tIns="0" rIns="0" bIns="0" rtlCol="0" anchor="ctr"/>
          <a:lstStyle/>
          <a:p>
            <a:pPr algn="ctr" indent="0" marL="0">
              <a:buNone/>
            </a:pPr>
            <a:r>
              <a:rPr lang="en-US" sz="1200" b="1" spc="200" kern="0" dirty="0">
                <a:solidFill>
                  <a:srgbClr val="34D399"/>
                </a:solidFill>
              </a:rPr>
              <a:t>ALLOW</a:t>
            </a:r>
            <a:endParaRPr lang="en-US" sz="1200" dirty="0"/>
          </a:p>
        </p:txBody>
      </p:sp>
      <p:sp>
        <p:nvSpPr>
          <p:cNvPr id="9" name="anim-1-rise-ed0"/>
          <p:cNvSpPr txBox="1"/>
          <p:nvPr/>
        </p:nvSpPr>
        <p:spPr>
          <a:xfrm>
            <a:off x="2057400" y="1828800"/>
            <a:ext cx="2743200" cy="685800"/>
          </a:xfrm>
          <a:prstGeom prst="rect">
            <a:avLst/>
          </a:prstGeom>
          <a:noFill/>
          <a:ln/>
        </p:spPr>
        <p:txBody>
          <a:bodyPr wrap="square" lIns="0" tIns="0" rIns="0" bIns="0" rtlCol="0" anchor="ctr"/>
          <a:lstStyle/>
          <a:p>
            <a:pPr indent="0" marL="0">
              <a:buNone/>
            </a:pPr>
            <a:r>
              <a:rPr lang="en-US" sz="1400" dirty="0">
                <a:solidFill>
                  <a:srgbClr val="CDC7BB"/>
                </a:solidFill>
              </a:rPr>
              <a:t>Your VIN → NHTSA, to check safety recalls</a:t>
            </a:r>
            <a:endParaRPr lang="en-US" sz="1400" dirty="0"/>
          </a:p>
        </p:txBody>
      </p:sp>
      <p:sp>
        <p:nvSpPr>
          <p:cNvPr id="10" name="anim-2-rise-e1"/>
          <p:cNvSpPr/>
          <p:nvPr/>
        </p:nvSpPr>
        <p:spPr>
          <a:xfrm>
            <a:off x="548640" y="2761488"/>
            <a:ext cx="4343400" cy="868680"/>
          </a:xfrm>
          <a:prstGeom prst="roundRect">
            <a:avLst>
              <a:gd name="adj" fmla="val 14737"/>
            </a:avLst>
          </a:prstGeom>
          <a:solidFill>
            <a:srgbClr val="1A1B17">
              <a:alpha val="92000"/>
            </a:srgbClr>
          </a:solidFill>
          <a:ln w="12700">
            <a:solidFill>
              <a:srgbClr val="33342E"/>
            </a:solidFill>
            <a:prstDash val="solid"/>
          </a:ln>
        </p:spPr>
      </p:sp>
      <p:sp>
        <p:nvSpPr>
          <p:cNvPr id="11" name="anim-2-rise-ep1"/>
          <p:cNvSpPr/>
          <p:nvPr/>
        </p:nvSpPr>
        <p:spPr>
          <a:xfrm>
            <a:off x="749808" y="3008376"/>
            <a:ext cx="1143000" cy="384048"/>
          </a:xfrm>
          <a:prstGeom prst="roundRect">
            <a:avLst>
              <a:gd name="adj" fmla="val 50000"/>
            </a:avLst>
          </a:prstGeom>
          <a:solidFill>
            <a:srgbClr val="FBBF24">
              <a:alpha val="18000"/>
            </a:srgbClr>
          </a:solidFill>
          <a:ln w="12700">
            <a:solidFill>
              <a:srgbClr val="FBBF24"/>
            </a:solidFill>
            <a:prstDash val="solid"/>
          </a:ln>
        </p:spPr>
      </p:sp>
      <p:sp>
        <p:nvSpPr>
          <p:cNvPr id="12" name="anim-2-rise-et1"/>
          <p:cNvSpPr txBox="1"/>
          <p:nvPr/>
        </p:nvSpPr>
        <p:spPr>
          <a:xfrm>
            <a:off x="749808" y="3008376"/>
            <a:ext cx="1143000" cy="384048"/>
          </a:xfrm>
          <a:prstGeom prst="rect">
            <a:avLst/>
          </a:prstGeom>
          <a:noFill/>
          <a:ln/>
        </p:spPr>
        <p:txBody>
          <a:bodyPr wrap="square" lIns="0" tIns="0" rIns="0" bIns="0" rtlCol="0" anchor="ctr"/>
          <a:lstStyle/>
          <a:p>
            <a:pPr algn="ctr" indent="0" marL="0">
              <a:buNone/>
            </a:pPr>
            <a:r>
              <a:rPr lang="en-US" sz="1200" b="1" spc="200" kern="0" dirty="0">
                <a:solidFill>
                  <a:srgbClr val="FBBF24"/>
                </a:solidFill>
              </a:rPr>
              <a:t>MINIMIZE</a:t>
            </a:r>
            <a:endParaRPr lang="en-US" sz="1200" dirty="0"/>
          </a:p>
        </p:txBody>
      </p:sp>
      <p:sp>
        <p:nvSpPr>
          <p:cNvPr id="13" name="anim-2-rise-ed1"/>
          <p:cNvSpPr txBox="1"/>
          <p:nvPr/>
        </p:nvSpPr>
        <p:spPr>
          <a:xfrm>
            <a:off x="2057400" y="2852928"/>
            <a:ext cx="2743200" cy="685800"/>
          </a:xfrm>
          <a:prstGeom prst="rect">
            <a:avLst/>
          </a:prstGeom>
          <a:noFill/>
          <a:ln/>
        </p:spPr>
        <p:txBody>
          <a:bodyPr wrap="square" lIns="0" tIns="0" rIns="0" bIns="0" rtlCol="0" anchor="ctr"/>
          <a:lstStyle/>
          <a:p>
            <a:pPr indent="0" marL="0">
              <a:buNone/>
            </a:pPr>
            <a:r>
              <a:rPr lang="en-US" sz="1400" dirty="0">
                <a:solidFill>
                  <a:srgbClr val="CDC7BB"/>
                </a:solidFill>
              </a:rPr>
              <a:t>Home GPS → ~10 km grid for weather APIs</a:t>
            </a:r>
            <a:endParaRPr lang="en-US" sz="1400" dirty="0"/>
          </a:p>
        </p:txBody>
      </p:sp>
      <p:sp>
        <p:nvSpPr>
          <p:cNvPr id="14" name="anim-3-rise-e2"/>
          <p:cNvSpPr/>
          <p:nvPr/>
        </p:nvSpPr>
        <p:spPr>
          <a:xfrm>
            <a:off x="548640" y="3785616"/>
            <a:ext cx="4343400" cy="868680"/>
          </a:xfrm>
          <a:prstGeom prst="roundRect">
            <a:avLst>
              <a:gd name="adj" fmla="val 14737"/>
            </a:avLst>
          </a:prstGeom>
          <a:solidFill>
            <a:srgbClr val="1A1B17">
              <a:alpha val="92000"/>
            </a:srgbClr>
          </a:solidFill>
          <a:ln w="12700">
            <a:solidFill>
              <a:srgbClr val="33342E"/>
            </a:solidFill>
            <a:prstDash val="solid"/>
          </a:ln>
        </p:spPr>
      </p:sp>
      <p:sp>
        <p:nvSpPr>
          <p:cNvPr id="15" name="anim-3-rise-ep2"/>
          <p:cNvSpPr/>
          <p:nvPr/>
        </p:nvSpPr>
        <p:spPr>
          <a:xfrm>
            <a:off x="749808" y="4032504"/>
            <a:ext cx="1143000" cy="384048"/>
          </a:xfrm>
          <a:prstGeom prst="roundRect">
            <a:avLst>
              <a:gd name="adj" fmla="val 50000"/>
            </a:avLst>
          </a:prstGeom>
          <a:solidFill>
            <a:srgbClr val="60A5FA">
              <a:alpha val="18000"/>
            </a:srgbClr>
          </a:solidFill>
          <a:ln w="12700">
            <a:solidFill>
              <a:srgbClr val="60A5FA"/>
            </a:solidFill>
            <a:prstDash val="solid"/>
          </a:ln>
        </p:spPr>
      </p:sp>
      <p:sp>
        <p:nvSpPr>
          <p:cNvPr id="16" name="anim-3-rise-et2"/>
          <p:cNvSpPr txBox="1"/>
          <p:nvPr/>
        </p:nvSpPr>
        <p:spPr>
          <a:xfrm>
            <a:off x="749808" y="4032504"/>
            <a:ext cx="1143000" cy="384048"/>
          </a:xfrm>
          <a:prstGeom prst="rect">
            <a:avLst/>
          </a:prstGeom>
          <a:noFill/>
          <a:ln/>
        </p:spPr>
        <p:txBody>
          <a:bodyPr wrap="square" lIns="0" tIns="0" rIns="0" bIns="0" rtlCol="0" anchor="ctr"/>
          <a:lstStyle/>
          <a:p>
            <a:pPr algn="ctr" indent="0" marL="0">
              <a:buNone/>
            </a:pPr>
            <a:r>
              <a:rPr lang="en-US" sz="1200" b="1" spc="200" kern="0" dirty="0">
                <a:solidFill>
                  <a:srgbClr val="60A5FA"/>
                </a:solidFill>
              </a:rPr>
              <a:t>ASK</a:t>
            </a:r>
            <a:endParaRPr lang="en-US" sz="1200" dirty="0"/>
          </a:p>
        </p:txBody>
      </p:sp>
      <p:sp>
        <p:nvSpPr>
          <p:cNvPr id="17" name="anim-3-rise-ed2"/>
          <p:cNvSpPr txBox="1"/>
          <p:nvPr/>
        </p:nvSpPr>
        <p:spPr>
          <a:xfrm>
            <a:off x="2057400" y="3877056"/>
            <a:ext cx="2743200" cy="685800"/>
          </a:xfrm>
          <a:prstGeom prst="rect">
            <a:avLst/>
          </a:prstGeom>
          <a:noFill/>
          <a:ln/>
        </p:spPr>
        <p:txBody>
          <a:bodyPr wrap="square" lIns="0" tIns="0" rIns="0" bIns="0" rtlCol="0" anchor="ctr"/>
          <a:lstStyle/>
          <a:p>
            <a:pPr indent="0" marL="0">
              <a:buNone/>
            </a:pPr>
            <a:r>
              <a:rPr lang="en-US" sz="1400" dirty="0">
                <a:solidFill>
                  <a:srgbClr val="CDC7BB"/>
                </a:solidFill>
              </a:rPr>
              <a:t>Allergy → TableTap? You decide, mid-run</a:t>
            </a:r>
            <a:endParaRPr lang="en-US" sz="1400" dirty="0"/>
          </a:p>
        </p:txBody>
      </p:sp>
      <p:sp>
        <p:nvSpPr>
          <p:cNvPr id="18" name="anim-4-rise-e3"/>
          <p:cNvSpPr/>
          <p:nvPr/>
        </p:nvSpPr>
        <p:spPr>
          <a:xfrm>
            <a:off x="548640" y="4809744"/>
            <a:ext cx="4343400" cy="868680"/>
          </a:xfrm>
          <a:prstGeom prst="roundRect">
            <a:avLst>
              <a:gd name="adj" fmla="val 14737"/>
            </a:avLst>
          </a:prstGeom>
          <a:solidFill>
            <a:srgbClr val="1A1B17">
              <a:alpha val="92000"/>
            </a:srgbClr>
          </a:solidFill>
          <a:ln w="12700">
            <a:solidFill>
              <a:srgbClr val="33342E"/>
            </a:solidFill>
            <a:prstDash val="solid"/>
          </a:ln>
        </p:spPr>
      </p:sp>
      <p:sp>
        <p:nvSpPr>
          <p:cNvPr id="19" name="anim-4-rise-ep3"/>
          <p:cNvSpPr/>
          <p:nvPr/>
        </p:nvSpPr>
        <p:spPr>
          <a:xfrm>
            <a:off x="749808" y="5056632"/>
            <a:ext cx="1143000" cy="384048"/>
          </a:xfrm>
          <a:prstGeom prst="roundRect">
            <a:avLst>
              <a:gd name="adj" fmla="val 50000"/>
            </a:avLst>
          </a:prstGeom>
          <a:solidFill>
            <a:srgbClr val="FB7185">
              <a:alpha val="18000"/>
            </a:srgbClr>
          </a:solidFill>
          <a:ln w="12700">
            <a:solidFill>
              <a:srgbClr val="FB7185"/>
            </a:solidFill>
            <a:prstDash val="solid"/>
          </a:ln>
        </p:spPr>
      </p:sp>
      <p:sp>
        <p:nvSpPr>
          <p:cNvPr id="20" name="anim-4-rise-et3"/>
          <p:cNvSpPr txBox="1"/>
          <p:nvPr/>
        </p:nvSpPr>
        <p:spPr>
          <a:xfrm>
            <a:off x="749808" y="5056632"/>
            <a:ext cx="1143000" cy="384048"/>
          </a:xfrm>
          <a:prstGeom prst="rect">
            <a:avLst/>
          </a:prstGeom>
          <a:noFill/>
          <a:ln/>
        </p:spPr>
        <p:txBody>
          <a:bodyPr wrap="square" lIns="0" tIns="0" rIns="0" bIns="0" rtlCol="0" anchor="ctr"/>
          <a:lstStyle/>
          <a:p>
            <a:pPr algn="ctr" indent="0" marL="0">
              <a:buNone/>
            </a:pPr>
            <a:r>
              <a:rPr lang="en-US" sz="1200" b="1" spc="200" kern="0" dirty="0">
                <a:solidFill>
                  <a:srgbClr val="FB7185"/>
                </a:solidFill>
              </a:rPr>
              <a:t>DENY</a:t>
            </a:r>
            <a:endParaRPr lang="en-US" sz="1200" dirty="0"/>
          </a:p>
        </p:txBody>
      </p:sp>
      <p:sp>
        <p:nvSpPr>
          <p:cNvPr id="21" name="anim-4-rise-ed3"/>
          <p:cNvSpPr txBox="1"/>
          <p:nvPr/>
        </p:nvSpPr>
        <p:spPr>
          <a:xfrm>
            <a:off x="2057400" y="4901184"/>
            <a:ext cx="2743200" cy="685800"/>
          </a:xfrm>
          <a:prstGeom prst="rect">
            <a:avLst/>
          </a:prstGeom>
          <a:noFill/>
          <a:ln/>
        </p:spPr>
        <p:txBody>
          <a:bodyPr wrap="square" lIns="0" tIns="0" rIns="0" bIns="0" rtlCol="0" anchor="ctr"/>
          <a:lstStyle/>
          <a:p>
            <a:pPr indent="0" marL="0">
              <a:buNone/>
            </a:pPr>
            <a:r>
              <a:rPr lang="en-US" sz="1400" dirty="0">
                <a:solidFill>
                  <a:srgbClr val="CDC7BB"/>
                </a:solidFill>
              </a:rPr>
              <a:t>SSN, real card, mental health: never</a:t>
            </a:r>
            <a:endParaRPr lang="en-US" sz="1400" dirty="0"/>
          </a:p>
        </p:txBody>
      </p:sp>
      <p:sp>
        <p:nvSpPr>
          <p:cNvPr id="22" name="anim-5-zoom-flow-frame"/>
          <p:cNvSpPr/>
          <p:nvPr/>
        </p:nvSpPr>
        <p:spPr>
          <a:xfrm>
            <a:off x="5294376" y="1728216"/>
            <a:ext cx="6373368" cy="3447288"/>
          </a:xfrm>
          <a:prstGeom prst="roundRect">
            <a:avLst>
              <a:gd name="adj" fmla="val 3183"/>
            </a:avLst>
          </a:prstGeom>
          <a:solidFill>
            <a:srgbClr val="1A1B17"/>
          </a:solidFill>
          <a:ln w="12700">
            <a:solidFill>
              <a:srgbClr val="3A3A33"/>
            </a:solidFill>
            <a:prstDash val="solid"/>
          </a:ln>
          <a:effectLst>
            <a:outerShdw sx="100000" sy="100000" kx="0" ky="0" algn="bl" rotWithShape="0" blurRad="304800" dist="50800" dir="5400000">
              <a:srgbClr val="EFA56F">
                <a:alpha val="22000"/>
              </a:srgbClr>
            </a:outerShdw>
          </a:effectLst>
        </p:spPr>
      </p:sp>
      <p:pic>
        <p:nvPicPr>
          <p:cNvPr id="23" name="anim-5-zoom-flow" descr="media/flowmap-crop.png">    </p:cNvPr>
          <p:cNvPicPr>
            <a:picLocks noChangeAspect="1"/>
          </p:cNvPicPr>
          <p:nvPr/>
        </p:nvPicPr>
        <p:blipFill>
          <a:blip r:embed="rId3"/>
          <a:stretch>
            <a:fillRect/>
          </a:stretch>
        </p:blipFill>
        <p:spPr>
          <a:xfrm>
            <a:off x="5349240" y="1783080"/>
            <a:ext cx="6263640" cy="3337560"/>
          </a:xfrm>
          <a:prstGeom prst="rect">
            <a:avLst/>
          </a:prstGeom>
        </p:spPr>
      </p:pic>
      <p:sp>
        <p:nvSpPr>
          <p:cNvPr id="24" name="anim-6-fade-det"/>
          <p:cNvSpPr txBox="1"/>
          <p:nvPr/>
        </p:nvSpPr>
        <p:spPr>
          <a:xfrm>
            <a:off x="5349240" y="5349240"/>
            <a:ext cx="6263640" cy="640080"/>
          </a:xfrm>
          <a:prstGeom prst="rect">
            <a:avLst/>
          </a:prstGeom>
          <a:noFill/>
          <a:ln/>
        </p:spPr>
        <p:txBody>
          <a:bodyPr wrap="square" lIns="0" tIns="0" rIns="0" bIns="0" rtlCol="0" anchor="t"/>
          <a:lstStyle/>
          <a:p>
            <a:pPr indent="0" marL="0">
              <a:buNone/>
            </a:pPr>
            <a:r>
              <a:rPr lang="en-US" sz="1400" dirty="0">
                <a:solidFill>
                  <a:srgbClr val="A7A196"/>
                </a:solidFill>
              </a:rPr>
              <a:t>Detects your data via vault fingerprints · tokens · checksums (Luhn, SSN) · health lexicon · geo-proximity</a:t>
            </a:r>
            <a:endParaRPr lang="en-US" sz="14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7" fill="hold">
                            <p:stCondLst>
                              <p:cond delay="0"/>
                            </p:stCondLst>
                            <p:childTnLst>
                              <p:par>
                                <p:cTn id="8" presetID="42" presetClass="entr" presetSubtype="0"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750"/>
                                        <p:tgtEl>
                                          <p:spTgt spid="6"/>
                                        </p:tgtEl>
                                      </p:cBhvr>
                                    </p:animEffect>
                                    <p:anim calcmode="lin" valueType="num">
                                      <p:cBhvr>
                                        <p:cTn id="6" dur="750" fill="hold"/>
                                        <p:tgtEl>
                                          <p:spTgt spid="6"/>
                                        </p:tgtEl>
                                        <p:attrNameLst>
                                          <p:attrName>ppt_x</p:attrName>
                                        </p:attrNameLst>
                                      </p:cBhvr>
                                      <p:tavLst>
                                        <p:tav tm="0">
                                          <p:val>
                                            <p:strVal val="#ppt_x"/>
                                          </p:val>
                                        </p:tav>
                                        <p:tav tm="100000">
                                          <p:val>
                                            <p:strVal val="#ppt_x"/>
                                          </p:val>
                                        </p:tav>
                                      </p:tavLst>
                                    </p:anim>
                                    <p:anim calcmode="lin" valueType="num">
                                      <p:cBhvr>
                                        <p:cTn id="7" dur="750" decel="10000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30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750"/>
                                        <p:tgtEl>
                                          <p:spTgt spid="7"/>
                                        </p:tgtEl>
                                      </p:cBhvr>
                                    </p:animEffect>
                                    <p:anim calcmode="lin" valueType="num">
                                      <p:cBhvr>
                                        <p:cTn id="11" dur="750" fill="hold"/>
                                        <p:tgtEl>
                                          <p:spTgt spid="7"/>
                                        </p:tgtEl>
                                        <p:attrNameLst>
                                          <p:attrName>ppt_x</p:attrName>
                                        </p:attrNameLst>
                                      </p:cBhvr>
                                      <p:tavLst>
                                        <p:tav tm="0">
                                          <p:val>
                                            <p:strVal val="#ppt_x"/>
                                          </p:val>
                                        </p:tav>
                                        <p:tav tm="100000">
                                          <p:val>
                                            <p:strVal val="#ppt_x"/>
                                          </p:val>
                                        </p:tav>
                                      </p:tavLst>
                                    </p:anim>
                                    <p:anim calcmode="lin" valueType="num">
                                      <p:cBhvr>
                                        <p:cTn id="12" dur="750" decel="10000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36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50"/>
                                        <p:tgtEl>
                                          <p:spTgt spid="8"/>
                                        </p:tgtEl>
                                      </p:cBhvr>
                                    </p:animEffect>
                                    <p:anim calcmode="lin" valueType="num">
                                      <p:cBhvr>
                                        <p:cTn id="16" dur="750" fill="hold"/>
                                        <p:tgtEl>
                                          <p:spTgt spid="8"/>
                                        </p:tgtEl>
                                        <p:attrNameLst>
                                          <p:attrName>ppt_x</p:attrName>
                                        </p:attrNameLst>
                                      </p:cBhvr>
                                      <p:tavLst>
                                        <p:tav tm="0">
                                          <p:val>
                                            <p:strVal val="#ppt_x"/>
                                          </p:val>
                                        </p:tav>
                                        <p:tav tm="100000">
                                          <p:val>
                                            <p:strVal val="#ppt_x"/>
                                          </p:val>
                                        </p:tav>
                                      </p:tavLst>
                                    </p:anim>
                                    <p:anim calcmode="lin" valueType="num">
                                      <p:cBhvr>
                                        <p:cTn id="17" dur="750" decel="10000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415"/>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750"/>
                                        <p:tgtEl>
                                          <p:spTgt spid="9"/>
                                        </p:tgtEl>
                                      </p:cBhvr>
                                    </p:animEffect>
                                    <p:anim calcmode="lin" valueType="num">
                                      <p:cBhvr>
                                        <p:cTn id="21" dur="750" fill="hold"/>
                                        <p:tgtEl>
                                          <p:spTgt spid="9"/>
                                        </p:tgtEl>
                                        <p:attrNameLst>
                                          <p:attrName>ppt_x</p:attrName>
                                        </p:attrNameLst>
                                      </p:cBhvr>
                                      <p:tavLst>
                                        <p:tav tm="0">
                                          <p:val>
                                            <p:strVal val="#ppt_x"/>
                                          </p:val>
                                        </p:tav>
                                        <p:tav tm="100000">
                                          <p:val>
                                            <p:strVal val="#ppt_x"/>
                                          </p:val>
                                        </p:tav>
                                      </p:tavLst>
                                    </p:anim>
                                    <p:anim calcmode="lin" valueType="num">
                                      <p:cBhvr>
                                        <p:cTn id="22" dur="750" decel="10000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58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50"/>
                                        <p:tgtEl>
                                          <p:spTgt spid="10"/>
                                        </p:tgtEl>
                                      </p:cBhvr>
                                    </p:animEffect>
                                    <p:anim calcmode="lin" valueType="num">
                                      <p:cBhvr>
                                        <p:cTn id="26" dur="750" fill="hold"/>
                                        <p:tgtEl>
                                          <p:spTgt spid="10"/>
                                        </p:tgtEl>
                                        <p:attrNameLst>
                                          <p:attrName>ppt_x</p:attrName>
                                        </p:attrNameLst>
                                      </p:cBhvr>
                                      <p:tavLst>
                                        <p:tav tm="0">
                                          <p:val>
                                            <p:strVal val="#ppt_x"/>
                                          </p:val>
                                        </p:tav>
                                        <p:tav tm="100000">
                                          <p:val>
                                            <p:strVal val="#ppt_x"/>
                                          </p:val>
                                        </p:tav>
                                      </p:tavLst>
                                    </p:anim>
                                    <p:anim calcmode="lin" valueType="num">
                                      <p:cBhvr>
                                        <p:cTn id="27" dur="750" decel="10000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635"/>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50"/>
                                        <p:tgtEl>
                                          <p:spTgt spid="11"/>
                                        </p:tgtEl>
                                      </p:cBhvr>
                                    </p:animEffect>
                                    <p:anim calcmode="lin" valueType="num">
                                      <p:cBhvr>
                                        <p:cTn id="31" dur="750" fill="hold"/>
                                        <p:tgtEl>
                                          <p:spTgt spid="11"/>
                                        </p:tgtEl>
                                        <p:attrNameLst>
                                          <p:attrName>ppt_x</p:attrName>
                                        </p:attrNameLst>
                                      </p:cBhvr>
                                      <p:tavLst>
                                        <p:tav tm="0">
                                          <p:val>
                                            <p:strVal val="#ppt_x"/>
                                          </p:val>
                                        </p:tav>
                                        <p:tav tm="100000">
                                          <p:val>
                                            <p:strVal val="#ppt_x"/>
                                          </p:val>
                                        </p:tav>
                                      </p:tavLst>
                                    </p:anim>
                                    <p:anim calcmode="lin" valueType="num">
                                      <p:cBhvr>
                                        <p:cTn id="32" dur="750" decel="10000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50"/>
                                        <p:tgtEl>
                                          <p:spTgt spid="12"/>
                                        </p:tgtEl>
                                      </p:cBhvr>
                                    </p:animEffect>
                                    <p:anim calcmode="lin" valueType="num">
                                      <p:cBhvr>
                                        <p:cTn id="36" dur="750" fill="hold"/>
                                        <p:tgtEl>
                                          <p:spTgt spid="12"/>
                                        </p:tgtEl>
                                        <p:attrNameLst>
                                          <p:attrName>ppt_x</p:attrName>
                                        </p:attrNameLst>
                                      </p:cBhvr>
                                      <p:tavLst>
                                        <p:tav tm="0">
                                          <p:val>
                                            <p:strVal val="#ppt_x"/>
                                          </p:val>
                                        </p:tav>
                                        <p:tav tm="100000">
                                          <p:val>
                                            <p:strVal val="#ppt_x"/>
                                          </p:val>
                                        </p:tav>
                                      </p:tavLst>
                                    </p:anim>
                                    <p:anim calcmode="lin" valueType="num">
                                      <p:cBhvr>
                                        <p:cTn id="37" dur="750" decel="10000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745"/>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50"/>
                                        <p:tgtEl>
                                          <p:spTgt spid="13"/>
                                        </p:tgtEl>
                                      </p:cBhvr>
                                    </p:animEffect>
                                    <p:anim calcmode="lin" valueType="num">
                                      <p:cBhvr>
                                        <p:cTn id="41" dur="750" fill="hold"/>
                                        <p:tgtEl>
                                          <p:spTgt spid="13"/>
                                        </p:tgtEl>
                                        <p:attrNameLst>
                                          <p:attrName>ppt_x</p:attrName>
                                        </p:attrNameLst>
                                      </p:cBhvr>
                                      <p:tavLst>
                                        <p:tav tm="0">
                                          <p:val>
                                            <p:strVal val="#ppt_x"/>
                                          </p:val>
                                        </p:tav>
                                        <p:tav tm="100000">
                                          <p:val>
                                            <p:strVal val="#ppt_x"/>
                                          </p:val>
                                        </p:tav>
                                      </p:tavLst>
                                    </p:anim>
                                    <p:anim calcmode="lin" valueType="num">
                                      <p:cBhvr>
                                        <p:cTn id="42" dur="750" decel="10000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91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50"/>
                                        <p:tgtEl>
                                          <p:spTgt spid="14"/>
                                        </p:tgtEl>
                                      </p:cBhvr>
                                    </p:animEffect>
                                    <p:anim calcmode="lin" valueType="num">
                                      <p:cBhvr>
                                        <p:cTn id="46" dur="750" fill="hold"/>
                                        <p:tgtEl>
                                          <p:spTgt spid="14"/>
                                        </p:tgtEl>
                                        <p:attrNameLst>
                                          <p:attrName>ppt_x</p:attrName>
                                        </p:attrNameLst>
                                      </p:cBhvr>
                                      <p:tavLst>
                                        <p:tav tm="0">
                                          <p:val>
                                            <p:strVal val="#ppt_x"/>
                                          </p:val>
                                        </p:tav>
                                        <p:tav tm="100000">
                                          <p:val>
                                            <p:strVal val="#ppt_x"/>
                                          </p:val>
                                        </p:tav>
                                      </p:tavLst>
                                    </p:anim>
                                    <p:anim calcmode="lin" valueType="num">
                                      <p:cBhvr>
                                        <p:cTn id="47" dur="750" decel="10000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965"/>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750"/>
                                        <p:tgtEl>
                                          <p:spTgt spid="15"/>
                                        </p:tgtEl>
                                      </p:cBhvr>
                                    </p:animEffect>
                                    <p:anim calcmode="lin" valueType="num">
                                      <p:cBhvr>
                                        <p:cTn id="51" dur="750" fill="hold"/>
                                        <p:tgtEl>
                                          <p:spTgt spid="15"/>
                                        </p:tgtEl>
                                        <p:attrNameLst>
                                          <p:attrName>ppt_x</p:attrName>
                                        </p:attrNameLst>
                                      </p:cBhvr>
                                      <p:tavLst>
                                        <p:tav tm="0">
                                          <p:val>
                                            <p:strVal val="#ppt_x"/>
                                          </p:val>
                                        </p:tav>
                                        <p:tav tm="100000">
                                          <p:val>
                                            <p:strVal val="#ppt_x"/>
                                          </p:val>
                                        </p:tav>
                                      </p:tavLst>
                                    </p:anim>
                                    <p:anim calcmode="lin" valueType="num">
                                      <p:cBhvr>
                                        <p:cTn id="52" dur="750" decel="10000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02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ppt_x</p:attrName>
                                        </p:attrNameLst>
                                      </p:cBhvr>
                                      <p:tavLst>
                                        <p:tav tm="0">
                                          <p:val>
                                            <p:strVal val="#ppt_x"/>
                                          </p:val>
                                        </p:tav>
                                        <p:tav tm="100000">
                                          <p:val>
                                            <p:strVal val="#ppt_x"/>
                                          </p:val>
                                        </p:tav>
                                      </p:tavLst>
                                    </p:anim>
                                    <p:anim calcmode="lin" valueType="num">
                                      <p:cBhvr>
                                        <p:cTn id="57" dur="750" decel="10000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1075"/>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750"/>
                                        <p:tgtEl>
                                          <p:spTgt spid="17"/>
                                        </p:tgtEl>
                                      </p:cBhvr>
                                    </p:animEffect>
                                    <p:anim calcmode="lin" valueType="num">
                                      <p:cBhvr>
                                        <p:cTn id="61" dur="750" fill="hold"/>
                                        <p:tgtEl>
                                          <p:spTgt spid="17"/>
                                        </p:tgtEl>
                                        <p:attrNameLst>
                                          <p:attrName>ppt_x</p:attrName>
                                        </p:attrNameLst>
                                      </p:cBhvr>
                                      <p:tavLst>
                                        <p:tav tm="0">
                                          <p:val>
                                            <p:strVal val="#ppt_x"/>
                                          </p:val>
                                        </p:tav>
                                        <p:tav tm="100000">
                                          <p:val>
                                            <p:strVal val="#ppt_x"/>
                                          </p:val>
                                        </p:tav>
                                      </p:tavLst>
                                    </p:anim>
                                    <p:anim calcmode="lin" valueType="num">
                                      <p:cBhvr>
                                        <p:cTn id="62" dur="750" decel="100000" fill="hold"/>
                                        <p:tgtEl>
                                          <p:spTgt spid="17"/>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124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750"/>
                                        <p:tgtEl>
                                          <p:spTgt spid="18"/>
                                        </p:tgtEl>
                                      </p:cBhvr>
                                    </p:animEffect>
                                    <p:anim calcmode="lin" valueType="num">
                                      <p:cBhvr>
                                        <p:cTn id="66" dur="750" fill="hold"/>
                                        <p:tgtEl>
                                          <p:spTgt spid="18"/>
                                        </p:tgtEl>
                                        <p:attrNameLst>
                                          <p:attrName>ppt_x</p:attrName>
                                        </p:attrNameLst>
                                      </p:cBhvr>
                                      <p:tavLst>
                                        <p:tav tm="0">
                                          <p:val>
                                            <p:strVal val="#ppt_x"/>
                                          </p:val>
                                        </p:tav>
                                        <p:tav tm="100000">
                                          <p:val>
                                            <p:strVal val="#ppt_x"/>
                                          </p:val>
                                        </p:tav>
                                      </p:tavLst>
                                    </p:anim>
                                    <p:anim calcmode="lin" valueType="num">
                                      <p:cBhvr>
                                        <p:cTn id="67" dur="750" decel="10000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1295"/>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750"/>
                                        <p:tgtEl>
                                          <p:spTgt spid="19"/>
                                        </p:tgtEl>
                                      </p:cBhvr>
                                    </p:animEffect>
                                    <p:anim calcmode="lin" valueType="num">
                                      <p:cBhvr>
                                        <p:cTn id="71" dur="750" fill="hold"/>
                                        <p:tgtEl>
                                          <p:spTgt spid="19"/>
                                        </p:tgtEl>
                                        <p:attrNameLst>
                                          <p:attrName>ppt_x</p:attrName>
                                        </p:attrNameLst>
                                      </p:cBhvr>
                                      <p:tavLst>
                                        <p:tav tm="0">
                                          <p:val>
                                            <p:strVal val="#ppt_x"/>
                                          </p:val>
                                        </p:tav>
                                        <p:tav tm="100000">
                                          <p:val>
                                            <p:strVal val="#ppt_x"/>
                                          </p:val>
                                        </p:tav>
                                      </p:tavLst>
                                    </p:anim>
                                    <p:anim calcmode="lin" valueType="num">
                                      <p:cBhvr>
                                        <p:cTn id="72" dur="750" decel="100000" fill="hold"/>
                                        <p:tgtEl>
                                          <p:spTgt spid="19"/>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135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750"/>
                                        <p:tgtEl>
                                          <p:spTgt spid="20"/>
                                        </p:tgtEl>
                                      </p:cBhvr>
                                    </p:animEffect>
                                    <p:anim calcmode="lin" valueType="num">
                                      <p:cBhvr>
                                        <p:cTn id="76" dur="750" fill="hold"/>
                                        <p:tgtEl>
                                          <p:spTgt spid="20"/>
                                        </p:tgtEl>
                                        <p:attrNameLst>
                                          <p:attrName>ppt_x</p:attrName>
                                        </p:attrNameLst>
                                      </p:cBhvr>
                                      <p:tavLst>
                                        <p:tav tm="0">
                                          <p:val>
                                            <p:strVal val="#ppt_x"/>
                                          </p:val>
                                        </p:tav>
                                        <p:tav tm="100000">
                                          <p:val>
                                            <p:strVal val="#ppt_x"/>
                                          </p:val>
                                        </p:tav>
                                      </p:tavLst>
                                    </p:anim>
                                    <p:anim calcmode="lin" valueType="num">
                                      <p:cBhvr>
                                        <p:cTn id="77" dur="750" decel="100000" fill="hold"/>
                                        <p:tgtEl>
                                          <p:spTgt spid="20"/>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1405"/>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750"/>
                                        <p:tgtEl>
                                          <p:spTgt spid="21"/>
                                        </p:tgtEl>
                                      </p:cBhvr>
                                    </p:animEffect>
                                    <p:anim calcmode="lin" valueType="num">
                                      <p:cBhvr>
                                        <p:cTn id="81" dur="750" fill="hold"/>
                                        <p:tgtEl>
                                          <p:spTgt spid="21"/>
                                        </p:tgtEl>
                                        <p:attrNameLst>
                                          <p:attrName>ppt_x</p:attrName>
                                        </p:attrNameLst>
                                      </p:cBhvr>
                                      <p:tavLst>
                                        <p:tav tm="0">
                                          <p:val>
                                            <p:strVal val="#ppt_x"/>
                                          </p:val>
                                        </p:tav>
                                        <p:tav tm="100000">
                                          <p:val>
                                            <p:strVal val="#ppt_x"/>
                                          </p:val>
                                        </p:tav>
                                      </p:tavLst>
                                    </p:anim>
                                    <p:anim calcmode="lin" valueType="num">
                                      <p:cBhvr>
                                        <p:cTn id="82" dur="750" decel="100000" fill="hold"/>
                                        <p:tgtEl>
                                          <p:spTgt spid="21"/>
                                        </p:tgtEl>
                                        <p:attrNameLst>
                                          <p:attrName>ppt_y</p:attrName>
                                        </p:attrNameLst>
                                      </p:cBhvr>
                                      <p:tavLst>
                                        <p:tav tm="0">
                                          <p:val>
                                            <p:strVal val="#ppt_y+.06"/>
                                          </p:val>
                                        </p:tav>
                                        <p:tav tm="100000">
                                          <p:val>
                                            <p:strVal val="#ppt_y"/>
                                          </p:val>
                                        </p:tav>
                                      </p:tavLst>
                                    </p:anim>
                                  </p:childTnLst>
                                </p:cTn>
                              </p:par>
                              <p:par>
                                <p:cTn id="88" presetID="53" presetClass="entr" presetSubtype="16" fill="hold" grpId="0" nodeType="withEffect">
                                  <p:stCondLst>
                                    <p:cond delay="1570"/>
                                  </p:stCondLst>
                                  <p:childTnLst>
                                    <p:set>
                                      <p:cBhvr>
                                        <p:cTn id="84" dur="1" fill="hold">
                                          <p:stCondLst>
                                            <p:cond delay="0"/>
                                          </p:stCondLst>
                                        </p:cTn>
                                        <p:tgtEl>
                                          <p:spTgt spid="22"/>
                                        </p:tgtEl>
                                        <p:attrNameLst>
                                          <p:attrName>style.visibility</p:attrName>
                                        </p:attrNameLst>
                                      </p:cBhvr>
                                      <p:to>
                                        <p:strVal val="visible"/>
                                      </p:to>
                                    </p:set>
                                    <p:anim calcmode="lin" valueType="num">
                                      <p:cBhvr>
                                        <p:cTn id="85" dur="700" decel="100000" fill="hold"/>
                                        <p:tgtEl>
                                          <p:spTgt spid="22"/>
                                        </p:tgtEl>
                                        <p:attrNameLst>
                                          <p:attrName>ppt_w</p:attrName>
                                        </p:attrNameLst>
                                      </p:cBhvr>
                                      <p:tavLst>
                                        <p:tav tm="0">
                                          <p:val>
                                            <p:strVal val="0"/>
                                          </p:val>
                                        </p:tav>
                                        <p:tav tm="100000">
                                          <p:val>
                                            <p:strVal val="#ppt_w"/>
                                          </p:val>
                                        </p:tav>
                                      </p:tavLst>
                                    </p:anim>
                                    <p:anim calcmode="lin" valueType="num">
                                      <p:cBhvr>
                                        <p:cTn id="86" dur="700" decel="100000" fill="hold"/>
                                        <p:tgtEl>
                                          <p:spTgt spid="22"/>
                                        </p:tgtEl>
                                        <p:attrNameLst>
                                          <p:attrName>ppt_h</p:attrName>
                                        </p:attrNameLst>
                                      </p:cBhvr>
                                      <p:tavLst>
                                        <p:tav tm="0">
                                          <p:val>
                                            <p:strVal val="0"/>
                                          </p:val>
                                        </p:tav>
                                        <p:tav tm="100000">
                                          <p:val>
                                            <p:strVal val="#ppt_h"/>
                                          </p:val>
                                        </p:tav>
                                      </p:tavLst>
                                    </p:anim>
                                    <p:animEffect transition="in" filter="fade">
                                      <p:cBhvr>
                                        <p:cTn id="87" dur="700"/>
                                        <p:tgtEl>
                                          <p:spTgt spid="22"/>
                                        </p:tgtEl>
                                      </p:cBhvr>
                                    </p:animEffect>
                                  </p:childTnLst>
                                </p:cTn>
                              </p:par>
                              <p:par>
                                <p:cTn id="93" presetID="53" presetClass="entr" presetSubtype="16" fill="hold" grpId="0" nodeType="withEffect">
                                  <p:stCondLst>
                                    <p:cond delay="1625"/>
                                  </p:stCondLst>
                                  <p:childTnLst>
                                    <p:set>
                                      <p:cBhvr>
                                        <p:cTn id="89" dur="1" fill="hold">
                                          <p:stCondLst>
                                            <p:cond delay="0"/>
                                          </p:stCondLst>
                                        </p:cTn>
                                        <p:tgtEl>
                                          <p:spTgt spid="23"/>
                                        </p:tgtEl>
                                        <p:attrNameLst>
                                          <p:attrName>style.visibility</p:attrName>
                                        </p:attrNameLst>
                                      </p:cBhvr>
                                      <p:to>
                                        <p:strVal val="visible"/>
                                      </p:to>
                                    </p:set>
                                    <p:anim calcmode="lin" valueType="num">
                                      <p:cBhvr>
                                        <p:cTn id="90" dur="700" decel="100000" fill="hold"/>
                                        <p:tgtEl>
                                          <p:spTgt spid="23"/>
                                        </p:tgtEl>
                                        <p:attrNameLst>
                                          <p:attrName>ppt_w</p:attrName>
                                        </p:attrNameLst>
                                      </p:cBhvr>
                                      <p:tavLst>
                                        <p:tav tm="0">
                                          <p:val>
                                            <p:strVal val="0"/>
                                          </p:val>
                                        </p:tav>
                                        <p:tav tm="100000">
                                          <p:val>
                                            <p:strVal val="#ppt_w"/>
                                          </p:val>
                                        </p:tav>
                                      </p:tavLst>
                                    </p:anim>
                                    <p:anim calcmode="lin" valueType="num">
                                      <p:cBhvr>
                                        <p:cTn id="91" dur="700" decel="100000" fill="hold"/>
                                        <p:tgtEl>
                                          <p:spTgt spid="23"/>
                                        </p:tgtEl>
                                        <p:attrNameLst>
                                          <p:attrName>ppt_h</p:attrName>
                                        </p:attrNameLst>
                                      </p:cBhvr>
                                      <p:tavLst>
                                        <p:tav tm="0">
                                          <p:val>
                                            <p:strVal val="0"/>
                                          </p:val>
                                        </p:tav>
                                        <p:tav tm="100000">
                                          <p:val>
                                            <p:strVal val="#ppt_h"/>
                                          </p:val>
                                        </p:tav>
                                      </p:tavLst>
                                    </p:anim>
                                    <p:animEffect transition="in" filter="fade">
                                      <p:cBhvr>
                                        <p:cTn id="92" dur="700"/>
                                        <p:tgtEl>
                                          <p:spTgt spid="23"/>
                                        </p:tgtEl>
                                      </p:cBhvr>
                                    </p:animEffect>
                                  </p:childTnLst>
                                </p:cTn>
                              </p:par>
                              <p:par>
                                <p:cTn id="96" presetID="10" presetClass="entr" presetSubtype="0" fill="hold" grpId="0" nodeType="withEffect">
                                  <p:stCondLst>
                                    <p:cond delay="190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6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8778240" y="3291840"/>
            <a:ext cx="5486400" cy="548640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DATA MINIMIZATION</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Share the least that still gets the job done</a:t>
            </a:r>
            <a:endParaRPr lang="en-US" sz="3400" dirty="0"/>
          </a:p>
        </p:txBody>
      </p:sp>
      <p:graphicFrame>
        <p:nvGraphicFramePr>
          <p:cNvPr id="6" name="anim-1-fade-table"/>
          <p:cNvGraphicFramePr>
            <a:graphicFrameLocks noGrp="1"/>
          </p:cNvGraphicFramePr>
          <p:nvPr>
            <p:extLst>
              <p:ext uri="{D42A27DB-BD31-4B8C-83A1-F6EECF244321}">
                <p14:modId xmlns:p14="http://schemas.microsoft.com/office/powerpoint/2010/main" val="1579011935"/>
              </p:ext>
            </p:extLst>
          </p:nvPr>
        </p:nvGraphicFramePr>
        <p:xfrm>
          <a:off x="548640" y="1737360"/>
          <a:ext cx="7818120" cy="914400"/>
        </p:xfrm>
        <a:graphic>
          <a:graphicData uri="http://schemas.openxmlformats.org/drawingml/2006/table">
            <a:tbl>
              <a:tblPr/>
              <a:tblGrid>
                <a:gridCol w="1325880"/>
                <a:gridCol w="2194560"/>
                <a:gridCol w="2514600"/>
                <a:gridCol w="1783080"/>
              </a:tblGrid>
              <a:tr h="457200">
                <a:tc>
                  <a:txBody>
                    <a:bodyPr/>
                    <a:lstStyle/>
                    <a:p>
                      <a:pPr indent="0" marL="0">
                        <a:buNone/>
                      </a:pPr>
                      <a:r>
                        <a:rPr lang="en-US" sz="1200" b="1" dirty="0">
                          <a:solidFill>
                            <a:srgbClr val="EFA56F"/>
                          </a:solidFill>
                        </a:rPr>
                        <a:t>Your data</a:t>
                      </a:r>
                      <a:endParaRPr lang="en-US" sz="12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241A12"/>
                    </a:solidFill>
                  </a:tcPr>
                </a:tc>
                <a:tc>
                  <a:txBody>
                    <a:bodyPr/>
                    <a:lstStyle/>
                    <a:p>
                      <a:pPr indent="0" marL="0">
                        <a:buNone/>
                      </a:pPr>
                      <a:r>
                        <a:rPr lang="en-US" sz="1200" b="1" dirty="0">
                          <a:solidFill>
                            <a:srgbClr val="EFA56F"/>
                          </a:solidFill>
                        </a:rPr>
                        <a:t>In your vault</a:t>
                      </a:r>
                      <a:endParaRPr lang="en-US" sz="12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241A12"/>
                    </a:solidFill>
                  </a:tcPr>
                </a:tc>
                <a:tc>
                  <a:txBody>
                    <a:bodyPr/>
                    <a:lstStyle/>
                    <a:p>
                      <a:pPr indent="0" marL="0">
                        <a:buNone/>
                      </a:pPr>
                      <a:r>
                        <a:rPr lang="en-US" sz="1200" b="1" dirty="0">
                          <a:solidFill>
                            <a:srgbClr val="EFA56F"/>
                          </a:solidFill>
                        </a:rPr>
                        <a:t>What they actually get</a:t>
                      </a:r>
                      <a:endParaRPr lang="en-US" sz="12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241A12"/>
                    </a:solidFill>
                  </a:tcPr>
                </a:tc>
                <a:tc>
                  <a:txBody>
                    <a:bodyPr/>
                    <a:lstStyle/>
                    <a:p>
                      <a:pPr indent="0" marL="0">
                        <a:buNone/>
                      </a:pPr>
                      <a:r>
                        <a:rPr lang="en-US" sz="1200" b="1" dirty="0">
                          <a:solidFill>
                            <a:srgbClr val="EFA56F"/>
                          </a:solidFill>
                        </a:rPr>
                        <a:t>Recipient</a:t>
                      </a:r>
                      <a:endParaRPr lang="en-US" sz="12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241A12"/>
                    </a:solidFill>
                  </a:tcPr>
                </a:tc>
              </a:tr>
              <a:tr h="457200">
                <a:tc>
                  <a:txBody>
                    <a:bodyPr/>
                    <a:lstStyle/>
                    <a:p>
                      <a:pPr indent="0" marL="0">
                        <a:buNone/>
                      </a:pPr>
                      <a:r>
                        <a:rPr lang="en-US" sz="1300" b="1" dirty="0">
                          <a:solidFill>
                            <a:srgbClr val="FFFFFF"/>
                          </a:solidFill>
                        </a:rPr>
                        <a:t>Home GPS</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37.7612,-122.4148</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BF24"/>
                          </a:solidFill>
                          <a:latin typeface="Courier New" pitchFamily="34" charset="0"/>
                          <a:ea typeface="Courier New" pitchFamily="34" charset="-122"/>
                          <a:cs typeface="Courier New" pitchFamily="34" charset="-120"/>
                        </a:rPr>
                        <a:t>37.8,-122.4  (≈10 km)</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Open-Meteo, USGS</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r h="457200">
                <a:tc>
                  <a:txBody>
                    <a:bodyPr/>
                    <a:lstStyle/>
                    <a:p>
                      <a:pPr indent="0" marL="0">
                        <a:buNone/>
                      </a:pPr>
                      <a:r>
                        <a:rPr lang="en-US" sz="1300" b="1" dirty="0">
                          <a:solidFill>
                            <a:srgbClr val="FFFFFF"/>
                          </a:solidFill>
                        </a:rPr>
                        <a:t>Home address</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88 Larkspur Alley…</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BF24"/>
                          </a:solidFill>
                          <a:latin typeface="Courier New" pitchFamily="34" charset="0"/>
                          <a:ea typeface="Courier New" pitchFamily="34" charset="-122"/>
                          <a:cs typeface="Courier New" pitchFamily="34" charset="-120"/>
                        </a:rPr>
                        <a:t>Mission District, SF</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BiteFinder</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r h="457200">
                <a:tc>
                  <a:txBody>
                    <a:bodyPr/>
                    <a:lstStyle/>
                    <a:p>
                      <a:pPr indent="0" marL="0">
                        <a:buNone/>
                      </a:pPr>
                      <a:r>
                        <a:rPr lang="en-US" sz="1300" b="1" dirty="0">
                          <a:solidFill>
                            <a:srgbClr val="FFFFFF"/>
                          </a:solidFill>
                        </a:rPr>
                        <a:t>Phone</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(415) 555-0142</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BF24"/>
                          </a:solidFill>
                          <a:latin typeface="Courier New" pitchFamily="34" charset="0"/>
                          <a:ea typeface="Courier New" pitchFamily="34" charset="-122"/>
                          <a:cs typeface="Courier New" pitchFamily="34" charset="-120"/>
                        </a:rPr>
                        <a:t>+1 (628) 555-0606 relay</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TableTap</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r h="457200">
                <a:tc>
                  <a:txBody>
                    <a:bodyPr/>
                    <a:lstStyle/>
                    <a:p>
                      <a:pPr indent="0" marL="0">
                        <a:buNone/>
                      </a:pPr>
                      <a:r>
                        <a:rPr lang="en-US" sz="1300" b="1" dirty="0">
                          <a:solidFill>
                            <a:srgbClr val="FFFFFF"/>
                          </a:solidFill>
                        </a:rPr>
                        <a:t>Card</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 4242</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BF24"/>
                          </a:solidFill>
                          <a:latin typeface="Courier New" pitchFamily="34" charset="0"/>
                          <a:ea typeface="Courier New" pitchFamily="34" charset="-122"/>
                          <a:cs typeface="Courier New" pitchFamily="34" charset="-120"/>
                        </a:rPr>
                        <a:t>single-use virtual card</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TableTap</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r h="457200">
                <a:tc>
                  <a:txBody>
                    <a:bodyPr/>
                    <a:lstStyle/>
                    <a:p>
                      <a:pPr indent="0" marL="0">
                        <a:buNone/>
                      </a:pPr>
                      <a:r>
                        <a:rPr lang="en-US" sz="1300" b="1" dirty="0">
                          <a:solidFill>
                            <a:srgbClr val="FFFFFF"/>
                          </a:solidFill>
                        </a:rPr>
                        <a:t>Birthday</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1991-04-12</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BF24"/>
                          </a:solidFill>
                          <a:latin typeface="Courier New" pitchFamily="34" charset="0"/>
                          <a:ea typeface="Courier New" pitchFamily="34" charset="-122"/>
                          <a:cs typeface="Courier New" pitchFamily="34" charset="-120"/>
                        </a:rPr>
                        <a:t>age 35–39</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QuickQuote</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r h="457200">
                <a:tc>
                  <a:txBody>
                    <a:bodyPr/>
                    <a:lstStyle/>
                    <a:p>
                      <a:pPr indent="0" marL="0">
                        <a:buNone/>
                      </a:pPr>
                      <a:r>
                        <a:rPr lang="en-US" sz="1300" b="1" dirty="0">
                          <a:solidFill>
                            <a:srgbClr val="FFFFFF"/>
                          </a:solidFill>
                        </a:rPr>
                        <a:t>Allergy</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Severe peanut allergy</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BF24"/>
                          </a:solidFill>
                          <a:latin typeface="Courier New" pitchFamily="34" charset="0"/>
                          <a:ea typeface="Courier New" pitchFamily="34" charset="-122"/>
                          <a:cs typeface="Courier New" pitchFamily="34" charset="-120"/>
                        </a:rPr>
                        <a:t>Peanut-free meal required</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TableTap</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r h="457200">
                <a:tc>
                  <a:txBody>
                    <a:bodyPr/>
                    <a:lstStyle/>
                    <a:p>
                      <a:pPr indent="0" marL="0">
                        <a:buNone/>
                      </a:pPr>
                      <a:r>
                        <a:rPr lang="en-US" sz="1300" b="1" dirty="0">
                          <a:solidFill>
                            <a:srgbClr val="FFFFFF"/>
                          </a:solidFill>
                        </a:rPr>
                        <a:t>Medication</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Albuterol (ProAir)</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BF24"/>
                          </a:solidFill>
                          <a:latin typeface="Courier New" pitchFamily="34" charset="0"/>
                          <a:ea typeface="Courier New" pitchFamily="34" charset="-122"/>
                          <a:cs typeface="Courier New" pitchFamily="34" charset="-120"/>
                        </a:rPr>
                        <a:t>albuterol</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openFDA</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r h="457200">
                <a:tc>
                  <a:txBody>
                    <a:bodyPr/>
                    <a:lstStyle/>
                    <a:p>
                      <a:pPr indent="0" marL="0">
                        <a:buNone/>
                      </a:pPr>
                      <a:r>
                        <a:rPr lang="en-US" sz="1300" b="1" dirty="0">
                          <a:solidFill>
                            <a:srgbClr val="FFFFFF"/>
                          </a:solidFill>
                        </a:rPr>
                        <a:t>SSN</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dirty="0">
                          <a:solidFill>
                            <a:srgbClr val="A7A196"/>
                          </a:solidFill>
                          <a:latin typeface="Courier New" pitchFamily="34" charset="0"/>
                          <a:ea typeface="Courier New" pitchFamily="34" charset="-122"/>
                          <a:cs typeface="Courier New" pitchFamily="34" charset="-120"/>
                        </a:rPr>
                        <a:t>078-05-1120</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200" b="1" dirty="0">
                          <a:solidFill>
                            <a:srgbClr val="FB7185"/>
                          </a:solidFill>
                          <a:latin typeface="Courier New" pitchFamily="34" charset="0"/>
                          <a:ea typeface="Courier New" pitchFamily="34" charset="-122"/>
                          <a:cs typeface="Courier New" pitchFamily="34" charset="-120"/>
                        </a:rPr>
                        <a:t>never leaves</a:t>
                      </a:r>
                      <a:endParaRPr lang="en-US" sz="1200" dirty="0">
                        <a:latin typeface="Courier New" charset="0"/>
                        <a:ea typeface="Courier New" charset="0"/>
                        <a:cs typeface="Courier New" charset="0"/>
                      </a:endParaRPr>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c>
                  <a:txBody>
                    <a:bodyPr/>
                    <a:lstStyle/>
                    <a:p>
                      <a:pPr indent="0" marL="0">
                        <a:buNone/>
                      </a:pPr>
                      <a:r>
                        <a:rPr lang="en-US" sz="1300" dirty="0">
                          <a:solidFill>
                            <a:srgbClr val="CDC7BB"/>
                          </a:solidFill>
                        </a:rPr>
                        <a:t>anyone</a:t>
                      </a:r>
                      <a:endParaRPr lang="en-US" sz="1300" dirty="0"/>
                    </a:p>
                  </a:txBody>
                  <a:tcPr marL="109728" marR="91440" marT="0" marB="0" anchor="ctr">
                    <a:lnL w="9525" cap="flat" cmpd="sng" algn="ctr">
                      <a:solidFill>
                        <a:srgbClr val="33342E"/>
                      </a:solidFill>
                      <a:prstDash val="solid"/>
                      <a:round/>
                      <a:headEnd type="none" w="med" len="med"/>
                      <a:tailEnd type="none" w="med" len="med"/>
                    </a:lnL>
                    <a:lnR w="9525" cap="flat" cmpd="sng" algn="ctr">
                      <a:solidFill>
                        <a:srgbClr val="33342E"/>
                      </a:solidFill>
                      <a:prstDash val="solid"/>
                      <a:round/>
                      <a:headEnd type="none" w="med" len="med"/>
                      <a:tailEnd type="none" w="med" len="med"/>
                    </a:lnR>
                    <a:lnT w="9525" cap="flat" cmpd="sng" algn="ctr">
                      <a:solidFill>
                        <a:srgbClr val="33342E"/>
                      </a:solidFill>
                      <a:prstDash val="solid"/>
                      <a:round/>
                      <a:headEnd type="none" w="med" len="med"/>
                      <a:tailEnd type="none" w="med" len="med"/>
                    </a:lnT>
                    <a:lnB w="9525" cap="flat" cmpd="sng" algn="ctr">
                      <a:solidFill>
                        <a:srgbClr val="33342E"/>
                      </a:solidFill>
                      <a:prstDash val="solid"/>
                      <a:round/>
                      <a:headEnd type="none" w="med" len="med"/>
                      <a:tailEnd type="none" w="med" len="med"/>
                    </a:lnB>
                    <a:solidFill>
                      <a:srgbClr val="1A1B17"/>
                    </a:solidFill>
                  </a:tcPr>
                </a:tc>
              </a:tr>
            </a:tbl>
          </a:graphicData>
        </a:graphic>
      </p:graphicFrame>
      <p:sp>
        <p:nvSpPr>
          <p:cNvPr id="7" name="anim-2-zoom-call"/>
          <p:cNvSpPr/>
          <p:nvPr/>
        </p:nvSpPr>
        <p:spPr>
          <a:xfrm>
            <a:off x="8732520" y="1737360"/>
            <a:ext cx="2926080" cy="4114800"/>
          </a:xfrm>
          <a:prstGeom prst="roundRect">
            <a:avLst>
              <a:gd name="adj" fmla="val 4375"/>
            </a:avLst>
          </a:prstGeom>
          <a:solidFill>
            <a:srgbClr val="1A1B17">
              <a:alpha val="92000"/>
            </a:srgbClr>
          </a:solidFill>
          <a:ln w="12700">
            <a:solidFill>
              <a:srgbClr val="FBBF24"/>
            </a:solidFill>
            <a:prstDash val="solid"/>
          </a:ln>
        </p:spPr>
      </p:sp>
      <p:sp>
        <p:nvSpPr>
          <p:cNvPr id="8" name="anim-2-zoom-ct"/>
          <p:cNvSpPr txBox="1"/>
          <p:nvPr/>
        </p:nvSpPr>
        <p:spPr>
          <a:xfrm>
            <a:off x="9006840" y="1965960"/>
            <a:ext cx="2423160" cy="1005840"/>
          </a:xfrm>
          <a:prstGeom prst="rect">
            <a:avLst/>
          </a:prstGeom>
          <a:noFill/>
          <a:ln/>
        </p:spPr>
        <p:txBody>
          <a:bodyPr wrap="square" lIns="0" tIns="0" rIns="0" bIns="0" rtlCol="0" anchor="t"/>
          <a:lstStyle/>
          <a:p>
            <a:pPr indent="0" marL="0">
              <a:buNone/>
            </a:pPr>
            <a:r>
              <a:rPr lang="en-US" sz="1500" b="1" dirty="0">
                <a:solidFill>
                  <a:srgbClr val="FFFFFF"/>
                </a:solidFill>
              </a:rPr>
              <a:t>QuickQuote asked for 8 fields to give a car-insurance quote.</a:t>
            </a:r>
            <a:endParaRPr lang="en-US" sz="1500" dirty="0"/>
          </a:p>
        </p:txBody>
      </p:sp>
      <p:sp>
        <p:nvSpPr>
          <p:cNvPr id="9" name="anim-3-rise-sn0"/>
          <p:cNvSpPr txBox="1"/>
          <p:nvPr/>
        </p:nvSpPr>
        <p:spPr>
          <a:xfrm>
            <a:off x="9006840" y="3063240"/>
            <a:ext cx="640080" cy="640080"/>
          </a:xfrm>
          <a:prstGeom prst="rect">
            <a:avLst/>
          </a:prstGeom>
          <a:noFill/>
          <a:ln/>
        </p:spPr>
        <p:txBody>
          <a:bodyPr wrap="square" lIns="0" tIns="0" rIns="0" bIns="0" rtlCol="0" anchor="ctr"/>
          <a:lstStyle/>
          <a:p>
            <a:pPr indent="0" marL="0">
              <a:buNone/>
            </a:pPr>
            <a:r>
              <a:rPr lang="en-US" sz="4000" b="1" dirty="0">
                <a:solidFill>
                  <a:srgbClr val="34D399"/>
                </a:solidFill>
              </a:rPr>
              <a:t>2</a:t>
            </a:r>
            <a:endParaRPr lang="en-US" sz="4000" dirty="0"/>
          </a:p>
        </p:txBody>
      </p:sp>
      <p:sp>
        <p:nvSpPr>
          <p:cNvPr id="10" name="anim-3-rise-sl0"/>
          <p:cNvSpPr txBox="1"/>
          <p:nvPr/>
        </p:nvSpPr>
        <p:spPr>
          <a:xfrm>
            <a:off x="9692640" y="3063240"/>
            <a:ext cx="1828800" cy="640080"/>
          </a:xfrm>
          <a:prstGeom prst="rect">
            <a:avLst/>
          </a:prstGeom>
          <a:noFill/>
          <a:ln/>
        </p:spPr>
        <p:txBody>
          <a:bodyPr wrap="square" lIns="0" tIns="0" rIns="0" bIns="0" rtlCol="0" anchor="ctr"/>
          <a:lstStyle/>
          <a:p>
            <a:pPr indent="0" marL="0">
              <a:buNone/>
            </a:pPr>
            <a:r>
              <a:rPr lang="en-US" sz="1400" dirty="0">
                <a:solidFill>
                  <a:srgbClr val="CDC7BB"/>
                </a:solidFill>
              </a:rPr>
              <a:t>exact (with your OK)</a:t>
            </a:r>
            <a:endParaRPr lang="en-US" sz="1400" dirty="0"/>
          </a:p>
        </p:txBody>
      </p:sp>
      <p:sp>
        <p:nvSpPr>
          <p:cNvPr id="11" name="anim-3-rise-sn1"/>
          <p:cNvSpPr txBox="1"/>
          <p:nvPr/>
        </p:nvSpPr>
        <p:spPr>
          <a:xfrm>
            <a:off x="9006840" y="3776472"/>
            <a:ext cx="640080" cy="640080"/>
          </a:xfrm>
          <a:prstGeom prst="rect">
            <a:avLst/>
          </a:prstGeom>
          <a:noFill/>
          <a:ln/>
        </p:spPr>
        <p:txBody>
          <a:bodyPr wrap="square" lIns="0" tIns="0" rIns="0" bIns="0" rtlCol="0" anchor="ctr"/>
          <a:lstStyle/>
          <a:p>
            <a:pPr indent="0" marL="0">
              <a:buNone/>
            </a:pPr>
            <a:r>
              <a:rPr lang="en-US" sz="4000" b="1" dirty="0">
                <a:solidFill>
                  <a:srgbClr val="FBBF24"/>
                </a:solidFill>
              </a:rPr>
              <a:t>4</a:t>
            </a:r>
            <a:endParaRPr lang="en-US" sz="4000" dirty="0"/>
          </a:p>
        </p:txBody>
      </p:sp>
      <p:sp>
        <p:nvSpPr>
          <p:cNvPr id="12" name="anim-3-rise-sl1"/>
          <p:cNvSpPr txBox="1"/>
          <p:nvPr/>
        </p:nvSpPr>
        <p:spPr>
          <a:xfrm>
            <a:off x="9692640" y="3776472"/>
            <a:ext cx="1828800" cy="640080"/>
          </a:xfrm>
          <a:prstGeom prst="rect">
            <a:avLst/>
          </a:prstGeom>
          <a:noFill/>
          <a:ln/>
        </p:spPr>
        <p:txBody>
          <a:bodyPr wrap="square" lIns="0" tIns="0" rIns="0" bIns="0" rtlCol="0" anchor="ctr"/>
          <a:lstStyle/>
          <a:p>
            <a:pPr indent="0" marL="0">
              <a:buNone/>
            </a:pPr>
            <a:r>
              <a:rPr lang="en-US" sz="1400" dirty="0">
                <a:solidFill>
                  <a:srgbClr val="CDC7BB"/>
                </a:solidFill>
              </a:rPr>
              <a:t>minimized</a:t>
            </a:r>
            <a:endParaRPr lang="en-US" sz="1400" dirty="0"/>
          </a:p>
        </p:txBody>
      </p:sp>
      <p:sp>
        <p:nvSpPr>
          <p:cNvPr id="13" name="anim-3-rise-sn2"/>
          <p:cNvSpPr txBox="1"/>
          <p:nvPr/>
        </p:nvSpPr>
        <p:spPr>
          <a:xfrm>
            <a:off x="9006840" y="4489704"/>
            <a:ext cx="640080" cy="640080"/>
          </a:xfrm>
          <a:prstGeom prst="rect">
            <a:avLst/>
          </a:prstGeom>
          <a:noFill/>
          <a:ln/>
        </p:spPr>
        <p:txBody>
          <a:bodyPr wrap="square" lIns="0" tIns="0" rIns="0" bIns="0" rtlCol="0" anchor="ctr"/>
          <a:lstStyle/>
          <a:p>
            <a:pPr indent="0" marL="0">
              <a:buNone/>
            </a:pPr>
            <a:r>
              <a:rPr lang="en-US" sz="4000" b="1" dirty="0">
                <a:solidFill>
                  <a:srgbClr val="FB7185"/>
                </a:solidFill>
              </a:rPr>
              <a:t>2</a:t>
            </a:r>
            <a:endParaRPr lang="en-US" sz="4000" dirty="0"/>
          </a:p>
        </p:txBody>
      </p:sp>
      <p:sp>
        <p:nvSpPr>
          <p:cNvPr id="14" name="anim-3-rise-sl2"/>
          <p:cNvSpPr txBox="1"/>
          <p:nvPr/>
        </p:nvSpPr>
        <p:spPr>
          <a:xfrm>
            <a:off x="9692640" y="4489704"/>
            <a:ext cx="1828800" cy="640080"/>
          </a:xfrm>
          <a:prstGeom prst="rect">
            <a:avLst/>
          </a:prstGeom>
          <a:noFill/>
          <a:ln/>
        </p:spPr>
        <p:txBody>
          <a:bodyPr wrap="square" lIns="0" tIns="0" rIns="0" bIns="0" rtlCol="0" anchor="ctr"/>
          <a:lstStyle/>
          <a:p>
            <a:pPr indent="0" marL="0">
              <a:buNone/>
            </a:pPr>
            <a:r>
              <a:rPr lang="en-US" sz="1400" dirty="0">
                <a:solidFill>
                  <a:srgbClr val="CDC7BB"/>
                </a:solidFill>
              </a:rPr>
              <a:t>withheld</a:t>
            </a:r>
            <a:endParaRPr lang="en-US" sz="1400" dirty="0"/>
          </a:p>
        </p:txBody>
      </p:sp>
      <p:sp>
        <p:nvSpPr>
          <p:cNvPr id="15" name="anim-4-fade-cq"/>
          <p:cNvSpPr txBox="1"/>
          <p:nvPr/>
        </p:nvSpPr>
        <p:spPr>
          <a:xfrm>
            <a:off x="9006840" y="5212080"/>
            <a:ext cx="2468880" cy="548640"/>
          </a:xfrm>
          <a:prstGeom prst="rect">
            <a:avLst/>
          </a:prstGeom>
          <a:noFill/>
          <a:ln/>
        </p:spPr>
        <p:txBody>
          <a:bodyPr wrap="square" lIns="0" tIns="0" rIns="0" bIns="0" rtlCol="0" anchor="t"/>
          <a:lstStyle/>
          <a:p>
            <a:pPr indent="0" marL="0">
              <a:buNone/>
            </a:pPr>
            <a:r>
              <a:rPr lang="en-US" sz="1300" i="1" dirty="0">
                <a:solidFill>
                  <a:srgbClr val="A7A196"/>
                </a:solidFill>
              </a:rPr>
              <a:t>The quote still came back. They never needed your SSN.</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0" fill="hold">
                            <p:stCondLst>
                              <p:cond delay="0"/>
                            </p:stCondLst>
                            <p:childTnLst>
                              <p:par>
                                <p:cTn id="6" presetID="10" presetClass="entr" presetSubtype="0"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650"/>
                                        <p:tgtEl>
                                          <p:spTgt spid="6"/>
                                        </p:tgtEl>
                                      </p:cBhvr>
                                    </p:animEffect>
                                  </p:childTnLst>
                                </p:cTn>
                              </p:par>
                              <p:par>
                                <p:cTn id="11" presetID="53" presetClass="entr" presetSubtype="16" fill="hold" grpId="0" nodeType="withEffect">
                                  <p:stCondLst>
                                    <p:cond delay="580"/>
                                  </p:stCondLst>
                                  <p:childTnLst>
                                    <p:set>
                                      <p:cBhvr>
                                        <p:cTn id="7" dur="1" fill="hold">
                                          <p:stCondLst>
                                            <p:cond delay="0"/>
                                          </p:stCondLst>
                                        </p:cTn>
                                        <p:tgtEl>
                                          <p:spTgt spid="7"/>
                                        </p:tgtEl>
                                        <p:attrNameLst>
                                          <p:attrName>style.visibility</p:attrName>
                                        </p:attrNameLst>
                                      </p:cBhvr>
                                      <p:to>
                                        <p:strVal val="visible"/>
                                      </p:to>
                                    </p:set>
                                    <p:anim calcmode="lin" valueType="num">
                                      <p:cBhvr>
                                        <p:cTn id="8" dur="700" decel="100000" fill="hold"/>
                                        <p:tgtEl>
                                          <p:spTgt spid="7"/>
                                        </p:tgtEl>
                                        <p:attrNameLst>
                                          <p:attrName>ppt_w</p:attrName>
                                        </p:attrNameLst>
                                      </p:cBhvr>
                                      <p:tavLst>
                                        <p:tav tm="0">
                                          <p:val>
                                            <p:strVal val="0"/>
                                          </p:val>
                                        </p:tav>
                                        <p:tav tm="100000">
                                          <p:val>
                                            <p:strVal val="#ppt_w"/>
                                          </p:val>
                                        </p:tav>
                                      </p:tavLst>
                                    </p:anim>
                                    <p:anim calcmode="lin" valueType="num">
                                      <p:cBhvr>
                                        <p:cTn id="9" dur="700" decel="100000" fill="hold"/>
                                        <p:tgtEl>
                                          <p:spTgt spid="7"/>
                                        </p:tgtEl>
                                        <p:attrNameLst>
                                          <p:attrName>ppt_h</p:attrName>
                                        </p:attrNameLst>
                                      </p:cBhvr>
                                      <p:tavLst>
                                        <p:tav tm="0">
                                          <p:val>
                                            <p:strVal val="0"/>
                                          </p:val>
                                        </p:tav>
                                        <p:tav tm="100000">
                                          <p:val>
                                            <p:strVal val="#ppt_h"/>
                                          </p:val>
                                        </p:tav>
                                      </p:tavLst>
                                    </p:anim>
                                    <p:animEffect transition="in" filter="fade">
                                      <p:cBhvr>
                                        <p:cTn id="10" dur="700"/>
                                        <p:tgtEl>
                                          <p:spTgt spid="7"/>
                                        </p:tgtEl>
                                      </p:cBhvr>
                                    </p:animEffect>
                                  </p:childTnLst>
                                </p:cTn>
                              </p:par>
                              <p:par>
                                <p:cTn id="16" presetID="53" presetClass="entr" presetSubtype="16" fill="hold" grpId="0" nodeType="withEffect">
                                  <p:stCondLst>
                                    <p:cond delay="635"/>
                                  </p:stCondLst>
                                  <p:childTnLst>
                                    <p:set>
                                      <p:cBhvr>
                                        <p:cTn id="12" dur="1" fill="hold">
                                          <p:stCondLst>
                                            <p:cond delay="0"/>
                                          </p:stCondLst>
                                        </p:cTn>
                                        <p:tgtEl>
                                          <p:spTgt spid="8"/>
                                        </p:tgtEl>
                                        <p:attrNameLst>
                                          <p:attrName>style.visibility</p:attrName>
                                        </p:attrNameLst>
                                      </p:cBhvr>
                                      <p:to>
                                        <p:strVal val="visible"/>
                                      </p:to>
                                    </p:set>
                                    <p:anim calcmode="lin" valueType="num">
                                      <p:cBhvr>
                                        <p:cTn id="13" dur="700" decel="100000" fill="hold"/>
                                        <p:tgtEl>
                                          <p:spTgt spid="8"/>
                                        </p:tgtEl>
                                        <p:attrNameLst>
                                          <p:attrName>ppt_w</p:attrName>
                                        </p:attrNameLst>
                                      </p:cBhvr>
                                      <p:tavLst>
                                        <p:tav tm="0">
                                          <p:val>
                                            <p:strVal val="0"/>
                                          </p:val>
                                        </p:tav>
                                        <p:tav tm="100000">
                                          <p:val>
                                            <p:strVal val="#ppt_w"/>
                                          </p:val>
                                        </p:tav>
                                      </p:tavLst>
                                    </p:anim>
                                    <p:anim calcmode="lin" valueType="num">
                                      <p:cBhvr>
                                        <p:cTn id="14" dur="700" decel="100000" fill="hold"/>
                                        <p:tgtEl>
                                          <p:spTgt spid="8"/>
                                        </p:tgtEl>
                                        <p:attrNameLst>
                                          <p:attrName>ppt_h</p:attrName>
                                        </p:attrNameLst>
                                      </p:cBhvr>
                                      <p:tavLst>
                                        <p:tav tm="0">
                                          <p:val>
                                            <p:strVal val="0"/>
                                          </p:val>
                                        </p:tav>
                                        <p:tav tm="100000">
                                          <p:val>
                                            <p:strVal val="#ppt_h"/>
                                          </p:val>
                                        </p:tav>
                                      </p:tavLst>
                                    </p:anim>
                                    <p:animEffect transition="in" filter="fade">
                                      <p:cBhvr>
                                        <p:cTn id="15" dur="700"/>
                                        <p:tgtEl>
                                          <p:spTgt spid="8"/>
                                        </p:tgtEl>
                                      </p:cBhvr>
                                    </p:animEffect>
                                  </p:childTnLst>
                                </p:cTn>
                              </p:par>
                              <p:par>
                                <p:cTn id="21" presetID="42" presetClass="entr" presetSubtype="0" fill="hold" grpId="0" nodeType="withEffect">
                                  <p:stCondLst>
                                    <p:cond delay="91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50"/>
                                        <p:tgtEl>
                                          <p:spTgt spid="9"/>
                                        </p:tgtEl>
                                      </p:cBhvr>
                                    </p:animEffect>
                                    <p:anim calcmode="lin" valueType="num">
                                      <p:cBhvr>
                                        <p:cTn id="19" dur="750" fill="hold"/>
                                        <p:tgtEl>
                                          <p:spTgt spid="9"/>
                                        </p:tgtEl>
                                        <p:attrNameLst>
                                          <p:attrName>ppt_x</p:attrName>
                                        </p:attrNameLst>
                                      </p:cBhvr>
                                      <p:tavLst>
                                        <p:tav tm="0">
                                          <p:val>
                                            <p:strVal val="#ppt_x"/>
                                          </p:val>
                                        </p:tav>
                                        <p:tav tm="100000">
                                          <p:val>
                                            <p:strVal val="#ppt_x"/>
                                          </p:val>
                                        </p:tav>
                                      </p:tavLst>
                                    </p:anim>
                                    <p:anim calcmode="lin" valueType="num">
                                      <p:cBhvr>
                                        <p:cTn id="20" dur="750" decel="10000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965"/>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750"/>
                                        <p:tgtEl>
                                          <p:spTgt spid="10"/>
                                        </p:tgtEl>
                                      </p:cBhvr>
                                    </p:animEffect>
                                    <p:anim calcmode="lin" valueType="num">
                                      <p:cBhvr>
                                        <p:cTn id="24" dur="750" fill="hold"/>
                                        <p:tgtEl>
                                          <p:spTgt spid="10"/>
                                        </p:tgtEl>
                                        <p:attrNameLst>
                                          <p:attrName>ppt_x</p:attrName>
                                        </p:attrNameLst>
                                      </p:cBhvr>
                                      <p:tavLst>
                                        <p:tav tm="0">
                                          <p:val>
                                            <p:strVal val="#ppt_x"/>
                                          </p:val>
                                        </p:tav>
                                        <p:tav tm="100000">
                                          <p:val>
                                            <p:strVal val="#ppt_x"/>
                                          </p:val>
                                        </p:tav>
                                      </p:tavLst>
                                    </p:anim>
                                    <p:anim calcmode="lin" valueType="num">
                                      <p:cBhvr>
                                        <p:cTn id="25" dur="750" decel="100000" fill="hold"/>
                                        <p:tgtEl>
                                          <p:spTgt spid="10"/>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10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750"/>
                                        <p:tgtEl>
                                          <p:spTgt spid="11"/>
                                        </p:tgtEl>
                                      </p:cBhvr>
                                    </p:animEffect>
                                    <p:anim calcmode="lin" valueType="num">
                                      <p:cBhvr>
                                        <p:cTn id="29" dur="750" fill="hold"/>
                                        <p:tgtEl>
                                          <p:spTgt spid="11"/>
                                        </p:tgtEl>
                                        <p:attrNameLst>
                                          <p:attrName>ppt_x</p:attrName>
                                        </p:attrNameLst>
                                      </p:cBhvr>
                                      <p:tavLst>
                                        <p:tav tm="0">
                                          <p:val>
                                            <p:strVal val="#ppt_x"/>
                                          </p:val>
                                        </p:tav>
                                        <p:tav tm="100000">
                                          <p:val>
                                            <p:strVal val="#ppt_x"/>
                                          </p:val>
                                        </p:tav>
                                      </p:tavLst>
                                    </p:anim>
                                    <p:anim calcmode="lin" valueType="num">
                                      <p:cBhvr>
                                        <p:cTn id="30" dur="750" decel="10000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1075"/>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750"/>
                                        <p:tgtEl>
                                          <p:spTgt spid="12"/>
                                        </p:tgtEl>
                                      </p:cBhvr>
                                    </p:animEffect>
                                    <p:anim calcmode="lin" valueType="num">
                                      <p:cBhvr>
                                        <p:cTn id="34" dur="750" fill="hold"/>
                                        <p:tgtEl>
                                          <p:spTgt spid="12"/>
                                        </p:tgtEl>
                                        <p:attrNameLst>
                                          <p:attrName>ppt_x</p:attrName>
                                        </p:attrNameLst>
                                      </p:cBhvr>
                                      <p:tavLst>
                                        <p:tav tm="0">
                                          <p:val>
                                            <p:strVal val="#ppt_x"/>
                                          </p:val>
                                        </p:tav>
                                        <p:tav tm="100000">
                                          <p:val>
                                            <p:strVal val="#ppt_x"/>
                                          </p:val>
                                        </p:tav>
                                      </p:tavLst>
                                    </p:anim>
                                    <p:anim calcmode="lin" valueType="num">
                                      <p:cBhvr>
                                        <p:cTn id="35" dur="750" decel="10000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113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50"/>
                                        <p:tgtEl>
                                          <p:spTgt spid="13"/>
                                        </p:tgtEl>
                                      </p:cBhvr>
                                    </p:animEffect>
                                    <p:anim calcmode="lin" valueType="num">
                                      <p:cBhvr>
                                        <p:cTn id="39" dur="750" fill="hold"/>
                                        <p:tgtEl>
                                          <p:spTgt spid="13"/>
                                        </p:tgtEl>
                                        <p:attrNameLst>
                                          <p:attrName>ppt_x</p:attrName>
                                        </p:attrNameLst>
                                      </p:cBhvr>
                                      <p:tavLst>
                                        <p:tav tm="0">
                                          <p:val>
                                            <p:strVal val="#ppt_x"/>
                                          </p:val>
                                        </p:tav>
                                        <p:tav tm="100000">
                                          <p:val>
                                            <p:strVal val="#ppt_x"/>
                                          </p:val>
                                        </p:tav>
                                      </p:tavLst>
                                    </p:anim>
                                    <p:anim calcmode="lin" valueType="num">
                                      <p:cBhvr>
                                        <p:cTn id="40" dur="750" decel="100000" fill="hold"/>
                                        <p:tgtEl>
                                          <p:spTgt spid="13"/>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1185"/>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750"/>
                                        <p:tgtEl>
                                          <p:spTgt spid="14"/>
                                        </p:tgtEl>
                                      </p:cBhvr>
                                    </p:animEffect>
                                    <p:anim calcmode="lin" valueType="num">
                                      <p:cBhvr>
                                        <p:cTn id="44" dur="750" fill="hold"/>
                                        <p:tgtEl>
                                          <p:spTgt spid="14"/>
                                        </p:tgtEl>
                                        <p:attrNameLst>
                                          <p:attrName>ppt_x</p:attrName>
                                        </p:attrNameLst>
                                      </p:cBhvr>
                                      <p:tavLst>
                                        <p:tav tm="0">
                                          <p:val>
                                            <p:strVal val="#ppt_x"/>
                                          </p:val>
                                        </p:tav>
                                        <p:tav tm="100000">
                                          <p:val>
                                            <p:strVal val="#ppt_x"/>
                                          </p:val>
                                        </p:tav>
                                      </p:tavLst>
                                    </p:anim>
                                    <p:anim calcmode="lin" valueType="num">
                                      <p:cBhvr>
                                        <p:cTn id="45" dur="750" decel="100000" fill="hold"/>
                                        <p:tgtEl>
                                          <p:spTgt spid="14"/>
                                        </p:tgtEl>
                                        <p:attrNameLst>
                                          <p:attrName>ppt_y</p:attrName>
                                        </p:attrNameLst>
                                      </p:cBhvr>
                                      <p:tavLst>
                                        <p:tav tm="0">
                                          <p:val>
                                            <p:strVal val="#ppt_y+.06"/>
                                          </p:val>
                                        </p:tav>
                                        <p:tav tm="100000">
                                          <p:val>
                                            <p:strVal val="#ppt_y"/>
                                          </p:val>
                                        </p:tav>
                                      </p:tavLst>
                                    </p:anim>
                                  </p:childTnLst>
                                </p:cTn>
                              </p:par>
                              <p:par>
                                <p:cTn id="49" presetID="10" presetClass="entr" presetSubtype="0" fill="hold" grpId="0" nodeType="withEffect">
                                  <p:stCondLst>
                                    <p:cond delay="124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6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3200400" y="3474720"/>
            <a:ext cx="5486400" cy="548640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CONSENT &amp; PROOF</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Consent you can feel. Receipts you can verify</a:t>
            </a:r>
            <a:endParaRPr lang="en-US" sz="3400" dirty="0"/>
          </a:p>
        </p:txBody>
      </p:sp>
      <p:sp>
        <p:nvSpPr>
          <p:cNvPr id="6" name="anim-1-rise-consent-frame"/>
          <p:cNvSpPr/>
          <p:nvPr/>
        </p:nvSpPr>
        <p:spPr>
          <a:xfrm>
            <a:off x="539496" y="1682496"/>
            <a:ext cx="3721608" cy="4636008"/>
          </a:xfrm>
          <a:prstGeom prst="roundRect">
            <a:avLst>
              <a:gd name="adj" fmla="val 2948"/>
            </a:avLst>
          </a:prstGeom>
          <a:solidFill>
            <a:srgbClr val="1A1B17"/>
          </a:solidFill>
          <a:ln w="12700">
            <a:solidFill>
              <a:srgbClr val="3A3A33"/>
            </a:solidFill>
            <a:prstDash val="solid"/>
          </a:ln>
          <a:effectLst>
            <a:outerShdw sx="100000" sy="100000" kx="0" ky="0" algn="bl" rotWithShape="0" blurRad="304800" dist="50800" dir="5400000">
              <a:srgbClr val="EFA56F">
                <a:alpha val="22000"/>
              </a:srgbClr>
            </a:outerShdw>
          </a:effectLst>
        </p:spPr>
      </p:sp>
      <p:pic>
        <p:nvPicPr>
          <p:cNvPr id="7" name="anim-1-rise-consent" descr="media/consent-crop.png">    </p:cNvPr>
          <p:cNvPicPr>
            <a:picLocks noChangeAspect="1"/>
          </p:cNvPicPr>
          <p:nvPr/>
        </p:nvPicPr>
        <p:blipFill>
          <a:blip r:embed="rId3"/>
          <a:stretch>
            <a:fillRect/>
          </a:stretch>
        </p:blipFill>
        <p:spPr>
          <a:xfrm>
            <a:off x="594360" y="1737360"/>
            <a:ext cx="3611880" cy="4526280"/>
          </a:xfrm>
          <a:prstGeom prst="rect">
            <a:avLst/>
          </a:prstGeom>
        </p:spPr>
      </p:pic>
      <p:sp>
        <p:nvSpPr>
          <p:cNvPr id="8" name="anim-2-rise-receipt-frame"/>
          <p:cNvSpPr/>
          <p:nvPr/>
        </p:nvSpPr>
        <p:spPr>
          <a:xfrm>
            <a:off x="4471416" y="1545336"/>
            <a:ext cx="2395728" cy="4754880"/>
          </a:xfrm>
          <a:prstGeom prst="roundRect">
            <a:avLst>
              <a:gd name="adj" fmla="val 4580"/>
            </a:avLst>
          </a:prstGeom>
          <a:solidFill>
            <a:srgbClr val="1A1B17"/>
          </a:solidFill>
          <a:ln w="12700">
            <a:solidFill>
              <a:srgbClr val="3A3A33"/>
            </a:solidFill>
            <a:prstDash val="solid"/>
          </a:ln>
          <a:effectLst>
            <a:outerShdw sx="100000" sy="100000" kx="0" ky="0" algn="bl" rotWithShape="0" blurRad="304800" dist="50800" dir="5400000">
              <a:srgbClr val="EFA56F">
                <a:alpha val="22000"/>
              </a:srgbClr>
            </a:outerShdw>
          </a:effectLst>
        </p:spPr>
      </p:sp>
      <p:pic>
        <p:nvPicPr>
          <p:cNvPr id="9" name="anim-2-rise-receipt" descr="media/receipt-crop.png">    </p:cNvPr>
          <p:cNvPicPr>
            <a:picLocks noChangeAspect="1"/>
          </p:cNvPicPr>
          <p:nvPr/>
        </p:nvPicPr>
        <p:blipFill>
          <a:blip r:embed="rId4"/>
          <a:stretch>
            <a:fillRect/>
          </a:stretch>
        </p:blipFill>
        <p:spPr>
          <a:xfrm>
            <a:off x="4526280" y="1600200"/>
            <a:ext cx="2286000" cy="4645152"/>
          </a:xfrm>
          <a:prstGeom prst="rect">
            <a:avLst/>
          </a:prstGeom>
        </p:spPr>
      </p:pic>
      <p:sp>
        <p:nvSpPr>
          <p:cNvPr id="10" name="anim-3-rise-pd0-c"/>
          <p:cNvSpPr/>
          <p:nvPr/>
        </p:nvSpPr>
        <p:spPr>
          <a:xfrm>
            <a:off x="7178040" y="1801368"/>
            <a:ext cx="402336" cy="402336"/>
          </a:xfrm>
          <a:prstGeom prst="ellipse">
            <a:avLst/>
          </a:prstGeom>
          <a:solidFill>
            <a:srgbClr val="60A5FA">
              <a:alpha val="22000"/>
            </a:srgbClr>
          </a:solidFill>
          <a:ln w="15875">
            <a:solidFill>
              <a:srgbClr val="60A5FA"/>
            </a:solidFill>
            <a:prstDash val="solid"/>
          </a:ln>
        </p:spPr>
      </p:sp>
      <p:sp>
        <p:nvSpPr>
          <p:cNvPr id="11" name="anim-3-rise-pd0-t"/>
          <p:cNvSpPr txBox="1"/>
          <p:nvPr/>
        </p:nvSpPr>
        <p:spPr>
          <a:xfrm>
            <a:off x="7178040" y="1801368"/>
            <a:ext cx="402336" cy="402336"/>
          </a:xfrm>
          <a:prstGeom prst="rect">
            <a:avLst/>
          </a:prstGeom>
          <a:noFill/>
          <a:ln/>
        </p:spPr>
        <p:txBody>
          <a:bodyPr wrap="square" lIns="0" tIns="0" rIns="0" bIns="0" rtlCol="0" anchor="ctr"/>
          <a:lstStyle/>
          <a:p>
            <a:pPr algn="ctr" indent="0" marL="0">
              <a:buNone/>
            </a:pPr>
            <a:r>
              <a:rPr lang="en-US" sz="1400" b="1" dirty="0">
                <a:solidFill>
                  <a:srgbClr val="60A5FA"/>
                </a:solidFill>
              </a:rPr>
              <a:t>1</a:t>
            </a:r>
            <a:endParaRPr lang="en-US" sz="1400" dirty="0"/>
          </a:p>
        </p:txBody>
      </p:sp>
      <p:sp>
        <p:nvSpPr>
          <p:cNvPr id="12" name="anim-3-rise-ph0"/>
          <p:cNvSpPr txBox="1"/>
          <p:nvPr/>
        </p:nvSpPr>
        <p:spPr>
          <a:xfrm>
            <a:off x="7726680" y="1783080"/>
            <a:ext cx="3931920" cy="365760"/>
          </a:xfrm>
          <a:prstGeom prst="rect">
            <a:avLst/>
          </a:prstGeom>
          <a:noFill/>
          <a:ln/>
        </p:spPr>
        <p:txBody>
          <a:bodyPr wrap="square" lIns="0" tIns="0" rIns="0" bIns="0" rtlCol="0" anchor="ctr"/>
          <a:lstStyle/>
          <a:p>
            <a:pPr indent="0" marL="0">
              <a:buNone/>
            </a:pPr>
            <a:r>
              <a:rPr lang="en-US" sz="1700" b="1" dirty="0">
                <a:solidFill>
                  <a:srgbClr val="FFFFFF"/>
                </a:solidFill>
              </a:rPr>
              <a:t>The agent pauses mid-run</a:t>
            </a:r>
            <a:endParaRPr lang="en-US" sz="1700" dirty="0"/>
          </a:p>
        </p:txBody>
      </p:sp>
      <p:sp>
        <p:nvSpPr>
          <p:cNvPr id="13" name="anim-3-rise-pb0"/>
          <p:cNvSpPr txBox="1"/>
          <p:nvPr/>
        </p:nvSpPr>
        <p:spPr>
          <a:xfrm>
            <a:off x="7726680" y="2148840"/>
            <a:ext cx="3931920" cy="658368"/>
          </a:xfrm>
          <a:prstGeom prst="rect">
            <a:avLst/>
          </a:prstGeom>
          <a:noFill/>
          <a:ln/>
        </p:spPr>
        <p:txBody>
          <a:bodyPr wrap="square" lIns="0" tIns="0" rIns="0" bIns="0" rtlCol="0" anchor="t"/>
          <a:lstStyle/>
          <a:p>
            <a:pPr indent="0" marL="0">
              <a:buNone/>
            </a:pPr>
            <a:r>
              <a:rPr lang="en-US" sz="1350" dirty="0">
                <a:solidFill>
                  <a:srgbClr val="CDC7BB"/>
                </a:solidFill>
              </a:rPr>
              <a:t>No pre-checked boxes. You see exact vs. minimized side by side, plus the recipient’s retention.</a:t>
            </a:r>
            <a:endParaRPr lang="en-US" sz="1350" dirty="0"/>
          </a:p>
        </p:txBody>
      </p:sp>
      <p:sp>
        <p:nvSpPr>
          <p:cNvPr id="14" name="anim-4-rise-pd1-c"/>
          <p:cNvSpPr/>
          <p:nvPr/>
        </p:nvSpPr>
        <p:spPr>
          <a:xfrm>
            <a:off x="7178040" y="2898648"/>
            <a:ext cx="402336" cy="402336"/>
          </a:xfrm>
          <a:prstGeom prst="ellipse">
            <a:avLst/>
          </a:prstGeom>
          <a:solidFill>
            <a:srgbClr val="34D399">
              <a:alpha val="22000"/>
            </a:srgbClr>
          </a:solidFill>
          <a:ln w="15875">
            <a:solidFill>
              <a:srgbClr val="34D399"/>
            </a:solidFill>
            <a:prstDash val="solid"/>
          </a:ln>
        </p:spPr>
      </p:sp>
      <p:sp>
        <p:nvSpPr>
          <p:cNvPr id="15" name="anim-4-rise-pd1-t"/>
          <p:cNvSpPr txBox="1"/>
          <p:nvPr/>
        </p:nvSpPr>
        <p:spPr>
          <a:xfrm>
            <a:off x="7178040" y="2898648"/>
            <a:ext cx="402336" cy="402336"/>
          </a:xfrm>
          <a:prstGeom prst="rect">
            <a:avLst/>
          </a:prstGeom>
          <a:noFill/>
          <a:ln/>
        </p:spPr>
        <p:txBody>
          <a:bodyPr wrap="square" lIns="0" tIns="0" rIns="0" bIns="0" rtlCol="0" anchor="ctr"/>
          <a:lstStyle/>
          <a:p>
            <a:pPr algn="ctr" indent="0" marL="0">
              <a:buNone/>
            </a:pPr>
            <a:r>
              <a:rPr lang="en-US" sz="1400" b="1" dirty="0">
                <a:solidFill>
                  <a:srgbClr val="34D399"/>
                </a:solidFill>
              </a:rPr>
              <a:t>2</a:t>
            </a:r>
            <a:endParaRPr lang="en-US" sz="1400" dirty="0"/>
          </a:p>
        </p:txBody>
      </p:sp>
      <p:sp>
        <p:nvSpPr>
          <p:cNvPr id="16" name="anim-4-rise-ph1"/>
          <p:cNvSpPr txBox="1"/>
          <p:nvPr/>
        </p:nvSpPr>
        <p:spPr>
          <a:xfrm>
            <a:off x="7726680" y="2880360"/>
            <a:ext cx="3931920" cy="365760"/>
          </a:xfrm>
          <a:prstGeom prst="rect">
            <a:avLst/>
          </a:prstGeom>
          <a:noFill/>
          <a:ln/>
        </p:spPr>
        <p:txBody>
          <a:bodyPr wrap="square" lIns="0" tIns="0" rIns="0" bIns="0" rtlCol="0" anchor="ctr"/>
          <a:lstStyle/>
          <a:p>
            <a:pPr indent="0" marL="0">
              <a:buNone/>
            </a:pPr>
            <a:r>
              <a:rPr lang="en-US" sz="1700" b="1" dirty="0">
                <a:solidFill>
                  <a:srgbClr val="FFFFFF"/>
                </a:solidFill>
              </a:rPr>
              <a:t>Grants that expire</a:t>
            </a:r>
            <a:endParaRPr lang="en-US" sz="1700" dirty="0"/>
          </a:p>
        </p:txBody>
      </p:sp>
      <p:sp>
        <p:nvSpPr>
          <p:cNvPr id="17" name="anim-4-rise-pb1"/>
          <p:cNvSpPr txBox="1"/>
          <p:nvPr/>
        </p:nvSpPr>
        <p:spPr>
          <a:xfrm>
            <a:off x="7726680" y="3246120"/>
            <a:ext cx="3931920" cy="658368"/>
          </a:xfrm>
          <a:prstGeom prst="rect">
            <a:avLst/>
          </a:prstGeom>
          <a:noFill/>
          <a:ln/>
        </p:spPr>
        <p:txBody>
          <a:bodyPr wrap="square" lIns="0" tIns="0" rIns="0" bIns="0" rtlCol="0" anchor="t"/>
          <a:lstStyle/>
          <a:p>
            <a:pPr indent="0" marL="0">
              <a:buNone/>
            </a:pPr>
            <a:r>
              <a:rPr lang="en-US" sz="1350" dirty="0">
                <a:solidFill>
                  <a:srgbClr val="CDC7BB"/>
                </a:solidFill>
              </a:rPr>
              <a:t>“30 days” creates a scoped grant (data × recipient × purpose) you can revoke any time.</a:t>
            </a:r>
            <a:endParaRPr lang="en-US" sz="1350" dirty="0"/>
          </a:p>
        </p:txBody>
      </p:sp>
      <p:sp>
        <p:nvSpPr>
          <p:cNvPr id="18" name="anim-5-rise-pd2-c"/>
          <p:cNvSpPr/>
          <p:nvPr/>
        </p:nvSpPr>
        <p:spPr>
          <a:xfrm>
            <a:off x="7178040" y="3995928"/>
            <a:ext cx="402336" cy="402336"/>
          </a:xfrm>
          <a:prstGeom prst="ellipse">
            <a:avLst/>
          </a:prstGeom>
          <a:solidFill>
            <a:srgbClr val="F6D8B4">
              <a:alpha val="22000"/>
            </a:srgbClr>
          </a:solidFill>
          <a:ln w="15875">
            <a:solidFill>
              <a:srgbClr val="F6D8B4"/>
            </a:solidFill>
            <a:prstDash val="solid"/>
          </a:ln>
        </p:spPr>
      </p:sp>
      <p:sp>
        <p:nvSpPr>
          <p:cNvPr id="19" name="anim-5-rise-pd2-t"/>
          <p:cNvSpPr txBox="1"/>
          <p:nvPr/>
        </p:nvSpPr>
        <p:spPr>
          <a:xfrm>
            <a:off x="7178040" y="3995928"/>
            <a:ext cx="402336" cy="402336"/>
          </a:xfrm>
          <a:prstGeom prst="rect">
            <a:avLst/>
          </a:prstGeom>
          <a:noFill/>
          <a:ln/>
        </p:spPr>
        <p:txBody>
          <a:bodyPr wrap="square" lIns="0" tIns="0" rIns="0" bIns="0" rtlCol="0" anchor="ctr"/>
          <a:lstStyle/>
          <a:p>
            <a:pPr algn="ctr" indent="0" marL="0">
              <a:buNone/>
            </a:pPr>
            <a:r>
              <a:rPr lang="en-US" sz="1400" b="1" dirty="0">
                <a:solidFill>
                  <a:srgbClr val="F6D8B4"/>
                </a:solidFill>
              </a:rPr>
              <a:t>3</a:t>
            </a:r>
            <a:endParaRPr lang="en-US" sz="1400" dirty="0"/>
          </a:p>
        </p:txBody>
      </p:sp>
      <p:sp>
        <p:nvSpPr>
          <p:cNvPr id="20" name="anim-5-rise-ph2"/>
          <p:cNvSpPr txBox="1"/>
          <p:nvPr/>
        </p:nvSpPr>
        <p:spPr>
          <a:xfrm>
            <a:off x="7726680" y="3977640"/>
            <a:ext cx="3931920" cy="365760"/>
          </a:xfrm>
          <a:prstGeom prst="rect">
            <a:avLst/>
          </a:prstGeom>
          <a:noFill/>
          <a:ln/>
        </p:spPr>
        <p:txBody>
          <a:bodyPr wrap="square" lIns="0" tIns="0" rIns="0" bIns="0" rtlCol="0" anchor="ctr"/>
          <a:lstStyle/>
          <a:p>
            <a:pPr indent="0" marL="0">
              <a:buNone/>
            </a:pPr>
            <a:r>
              <a:rPr lang="en-US" sz="1700" b="1" dirty="0">
                <a:solidFill>
                  <a:srgbClr val="FFFFFF"/>
                </a:solidFill>
              </a:rPr>
              <a:t>A receipt for every run</a:t>
            </a:r>
            <a:endParaRPr lang="en-US" sz="1700" dirty="0"/>
          </a:p>
        </p:txBody>
      </p:sp>
      <p:sp>
        <p:nvSpPr>
          <p:cNvPr id="21" name="anim-5-rise-pb2"/>
          <p:cNvSpPr txBox="1"/>
          <p:nvPr/>
        </p:nvSpPr>
        <p:spPr>
          <a:xfrm>
            <a:off x="7726680" y="4343400"/>
            <a:ext cx="3931920" cy="658368"/>
          </a:xfrm>
          <a:prstGeom prst="rect">
            <a:avLst/>
          </a:prstGeom>
          <a:noFill/>
          <a:ln/>
        </p:spPr>
        <p:txBody>
          <a:bodyPr wrap="square" lIns="0" tIns="0" rIns="0" bIns="0" rtlCol="0" anchor="t"/>
          <a:lstStyle/>
          <a:p>
            <a:pPr indent="0" marL="0">
              <a:buNone/>
            </a:pPr>
            <a:r>
              <a:rPr lang="en-US" sz="1350" dirty="0">
                <a:solidFill>
                  <a:srgbClr val="CDC7BB"/>
                </a:solidFill>
              </a:rPr>
              <a:t>What left, in what form, to whom, and what was withheld.</a:t>
            </a:r>
            <a:endParaRPr lang="en-US" sz="1350" dirty="0"/>
          </a:p>
        </p:txBody>
      </p:sp>
      <p:sp>
        <p:nvSpPr>
          <p:cNvPr id="22" name="anim-6-rise-pd3-c"/>
          <p:cNvSpPr/>
          <p:nvPr/>
        </p:nvSpPr>
        <p:spPr>
          <a:xfrm>
            <a:off x="7178040" y="5093208"/>
            <a:ext cx="402336" cy="402336"/>
          </a:xfrm>
          <a:prstGeom prst="ellipse">
            <a:avLst/>
          </a:prstGeom>
          <a:solidFill>
            <a:srgbClr val="EFA56F">
              <a:alpha val="22000"/>
            </a:srgbClr>
          </a:solidFill>
          <a:ln w="15875">
            <a:solidFill>
              <a:srgbClr val="EFA56F"/>
            </a:solidFill>
            <a:prstDash val="solid"/>
          </a:ln>
        </p:spPr>
      </p:sp>
      <p:sp>
        <p:nvSpPr>
          <p:cNvPr id="23" name="anim-6-rise-pd3-t"/>
          <p:cNvSpPr txBox="1"/>
          <p:nvPr/>
        </p:nvSpPr>
        <p:spPr>
          <a:xfrm>
            <a:off x="7178040" y="5093208"/>
            <a:ext cx="402336" cy="402336"/>
          </a:xfrm>
          <a:prstGeom prst="rect">
            <a:avLst/>
          </a:prstGeom>
          <a:noFill/>
          <a:ln/>
        </p:spPr>
        <p:txBody>
          <a:bodyPr wrap="square" lIns="0" tIns="0" rIns="0" bIns="0" rtlCol="0" anchor="ctr"/>
          <a:lstStyle/>
          <a:p>
            <a:pPr algn="ctr" indent="0" marL="0">
              <a:buNone/>
            </a:pPr>
            <a:r>
              <a:rPr lang="en-US" sz="1400" b="1" dirty="0">
                <a:solidFill>
                  <a:srgbClr val="EFA56F"/>
                </a:solidFill>
              </a:rPr>
              <a:t>4</a:t>
            </a:r>
            <a:endParaRPr lang="en-US" sz="1400" dirty="0"/>
          </a:p>
        </p:txBody>
      </p:sp>
      <p:sp>
        <p:nvSpPr>
          <p:cNvPr id="24" name="anim-6-rise-ph3"/>
          <p:cNvSpPr txBox="1"/>
          <p:nvPr/>
        </p:nvSpPr>
        <p:spPr>
          <a:xfrm>
            <a:off x="7726680" y="5074920"/>
            <a:ext cx="3931920" cy="365760"/>
          </a:xfrm>
          <a:prstGeom prst="rect">
            <a:avLst/>
          </a:prstGeom>
          <a:noFill/>
          <a:ln/>
        </p:spPr>
        <p:txBody>
          <a:bodyPr wrap="square" lIns="0" tIns="0" rIns="0" bIns="0" rtlCol="0" anchor="ctr"/>
          <a:lstStyle/>
          <a:p>
            <a:pPr indent="0" marL="0">
              <a:buNone/>
            </a:pPr>
            <a:r>
              <a:rPr lang="en-US" sz="1700" b="1" dirty="0">
                <a:solidFill>
                  <a:srgbClr val="FFFFFF"/>
                </a:solidFill>
              </a:rPr>
              <a:t>Tamper-evident ledger</a:t>
            </a:r>
            <a:endParaRPr lang="en-US" sz="1700" dirty="0"/>
          </a:p>
        </p:txBody>
      </p:sp>
      <p:sp>
        <p:nvSpPr>
          <p:cNvPr id="25" name="anim-6-rise-pb3"/>
          <p:cNvSpPr txBox="1"/>
          <p:nvPr/>
        </p:nvSpPr>
        <p:spPr>
          <a:xfrm>
            <a:off x="7726680" y="5440680"/>
            <a:ext cx="3931920" cy="658368"/>
          </a:xfrm>
          <a:prstGeom prst="rect">
            <a:avLst/>
          </a:prstGeom>
          <a:noFill/>
          <a:ln/>
        </p:spPr>
        <p:txBody>
          <a:bodyPr wrap="square" lIns="0" tIns="0" rIns="0" bIns="0" rtlCol="0" anchor="t"/>
          <a:lstStyle/>
          <a:p>
            <a:pPr indent="0" marL="0">
              <a:buNone/>
            </a:pPr>
            <a:r>
              <a:rPr lang="en-US" sz="1350" dirty="0">
                <a:solidFill>
                  <a:srgbClr val="CDC7BB"/>
                </a:solidFill>
              </a:rPr>
              <a:t>SHA-256 chain over canonical JSON. Edit one entry and verification fails from there.</a:t>
            </a:r>
            <a:endParaRPr lang="en-US" sz="135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4" fill="hold">
                            <p:stCondLst>
                              <p:cond delay="0"/>
                            </p:stCondLst>
                            <p:childTnLst>
                              <p:par>
                                <p:cTn id="8" presetID="42" presetClass="entr" presetSubtype="0"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750"/>
                                        <p:tgtEl>
                                          <p:spTgt spid="6"/>
                                        </p:tgtEl>
                                      </p:cBhvr>
                                    </p:animEffect>
                                    <p:anim calcmode="lin" valueType="num">
                                      <p:cBhvr>
                                        <p:cTn id="6" dur="750" fill="hold"/>
                                        <p:tgtEl>
                                          <p:spTgt spid="6"/>
                                        </p:tgtEl>
                                        <p:attrNameLst>
                                          <p:attrName>ppt_x</p:attrName>
                                        </p:attrNameLst>
                                      </p:cBhvr>
                                      <p:tavLst>
                                        <p:tav tm="0">
                                          <p:val>
                                            <p:strVal val="#ppt_x"/>
                                          </p:val>
                                        </p:tav>
                                        <p:tav tm="100000">
                                          <p:val>
                                            <p:strVal val="#ppt_x"/>
                                          </p:val>
                                        </p:tav>
                                      </p:tavLst>
                                    </p:anim>
                                    <p:anim calcmode="lin" valueType="num">
                                      <p:cBhvr>
                                        <p:cTn id="7" dur="750" decel="10000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30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750"/>
                                        <p:tgtEl>
                                          <p:spTgt spid="7"/>
                                        </p:tgtEl>
                                      </p:cBhvr>
                                    </p:animEffect>
                                    <p:anim calcmode="lin" valueType="num">
                                      <p:cBhvr>
                                        <p:cTn id="11" dur="750" fill="hold"/>
                                        <p:tgtEl>
                                          <p:spTgt spid="7"/>
                                        </p:tgtEl>
                                        <p:attrNameLst>
                                          <p:attrName>ppt_x</p:attrName>
                                        </p:attrNameLst>
                                      </p:cBhvr>
                                      <p:tavLst>
                                        <p:tav tm="0">
                                          <p:val>
                                            <p:strVal val="#ppt_x"/>
                                          </p:val>
                                        </p:tav>
                                        <p:tav tm="100000">
                                          <p:val>
                                            <p:strVal val="#ppt_x"/>
                                          </p:val>
                                        </p:tav>
                                      </p:tavLst>
                                    </p:anim>
                                    <p:anim calcmode="lin" valueType="num">
                                      <p:cBhvr>
                                        <p:cTn id="12" dur="750" decel="10000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58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50"/>
                                        <p:tgtEl>
                                          <p:spTgt spid="8"/>
                                        </p:tgtEl>
                                      </p:cBhvr>
                                    </p:animEffect>
                                    <p:anim calcmode="lin" valueType="num">
                                      <p:cBhvr>
                                        <p:cTn id="16" dur="750" fill="hold"/>
                                        <p:tgtEl>
                                          <p:spTgt spid="8"/>
                                        </p:tgtEl>
                                        <p:attrNameLst>
                                          <p:attrName>ppt_x</p:attrName>
                                        </p:attrNameLst>
                                      </p:cBhvr>
                                      <p:tavLst>
                                        <p:tav tm="0">
                                          <p:val>
                                            <p:strVal val="#ppt_x"/>
                                          </p:val>
                                        </p:tav>
                                        <p:tav tm="100000">
                                          <p:val>
                                            <p:strVal val="#ppt_x"/>
                                          </p:val>
                                        </p:tav>
                                      </p:tavLst>
                                    </p:anim>
                                    <p:anim calcmode="lin" valueType="num">
                                      <p:cBhvr>
                                        <p:cTn id="17" dur="750" decel="10000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35"/>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750"/>
                                        <p:tgtEl>
                                          <p:spTgt spid="9"/>
                                        </p:tgtEl>
                                      </p:cBhvr>
                                    </p:animEffect>
                                    <p:anim calcmode="lin" valueType="num">
                                      <p:cBhvr>
                                        <p:cTn id="21" dur="750" fill="hold"/>
                                        <p:tgtEl>
                                          <p:spTgt spid="9"/>
                                        </p:tgtEl>
                                        <p:attrNameLst>
                                          <p:attrName>ppt_x</p:attrName>
                                        </p:attrNameLst>
                                      </p:cBhvr>
                                      <p:tavLst>
                                        <p:tav tm="0">
                                          <p:val>
                                            <p:strVal val="#ppt_x"/>
                                          </p:val>
                                        </p:tav>
                                        <p:tav tm="100000">
                                          <p:val>
                                            <p:strVal val="#ppt_x"/>
                                          </p:val>
                                        </p:tav>
                                      </p:tavLst>
                                    </p:anim>
                                    <p:anim calcmode="lin" valueType="num">
                                      <p:cBhvr>
                                        <p:cTn id="22" dur="750" decel="10000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91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50"/>
                                        <p:tgtEl>
                                          <p:spTgt spid="10"/>
                                        </p:tgtEl>
                                      </p:cBhvr>
                                    </p:animEffect>
                                    <p:anim calcmode="lin" valueType="num">
                                      <p:cBhvr>
                                        <p:cTn id="26" dur="750" fill="hold"/>
                                        <p:tgtEl>
                                          <p:spTgt spid="10"/>
                                        </p:tgtEl>
                                        <p:attrNameLst>
                                          <p:attrName>ppt_x</p:attrName>
                                        </p:attrNameLst>
                                      </p:cBhvr>
                                      <p:tavLst>
                                        <p:tav tm="0">
                                          <p:val>
                                            <p:strVal val="#ppt_x"/>
                                          </p:val>
                                        </p:tav>
                                        <p:tav tm="100000">
                                          <p:val>
                                            <p:strVal val="#ppt_x"/>
                                          </p:val>
                                        </p:tav>
                                      </p:tavLst>
                                    </p:anim>
                                    <p:anim calcmode="lin" valueType="num">
                                      <p:cBhvr>
                                        <p:cTn id="27" dur="750" decel="10000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965"/>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50"/>
                                        <p:tgtEl>
                                          <p:spTgt spid="11"/>
                                        </p:tgtEl>
                                      </p:cBhvr>
                                    </p:animEffect>
                                    <p:anim calcmode="lin" valueType="num">
                                      <p:cBhvr>
                                        <p:cTn id="31" dur="750" fill="hold"/>
                                        <p:tgtEl>
                                          <p:spTgt spid="11"/>
                                        </p:tgtEl>
                                        <p:attrNameLst>
                                          <p:attrName>ppt_x</p:attrName>
                                        </p:attrNameLst>
                                      </p:cBhvr>
                                      <p:tavLst>
                                        <p:tav tm="0">
                                          <p:val>
                                            <p:strVal val="#ppt_x"/>
                                          </p:val>
                                        </p:tav>
                                        <p:tav tm="100000">
                                          <p:val>
                                            <p:strVal val="#ppt_x"/>
                                          </p:val>
                                        </p:tav>
                                      </p:tavLst>
                                    </p:anim>
                                    <p:anim calcmode="lin" valueType="num">
                                      <p:cBhvr>
                                        <p:cTn id="32" dur="750" decel="10000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02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50"/>
                                        <p:tgtEl>
                                          <p:spTgt spid="12"/>
                                        </p:tgtEl>
                                      </p:cBhvr>
                                    </p:animEffect>
                                    <p:anim calcmode="lin" valueType="num">
                                      <p:cBhvr>
                                        <p:cTn id="36" dur="750" fill="hold"/>
                                        <p:tgtEl>
                                          <p:spTgt spid="12"/>
                                        </p:tgtEl>
                                        <p:attrNameLst>
                                          <p:attrName>ppt_x</p:attrName>
                                        </p:attrNameLst>
                                      </p:cBhvr>
                                      <p:tavLst>
                                        <p:tav tm="0">
                                          <p:val>
                                            <p:strVal val="#ppt_x"/>
                                          </p:val>
                                        </p:tav>
                                        <p:tav tm="100000">
                                          <p:val>
                                            <p:strVal val="#ppt_x"/>
                                          </p:val>
                                        </p:tav>
                                      </p:tavLst>
                                    </p:anim>
                                    <p:anim calcmode="lin" valueType="num">
                                      <p:cBhvr>
                                        <p:cTn id="37" dur="750" decel="10000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075"/>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50"/>
                                        <p:tgtEl>
                                          <p:spTgt spid="13"/>
                                        </p:tgtEl>
                                      </p:cBhvr>
                                    </p:animEffect>
                                    <p:anim calcmode="lin" valueType="num">
                                      <p:cBhvr>
                                        <p:cTn id="41" dur="750" fill="hold"/>
                                        <p:tgtEl>
                                          <p:spTgt spid="13"/>
                                        </p:tgtEl>
                                        <p:attrNameLst>
                                          <p:attrName>ppt_x</p:attrName>
                                        </p:attrNameLst>
                                      </p:cBhvr>
                                      <p:tavLst>
                                        <p:tav tm="0">
                                          <p:val>
                                            <p:strVal val="#ppt_x"/>
                                          </p:val>
                                        </p:tav>
                                        <p:tav tm="100000">
                                          <p:val>
                                            <p:strVal val="#ppt_x"/>
                                          </p:val>
                                        </p:tav>
                                      </p:tavLst>
                                    </p:anim>
                                    <p:anim calcmode="lin" valueType="num">
                                      <p:cBhvr>
                                        <p:cTn id="42" dur="750" decel="10000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24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50"/>
                                        <p:tgtEl>
                                          <p:spTgt spid="14"/>
                                        </p:tgtEl>
                                      </p:cBhvr>
                                    </p:animEffect>
                                    <p:anim calcmode="lin" valueType="num">
                                      <p:cBhvr>
                                        <p:cTn id="46" dur="750" fill="hold"/>
                                        <p:tgtEl>
                                          <p:spTgt spid="14"/>
                                        </p:tgtEl>
                                        <p:attrNameLst>
                                          <p:attrName>ppt_x</p:attrName>
                                        </p:attrNameLst>
                                      </p:cBhvr>
                                      <p:tavLst>
                                        <p:tav tm="0">
                                          <p:val>
                                            <p:strVal val="#ppt_x"/>
                                          </p:val>
                                        </p:tav>
                                        <p:tav tm="100000">
                                          <p:val>
                                            <p:strVal val="#ppt_x"/>
                                          </p:val>
                                        </p:tav>
                                      </p:tavLst>
                                    </p:anim>
                                    <p:anim calcmode="lin" valueType="num">
                                      <p:cBhvr>
                                        <p:cTn id="47" dur="750" decel="10000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295"/>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750"/>
                                        <p:tgtEl>
                                          <p:spTgt spid="15"/>
                                        </p:tgtEl>
                                      </p:cBhvr>
                                    </p:animEffect>
                                    <p:anim calcmode="lin" valueType="num">
                                      <p:cBhvr>
                                        <p:cTn id="51" dur="750" fill="hold"/>
                                        <p:tgtEl>
                                          <p:spTgt spid="15"/>
                                        </p:tgtEl>
                                        <p:attrNameLst>
                                          <p:attrName>ppt_x</p:attrName>
                                        </p:attrNameLst>
                                      </p:cBhvr>
                                      <p:tavLst>
                                        <p:tav tm="0">
                                          <p:val>
                                            <p:strVal val="#ppt_x"/>
                                          </p:val>
                                        </p:tav>
                                        <p:tav tm="100000">
                                          <p:val>
                                            <p:strVal val="#ppt_x"/>
                                          </p:val>
                                        </p:tav>
                                      </p:tavLst>
                                    </p:anim>
                                    <p:anim calcmode="lin" valueType="num">
                                      <p:cBhvr>
                                        <p:cTn id="52" dur="750" decel="10000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35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ppt_x</p:attrName>
                                        </p:attrNameLst>
                                      </p:cBhvr>
                                      <p:tavLst>
                                        <p:tav tm="0">
                                          <p:val>
                                            <p:strVal val="#ppt_x"/>
                                          </p:val>
                                        </p:tav>
                                        <p:tav tm="100000">
                                          <p:val>
                                            <p:strVal val="#ppt_x"/>
                                          </p:val>
                                        </p:tav>
                                      </p:tavLst>
                                    </p:anim>
                                    <p:anim calcmode="lin" valueType="num">
                                      <p:cBhvr>
                                        <p:cTn id="57" dur="750" decel="10000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1405"/>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750"/>
                                        <p:tgtEl>
                                          <p:spTgt spid="17"/>
                                        </p:tgtEl>
                                      </p:cBhvr>
                                    </p:animEffect>
                                    <p:anim calcmode="lin" valueType="num">
                                      <p:cBhvr>
                                        <p:cTn id="61" dur="750" fill="hold"/>
                                        <p:tgtEl>
                                          <p:spTgt spid="17"/>
                                        </p:tgtEl>
                                        <p:attrNameLst>
                                          <p:attrName>ppt_x</p:attrName>
                                        </p:attrNameLst>
                                      </p:cBhvr>
                                      <p:tavLst>
                                        <p:tav tm="0">
                                          <p:val>
                                            <p:strVal val="#ppt_x"/>
                                          </p:val>
                                        </p:tav>
                                        <p:tav tm="100000">
                                          <p:val>
                                            <p:strVal val="#ppt_x"/>
                                          </p:val>
                                        </p:tav>
                                      </p:tavLst>
                                    </p:anim>
                                    <p:anim calcmode="lin" valueType="num">
                                      <p:cBhvr>
                                        <p:cTn id="62" dur="750" decel="100000" fill="hold"/>
                                        <p:tgtEl>
                                          <p:spTgt spid="17"/>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157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750"/>
                                        <p:tgtEl>
                                          <p:spTgt spid="18"/>
                                        </p:tgtEl>
                                      </p:cBhvr>
                                    </p:animEffect>
                                    <p:anim calcmode="lin" valueType="num">
                                      <p:cBhvr>
                                        <p:cTn id="66" dur="750" fill="hold"/>
                                        <p:tgtEl>
                                          <p:spTgt spid="18"/>
                                        </p:tgtEl>
                                        <p:attrNameLst>
                                          <p:attrName>ppt_x</p:attrName>
                                        </p:attrNameLst>
                                      </p:cBhvr>
                                      <p:tavLst>
                                        <p:tav tm="0">
                                          <p:val>
                                            <p:strVal val="#ppt_x"/>
                                          </p:val>
                                        </p:tav>
                                        <p:tav tm="100000">
                                          <p:val>
                                            <p:strVal val="#ppt_x"/>
                                          </p:val>
                                        </p:tav>
                                      </p:tavLst>
                                    </p:anim>
                                    <p:anim calcmode="lin" valueType="num">
                                      <p:cBhvr>
                                        <p:cTn id="67" dur="750" decel="100000" fill="hold"/>
                                        <p:tgtEl>
                                          <p:spTgt spid="18"/>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1625"/>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750"/>
                                        <p:tgtEl>
                                          <p:spTgt spid="19"/>
                                        </p:tgtEl>
                                      </p:cBhvr>
                                    </p:animEffect>
                                    <p:anim calcmode="lin" valueType="num">
                                      <p:cBhvr>
                                        <p:cTn id="71" dur="750" fill="hold"/>
                                        <p:tgtEl>
                                          <p:spTgt spid="19"/>
                                        </p:tgtEl>
                                        <p:attrNameLst>
                                          <p:attrName>ppt_x</p:attrName>
                                        </p:attrNameLst>
                                      </p:cBhvr>
                                      <p:tavLst>
                                        <p:tav tm="0">
                                          <p:val>
                                            <p:strVal val="#ppt_x"/>
                                          </p:val>
                                        </p:tav>
                                        <p:tav tm="100000">
                                          <p:val>
                                            <p:strVal val="#ppt_x"/>
                                          </p:val>
                                        </p:tav>
                                      </p:tavLst>
                                    </p:anim>
                                    <p:anim calcmode="lin" valueType="num">
                                      <p:cBhvr>
                                        <p:cTn id="72" dur="750" decel="100000" fill="hold"/>
                                        <p:tgtEl>
                                          <p:spTgt spid="19"/>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168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750"/>
                                        <p:tgtEl>
                                          <p:spTgt spid="20"/>
                                        </p:tgtEl>
                                      </p:cBhvr>
                                    </p:animEffect>
                                    <p:anim calcmode="lin" valueType="num">
                                      <p:cBhvr>
                                        <p:cTn id="76" dur="750" fill="hold"/>
                                        <p:tgtEl>
                                          <p:spTgt spid="20"/>
                                        </p:tgtEl>
                                        <p:attrNameLst>
                                          <p:attrName>ppt_x</p:attrName>
                                        </p:attrNameLst>
                                      </p:cBhvr>
                                      <p:tavLst>
                                        <p:tav tm="0">
                                          <p:val>
                                            <p:strVal val="#ppt_x"/>
                                          </p:val>
                                        </p:tav>
                                        <p:tav tm="100000">
                                          <p:val>
                                            <p:strVal val="#ppt_x"/>
                                          </p:val>
                                        </p:tav>
                                      </p:tavLst>
                                    </p:anim>
                                    <p:anim calcmode="lin" valueType="num">
                                      <p:cBhvr>
                                        <p:cTn id="77" dur="750" decel="100000" fill="hold"/>
                                        <p:tgtEl>
                                          <p:spTgt spid="20"/>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1735"/>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750"/>
                                        <p:tgtEl>
                                          <p:spTgt spid="21"/>
                                        </p:tgtEl>
                                      </p:cBhvr>
                                    </p:animEffect>
                                    <p:anim calcmode="lin" valueType="num">
                                      <p:cBhvr>
                                        <p:cTn id="81" dur="750" fill="hold"/>
                                        <p:tgtEl>
                                          <p:spTgt spid="21"/>
                                        </p:tgtEl>
                                        <p:attrNameLst>
                                          <p:attrName>ppt_x</p:attrName>
                                        </p:attrNameLst>
                                      </p:cBhvr>
                                      <p:tavLst>
                                        <p:tav tm="0">
                                          <p:val>
                                            <p:strVal val="#ppt_x"/>
                                          </p:val>
                                        </p:tav>
                                        <p:tav tm="100000">
                                          <p:val>
                                            <p:strVal val="#ppt_x"/>
                                          </p:val>
                                        </p:tav>
                                      </p:tavLst>
                                    </p:anim>
                                    <p:anim calcmode="lin" valueType="num">
                                      <p:cBhvr>
                                        <p:cTn id="82" dur="750" decel="100000" fill="hold"/>
                                        <p:tgtEl>
                                          <p:spTgt spid="21"/>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190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750"/>
                                        <p:tgtEl>
                                          <p:spTgt spid="22"/>
                                        </p:tgtEl>
                                      </p:cBhvr>
                                    </p:animEffect>
                                    <p:anim calcmode="lin" valueType="num">
                                      <p:cBhvr>
                                        <p:cTn id="86" dur="750" fill="hold"/>
                                        <p:tgtEl>
                                          <p:spTgt spid="22"/>
                                        </p:tgtEl>
                                        <p:attrNameLst>
                                          <p:attrName>ppt_x</p:attrName>
                                        </p:attrNameLst>
                                      </p:cBhvr>
                                      <p:tavLst>
                                        <p:tav tm="0">
                                          <p:val>
                                            <p:strVal val="#ppt_x"/>
                                          </p:val>
                                        </p:tav>
                                        <p:tav tm="100000">
                                          <p:val>
                                            <p:strVal val="#ppt_x"/>
                                          </p:val>
                                        </p:tav>
                                      </p:tavLst>
                                    </p:anim>
                                    <p:anim calcmode="lin" valueType="num">
                                      <p:cBhvr>
                                        <p:cTn id="87" dur="750" decel="100000" fill="hold"/>
                                        <p:tgtEl>
                                          <p:spTgt spid="22"/>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1955"/>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750"/>
                                        <p:tgtEl>
                                          <p:spTgt spid="23"/>
                                        </p:tgtEl>
                                      </p:cBhvr>
                                    </p:animEffect>
                                    <p:anim calcmode="lin" valueType="num">
                                      <p:cBhvr>
                                        <p:cTn id="91" dur="750" fill="hold"/>
                                        <p:tgtEl>
                                          <p:spTgt spid="23"/>
                                        </p:tgtEl>
                                        <p:attrNameLst>
                                          <p:attrName>ppt_x</p:attrName>
                                        </p:attrNameLst>
                                      </p:cBhvr>
                                      <p:tavLst>
                                        <p:tav tm="0">
                                          <p:val>
                                            <p:strVal val="#ppt_x"/>
                                          </p:val>
                                        </p:tav>
                                        <p:tav tm="100000">
                                          <p:val>
                                            <p:strVal val="#ppt_x"/>
                                          </p:val>
                                        </p:tav>
                                      </p:tavLst>
                                    </p:anim>
                                    <p:anim calcmode="lin" valueType="num">
                                      <p:cBhvr>
                                        <p:cTn id="92" dur="750" decel="100000" fill="hold"/>
                                        <p:tgtEl>
                                          <p:spTgt spid="23"/>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201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750"/>
                                        <p:tgtEl>
                                          <p:spTgt spid="24"/>
                                        </p:tgtEl>
                                      </p:cBhvr>
                                    </p:animEffect>
                                    <p:anim calcmode="lin" valueType="num">
                                      <p:cBhvr>
                                        <p:cTn id="96" dur="750" fill="hold"/>
                                        <p:tgtEl>
                                          <p:spTgt spid="24"/>
                                        </p:tgtEl>
                                        <p:attrNameLst>
                                          <p:attrName>ppt_x</p:attrName>
                                        </p:attrNameLst>
                                      </p:cBhvr>
                                      <p:tavLst>
                                        <p:tav tm="0">
                                          <p:val>
                                            <p:strVal val="#ppt_x"/>
                                          </p:val>
                                        </p:tav>
                                        <p:tav tm="100000">
                                          <p:val>
                                            <p:strVal val="#ppt_x"/>
                                          </p:val>
                                        </p:tav>
                                      </p:tavLst>
                                    </p:anim>
                                    <p:anim calcmode="lin" valueType="num">
                                      <p:cBhvr>
                                        <p:cTn id="97" dur="750" decel="100000" fill="hold"/>
                                        <p:tgtEl>
                                          <p:spTgt spid="24"/>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2065"/>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750"/>
                                        <p:tgtEl>
                                          <p:spTgt spid="25"/>
                                        </p:tgtEl>
                                      </p:cBhvr>
                                    </p:animEffect>
                                    <p:anim calcmode="lin" valueType="num">
                                      <p:cBhvr>
                                        <p:cTn id="101" dur="750" fill="hold"/>
                                        <p:tgtEl>
                                          <p:spTgt spid="25"/>
                                        </p:tgtEl>
                                        <p:attrNameLst>
                                          <p:attrName>ppt_x</p:attrName>
                                        </p:attrNameLst>
                                      </p:cBhvr>
                                      <p:tavLst>
                                        <p:tav tm="0">
                                          <p:val>
                                            <p:strVal val="#ppt_x"/>
                                          </p:val>
                                        </p:tav>
                                        <p:tav tm="100000">
                                          <p:val>
                                            <p:strVal val="#ppt_x"/>
                                          </p:val>
                                        </p:tav>
                                      </p:tavLst>
                                    </p:anim>
                                    <p:anim calcmode="lin" valueType="num">
                                      <p:cBhvr>
                                        <p:cTn id="102" dur="750" decel="100000" fill="hold"/>
                                        <p:tgtEl>
                                          <p:spTgt spid="2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8046720" y="-1097280"/>
            <a:ext cx="5943600" cy="594360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LIVE DEMO · TRACK 1</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Real public data, flowing through the firewall</a:t>
            </a:r>
            <a:endParaRPr lang="en-US" sz="3400" dirty="0"/>
          </a:p>
        </p:txBody>
      </p:sp>
      <p:sp>
        <p:nvSpPr>
          <p:cNvPr id="6" name="anim-1-zoom-gif-frame"/>
          <p:cNvSpPr/>
          <p:nvPr/>
        </p:nvSpPr>
        <p:spPr>
          <a:xfrm>
            <a:off x="539496" y="1682496"/>
            <a:ext cx="7059168" cy="4453128"/>
          </a:xfrm>
          <a:prstGeom prst="roundRect">
            <a:avLst>
              <a:gd name="adj" fmla="val 2464"/>
            </a:avLst>
          </a:prstGeom>
          <a:solidFill>
            <a:srgbClr val="1A1B17"/>
          </a:solidFill>
          <a:ln w="12700">
            <a:solidFill>
              <a:srgbClr val="3A3A33"/>
            </a:solidFill>
            <a:prstDash val="solid"/>
          </a:ln>
          <a:effectLst>
            <a:outerShdw sx="100000" sy="100000" kx="0" ky="0" algn="bl" rotWithShape="0" blurRad="304800" dist="50800" dir="5400000">
              <a:srgbClr val="EFA56F">
                <a:alpha val="22000"/>
              </a:srgbClr>
            </a:outerShdw>
          </a:effectLst>
        </p:spPr>
      </p:sp>
      <p:pic>
        <p:nvPicPr>
          <p:cNvPr id="7" name="anim-1-zoom-gif" descr="media/demo.gif">    </p:cNvPr>
          <p:cNvPicPr>
            <a:picLocks noChangeAspect="1"/>
          </p:cNvPicPr>
          <p:nvPr/>
        </p:nvPicPr>
        <p:blipFill>
          <a:blip r:embed="rId3"/>
          <a:stretch>
            <a:fillRect/>
          </a:stretch>
        </p:blipFill>
        <p:spPr>
          <a:xfrm>
            <a:off x="594360" y="1737360"/>
            <a:ext cx="6949440" cy="4343400"/>
          </a:xfrm>
          <a:prstGeom prst="rect">
            <a:avLst/>
          </a:prstGeom>
        </p:spPr>
      </p:pic>
      <p:sp>
        <p:nvSpPr>
          <p:cNvPr id="8" name="anim-2-fade-g0"/>
          <p:cNvSpPr txBox="1"/>
          <p:nvPr/>
        </p:nvSpPr>
        <p:spPr>
          <a:xfrm>
            <a:off x="7955280" y="1737360"/>
            <a:ext cx="3657600" cy="292608"/>
          </a:xfrm>
          <a:prstGeom prst="rect">
            <a:avLst/>
          </a:prstGeom>
          <a:noFill/>
          <a:ln/>
        </p:spPr>
        <p:txBody>
          <a:bodyPr wrap="square" lIns="0" tIns="0" rIns="0" bIns="0" rtlCol="0" anchor="ctr"/>
          <a:lstStyle/>
          <a:p>
            <a:pPr indent="0" marL="0">
              <a:buNone/>
            </a:pPr>
            <a:r>
              <a:rPr lang="en-US" sz="1200" b="1" spc="200" kern="0" dirty="0">
                <a:solidFill>
                  <a:srgbClr val="60A5FA"/>
                </a:solidFill>
              </a:rPr>
              <a:t>GOVERNMENT (.GOV)</a:t>
            </a:r>
            <a:endParaRPr lang="en-US" sz="1200" dirty="0"/>
          </a:p>
        </p:txBody>
      </p:sp>
      <p:sp>
        <p:nvSpPr>
          <p:cNvPr id="9" name="anim-2-rise-i00"/>
          <p:cNvSpPr txBox="1"/>
          <p:nvPr/>
        </p:nvSpPr>
        <p:spPr>
          <a:xfrm>
            <a:off x="7955280" y="2103120"/>
            <a:ext cx="3703320" cy="310896"/>
          </a:xfrm>
          <a:prstGeom prst="rect">
            <a:avLst/>
          </a:prstGeom>
          <a:noFill/>
          <a:ln/>
        </p:spPr>
        <p:txBody>
          <a:bodyPr wrap="square" lIns="0" tIns="0" rIns="0" bIns="0" rtlCol="0" anchor="ctr"/>
          <a:lstStyle/>
          <a:p>
            <a:pPr marL="177800" indent="-177800">
              <a:buSzPct val="100000"/>
              <a:buChar char="•"/>
            </a:pPr>
            <a:r>
              <a:rPr lang="en-US" sz="1400" dirty="0">
                <a:solidFill>
                  <a:srgbClr val="FFFFFF"/>
                </a:solidFill>
              </a:rPr>
              <a:t>National Weather Service alerts</a:t>
            </a:r>
            <a:endParaRPr lang="en-US" sz="1400" dirty="0"/>
          </a:p>
        </p:txBody>
      </p:sp>
      <p:sp>
        <p:nvSpPr>
          <p:cNvPr id="10" name="anim-2-rise-i01"/>
          <p:cNvSpPr txBox="1"/>
          <p:nvPr/>
        </p:nvSpPr>
        <p:spPr>
          <a:xfrm>
            <a:off x="7955280" y="2432304"/>
            <a:ext cx="3703320" cy="310896"/>
          </a:xfrm>
          <a:prstGeom prst="rect">
            <a:avLst/>
          </a:prstGeom>
          <a:noFill/>
          <a:ln/>
        </p:spPr>
        <p:txBody>
          <a:bodyPr wrap="square" lIns="0" tIns="0" rIns="0" bIns="0" rtlCol="0" anchor="ctr"/>
          <a:lstStyle/>
          <a:p>
            <a:pPr marL="177800" indent="-177800">
              <a:buSzPct val="100000"/>
              <a:buChar char="•"/>
            </a:pPr>
            <a:r>
              <a:rPr lang="en-US" sz="1400" dirty="0">
                <a:solidFill>
                  <a:srgbClr val="FFFFFF"/>
                </a:solidFill>
              </a:rPr>
              <a:t>USGS earthquakes</a:t>
            </a:r>
            <a:endParaRPr lang="en-US" sz="1400" dirty="0"/>
          </a:p>
        </p:txBody>
      </p:sp>
      <p:sp>
        <p:nvSpPr>
          <p:cNvPr id="11" name="anim-2-rise-i02"/>
          <p:cNvSpPr txBox="1"/>
          <p:nvPr/>
        </p:nvSpPr>
        <p:spPr>
          <a:xfrm>
            <a:off x="7955280" y="2761488"/>
            <a:ext cx="3703320" cy="310896"/>
          </a:xfrm>
          <a:prstGeom prst="rect">
            <a:avLst/>
          </a:prstGeom>
          <a:noFill/>
          <a:ln/>
        </p:spPr>
        <p:txBody>
          <a:bodyPr wrap="square" lIns="0" tIns="0" rIns="0" bIns="0" rtlCol="0" anchor="ctr"/>
          <a:lstStyle/>
          <a:p>
            <a:pPr marL="177800" indent="-177800">
              <a:buSzPct val="100000"/>
              <a:buChar char="•"/>
            </a:pPr>
            <a:r>
              <a:rPr lang="en-US" sz="1400" dirty="0">
                <a:solidFill>
                  <a:srgbClr val="FFFFFF"/>
                </a:solidFill>
              </a:rPr>
              <a:t>NHTSA VIN decode + recalls</a:t>
            </a:r>
            <a:endParaRPr lang="en-US" sz="1400" dirty="0"/>
          </a:p>
        </p:txBody>
      </p:sp>
      <p:sp>
        <p:nvSpPr>
          <p:cNvPr id="12" name="anim-2-rise-i03"/>
          <p:cNvSpPr txBox="1"/>
          <p:nvPr/>
        </p:nvSpPr>
        <p:spPr>
          <a:xfrm>
            <a:off x="7955280" y="3090672"/>
            <a:ext cx="3703320" cy="310896"/>
          </a:xfrm>
          <a:prstGeom prst="rect">
            <a:avLst/>
          </a:prstGeom>
          <a:noFill/>
          <a:ln/>
        </p:spPr>
        <p:txBody>
          <a:bodyPr wrap="square" lIns="0" tIns="0" rIns="0" bIns="0" rtlCol="0" anchor="ctr"/>
          <a:lstStyle/>
          <a:p>
            <a:pPr marL="177800" indent="-177800">
              <a:buSzPct val="100000"/>
              <a:buChar char="•"/>
            </a:pPr>
            <a:r>
              <a:rPr lang="en-US" sz="1400" dirty="0">
                <a:solidFill>
                  <a:srgbClr val="FFFFFF"/>
                </a:solidFill>
              </a:rPr>
              <a:t>openFDA drug &amp; food recalls, labels</a:t>
            </a:r>
            <a:endParaRPr lang="en-US" sz="1400" dirty="0"/>
          </a:p>
        </p:txBody>
      </p:sp>
      <p:sp>
        <p:nvSpPr>
          <p:cNvPr id="13" name="anim-2-rise-i04"/>
          <p:cNvSpPr txBox="1"/>
          <p:nvPr/>
        </p:nvSpPr>
        <p:spPr>
          <a:xfrm>
            <a:off x="7955280" y="3419856"/>
            <a:ext cx="3703320" cy="310896"/>
          </a:xfrm>
          <a:prstGeom prst="rect">
            <a:avLst/>
          </a:prstGeom>
          <a:noFill/>
          <a:ln/>
        </p:spPr>
        <p:txBody>
          <a:bodyPr wrap="square" lIns="0" tIns="0" rIns="0" bIns="0" rtlCol="0" anchor="ctr"/>
          <a:lstStyle/>
          <a:p>
            <a:pPr marL="177800" indent="-177800">
              <a:buSzPct val="100000"/>
              <a:buChar char="•"/>
            </a:pPr>
            <a:r>
              <a:rPr lang="en-US" sz="1400" dirty="0">
                <a:solidFill>
                  <a:srgbClr val="FFFFFF"/>
                </a:solidFill>
              </a:rPr>
              <a:t>OpenFEMA disaster declarations</a:t>
            </a:r>
            <a:endParaRPr lang="en-US" sz="1400" dirty="0"/>
          </a:p>
        </p:txBody>
      </p:sp>
      <p:sp>
        <p:nvSpPr>
          <p:cNvPr id="14" name="anim-3-fade-g1"/>
          <p:cNvSpPr txBox="1"/>
          <p:nvPr/>
        </p:nvSpPr>
        <p:spPr>
          <a:xfrm>
            <a:off x="7955280" y="3895344"/>
            <a:ext cx="3657600" cy="292608"/>
          </a:xfrm>
          <a:prstGeom prst="rect">
            <a:avLst/>
          </a:prstGeom>
          <a:noFill/>
          <a:ln/>
        </p:spPr>
        <p:txBody>
          <a:bodyPr wrap="square" lIns="0" tIns="0" rIns="0" bIns="0" rtlCol="0" anchor="ctr"/>
          <a:lstStyle/>
          <a:p>
            <a:pPr indent="0" marL="0">
              <a:buNone/>
            </a:pPr>
            <a:r>
              <a:rPr lang="en-US" sz="1200" b="1" spc="200" kern="0" dirty="0">
                <a:solidFill>
                  <a:srgbClr val="EFA56F"/>
                </a:solidFill>
              </a:rPr>
              <a:t>OPEN DATA</a:t>
            </a:r>
            <a:endParaRPr lang="en-US" sz="1200" dirty="0"/>
          </a:p>
        </p:txBody>
      </p:sp>
      <p:sp>
        <p:nvSpPr>
          <p:cNvPr id="15" name="anim-3-rise-i10"/>
          <p:cNvSpPr txBox="1"/>
          <p:nvPr/>
        </p:nvSpPr>
        <p:spPr>
          <a:xfrm>
            <a:off x="7955280" y="4261104"/>
            <a:ext cx="3703320" cy="310896"/>
          </a:xfrm>
          <a:prstGeom prst="rect">
            <a:avLst/>
          </a:prstGeom>
          <a:noFill/>
          <a:ln/>
        </p:spPr>
        <p:txBody>
          <a:bodyPr wrap="square" lIns="0" tIns="0" rIns="0" bIns="0" rtlCol="0" anchor="ctr"/>
          <a:lstStyle/>
          <a:p>
            <a:pPr marL="177800" indent="-177800">
              <a:buSzPct val="100000"/>
              <a:buChar char="•"/>
            </a:pPr>
            <a:r>
              <a:rPr lang="en-US" sz="1400" dirty="0">
                <a:solidFill>
                  <a:srgbClr val="FFFFFF"/>
                </a:solidFill>
              </a:rPr>
              <a:t>Open-Meteo forecast, air quality, geocoding</a:t>
            </a:r>
            <a:endParaRPr lang="en-US" sz="1400" dirty="0"/>
          </a:p>
        </p:txBody>
      </p:sp>
      <p:sp>
        <p:nvSpPr>
          <p:cNvPr id="16" name="anim-3-rise-i11"/>
          <p:cNvSpPr txBox="1"/>
          <p:nvPr/>
        </p:nvSpPr>
        <p:spPr>
          <a:xfrm>
            <a:off x="7955280" y="4590288"/>
            <a:ext cx="3703320" cy="310896"/>
          </a:xfrm>
          <a:prstGeom prst="rect">
            <a:avLst/>
          </a:prstGeom>
          <a:noFill/>
          <a:ln/>
        </p:spPr>
        <p:txBody>
          <a:bodyPr wrap="square" lIns="0" tIns="0" rIns="0" bIns="0" rtlCol="0" anchor="ctr"/>
          <a:lstStyle/>
          <a:p>
            <a:pPr marL="177800" indent="-177800">
              <a:buSzPct val="100000"/>
              <a:buChar char="•"/>
            </a:pPr>
            <a:r>
              <a:rPr lang="en-US" sz="1400" dirty="0">
                <a:solidFill>
                  <a:srgbClr val="FFFFFF"/>
                </a:solidFill>
              </a:rPr>
              <a:t>Wikipedia</a:t>
            </a:r>
            <a:endParaRPr lang="en-US" sz="1400" dirty="0"/>
          </a:p>
        </p:txBody>
      </p:sp>
      <p:sp>
        <p:nvSpPr>
          <p:cNvPr id="17" name="anim-4-rise-nk"/>
          <p:cNvSpPr/>
          <p:nvPr/>
        </p:nvSpPr>
        <p:spPr>
          <a:xfrm>
            <a:off x="7955280" y="5193792"/>
            <a:ext cx="3703320" cy="896112"/>
          </a:xfrm>
          <a:prstGeom prst="roundRect">
            <a:avLst>
              <a:gd name="adj" fmla="val 14286"/>
            </a:avLst>
          </a:prstGeom>
          <a:solidFill>
            <a:srgbClr val="241A12">
              <a:alpha val="92000"/>
            </a:srgbClr>
          </a:solidFill>
          <a:ln w="12700">
            <a:solidFill>
              <a:srgbClr val="EFA56F"/>
            </a:solidFill>
            <a:prstDash val="solid"/>
          </a:ln>
        </p:spPr>
      </p:sp>
      <p:sp>
        <p:nvSpPr>
          <p:cNvPr id="18" name="anim-4-rise-nkt"/>
          <p:cNvSpPr txBox="1"/>
          <p:nvPr/>
        </p:nvSpPr>
        <p:spPr>
          <a:xfrm>
            <a:off x="8138160" y="5230368"/>
            <a:ext cx="3383280" cy="822960"/>
          </a:xfrm>
          <a:prstGeom prst="rect">
            <a:avLst/>
          </a:prstGeom>
          <a:noFill/>
          <a:ln/>
        </p:spPr>
        <p:txBody>
          <a:bodyPr wrap="square" lIns="0" tIns="0" rIns="0" bIns="0" rtlCol="0" anchor="ctr"/>
          <a:lstStyle/>
          <a:p>
            <a:pPr indent="0" marL="0">
              <a:buNone/>
            </a:pPr>
            <a:r>
              <a:rPr lang="en-US" sz="1350" dirty="0">
                <a:solidFill>
                  <a:srgbClr val="CDC7BB"/>
                </a:solidFill>
              </a:rPr>
              <a:t>No keys, no accounts. 12 live APIs, and they only ever see a coarsened location.</a:t>
            </a:r>
            <a:endParaRPr lang="en-US" sz="135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5" fill="hold">
                            <p:stCondLst>
                              <p:cond delay="0"/>
                            </p:stCondLst>
                            <p:childTnLst>
                              <p:par>
                                <p:cTn id="8" presetID="53" presetClass="entr" presetSubtype="16"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 calcmode="lin" valueType="num">
                                      <p:cBhvr>
                                        <p:cTn id="5" dur="700" decel="100000" fill="hold"/>
                                        <p:tgtEl>
                                          <p:spTgt spid="6"/>
                                        </p:tgtEl>
                                        <p:attrNameLst>
                                          <p:attrName>ppt_w</p:attrName>
                                        </p:attrNameLst>
                                      </p:cBhvr>
                                      <p:tavLst>
                                        <p:tav tm="0">
                                          <p:val>
                                            <p:strVal val="0"/>
                                          </p:val>
                                        </p:tav>
                                        <p:tav tm="100000">
                                          <p:val>
                                            <p:strVal val="#ppt_w"/>
                                          </p:val>
                                        </p:tav>
                                      </p:tavLst>
                                    </p:anim>
                                    <p:anim calcmode="lin" valueType="num">
                                      <p:cBhvr>
                                        <p:cTn id="6" dur="700" decel="100000" fill="hold"/>
                                        <p:tgtEl>
                                          <p:spTgt spid="6"/>
                                        </p:tgtEl>
                                        <p:attrNameLst>
                                          <p:attrName>ppt_h</p:attrName>
                                        </p:attrNameLst>
                                      </p:cBhvr>
                                      <p:tavLst>
                                        <p:tav tm="0">
                                          <p:val>
                                            <p:strVal val="0"/>
                                          </p:val>
                                        </p:tav>
                                        <p:tav tm="100000">
                                          <p:val>
                                            <p:strVal val="#ppt_h"/>
                                          </p:val>
                                        </p:tav>
                                      </p:tavLst>
                                    </p:anim>
                                    <p:animEffect transition="in" filter="fade">
                                      <p:cBhvr>
                                        <p:cTn id="7" dur="700"/>
                                        <p:tgtEl>
                                          <p:spTgt spid="6"/>
                                        </p:tgtEl>
                                      </p:cBhvr>
                                    </p:animEffect>
                                  </p:childTnLst>
                                </p:cTn>
                              </p:par>
                              <p:par>
                                <p:cTn id="13" presetID="53" presetClass="entr" presetSubtype="16" fill="hold" grpId="0" nodeType="withEffect">
                                  <p:stCondLst>
                                    <p:cond delay="305"/>
                                  </p:stCondLst>
                                  <p:childTnLst>
                                    <p:set>
                                      <p:cBhvr>
                                        <p:cTn id="9" dur="1" fill="hold">
                                          <p:stCondLst>
                                            <p:cond delay="0"/>
                                          </p:stCondLst>
                                        </p:cTn>
                                        <p:tgtEl>
                                          <p:spTgt spid="7"/>
                                        </p:tgtEl>
                                        <p:attrNameLst>
                                          <p:attrName>style.visibility</p:attrName>
                                        </p:attrNameLst>
                                      </p:cBhvr>
                                      <p:to>
                                        <p:strVal val="visible"/>
                                      </p:to>
                                    </p:set>
                                    <p:anim calcmode="lin" valueType="num">
                                      <p:cBhvr>
                                        <p:cTn id="10" dur="700" decel="100000" fill="hold"/>
                                        <p:tgtEl>
                                          <p:spTgt spid="7"/>
                                        </p:tgtEl>
                                        <p:attrNameLst>
                                          <p:attrName>ppt_w</p:attrName>
                                        </p:attrNameLst>
                                      </p:cBhvr>
                                      <p:tavLst>
                                        <p:tav tm="0">
                                          <p:val>
                                            <p:strVal val="0"/>
                                          </p:val>
                                        </p:tav>
                                        <p:tav tm="100000">
                                          <p:val>
                                            <p:strVal val="#ppt_w"/>
                                          </p:val>
                                        </p:tav>
                                      </p:tavLst>
                                    </p:anim>
                                    <p:anim calcmode="lin" valueType="num">
                                      <p:cBhvr>
                                        <p:cTn id="11" dur="700" decel="100000" fill="hold"/>
                                        <p:tgtEl>
                                          <p:spTgt spid="7"/>
                                        </p:tgtEl>
                                        <p:attrNameLst>
                                          <p:attrName>ppt_h</p:attrName>
                                        </p:attrNameLst>
                                      </p:cBhvr>
                                      <p:tavLst>
                                        <p:tav tm="0">
                                          <p:val>
                                            <p:strVal val="0"/>
                                          </p:val>
                                        </p:tav>
                                        <p:tav tm="100000">
                                          <p:val>
                                            <p:strVal val="#ppt_h"/>
                                          </p:val>
                                        </p:tav>
                                      </p:tavLst>
                                    </p:anim>
                                    <p:animEffect transition="in" filter="fade">
                                      <p:cBhvr>
                                        <p:cTn id="12" dur="700"/>
                                        <p:tgtEl>
                                          <p:spTgt spid="7"/>
                                        </p:tgtEl>
                                      </p:cBhvr>
                                    </p:animEffect>
                                  </p:childTnLst>
                                </p:cTn>
                              </p:par>
                              <p:par>
                                <p:cTn id="16" presetID="10" presetClass="entr" presetSubtype="0" fill="hold" grpId="0" nodeType="withEffect">
                                  <p:stCondLst>
                                    <p:cond delay="58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50"/>
                                        <p:tgtEl>
                                          <p:spTgt spid="8"/>
                                        </p:tgtEl>
                                      </p:cBhvr>
                                    </p:animEffect>
                                  </p:childTnLst>
                                </p:cTn>
                              </p:par>
                              <p:par>
                                <p:cTn id="21" presetID="42" presetClass="entr" presetSubtype="0" fill="hold" grpId="0" nodeType="withEffect">
                                  <p:stCondLst>
                                    <p:cond delay="635"/>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750"/>
                                        <p:tgtEl>
                                          <p:spTgt spid="9"/>
                                        </p:tgtEl>
                                      </p:cBhvr>
                                    </p:animEffect>
                                    <p:anim calcmode="lin" valueType="num">
                                      <p:cBhvr>
                                        <p:cTn id="19" dur="750" fill="hold"/>
                                        <p:tgtEl>
                                          <p:spTgt spid="9"/>
                                        </p:tgtEl>
                                        <p:attrNameLst>
                                          <p:attrName>ppt_x</p:attrName>
                                        </p:attrNameLst>
                                      </p:cBhvr>
                                      <p:tavLst>
                                        <p:tav tm="0">
                                          <p:val>
                                            <p:strVal val="#ppt_x"/>
                                          </p:val>
                                        </p:tav>
                                        <p:tav tm="100000">
                                          <p:val>
                                            <p:strVal val="#ppt_x"/>
                                          </p:val>
                                        </p:tav>
                                      </p:tavLst>
                                    </p:anim>
                                    <p:anim calcmode="lin" valueType="num">
                                      <p:cBhvr>
                                        <p:cTn id="20" dur="750" decel="100000" fill="hold"/>
                                        <p:tgtEl>
                                          <p:spTgt spid="9"/>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69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750"/>
                                        <p:tgtEl>
                                          <p:spTgt spid="10"/>
                                        </p:tgtEl>
                                      </p:cBhvr>
                                    </p:animEffect>
                                    <p:anim calcmode="lin" valueType="num">
                                      <p:cBhvr>
                                        <p:cTn id="24" dur="750" fill="hold"/>
                                        <p:tgtEl>
                                          <p:spTgt spid="10"/>
                                        </p:tgtEl>
                                        <p:attrNameLst>
                                          <p:attrName>ppt_x</p:attrName>
                                        </p:attrNameLst>
                                      </p:cBhvr>
                                      <p:tavLst>
                                        <p:tav tm="0">
                                          <p:val>
                                            <p:strVal val="#ppt_x"/>
                                          </p:val>
                                        </p:tav>
                                        <p:tav tm="100000">
                                          <p:val>
                                            <p:strVal val="#ppt_x"/>
                                          </p:val>
                                        </p:tav>
                                      </p:tavLst>
                                    </p:anim>
                                    <p:anim calcmode="lin" valueType="num">
                                      <p:cBhvr>
                                        <p:cTn id="25" dur="750" decel="100000" fill="hold"/>
                                        <p:tgtEl>
                                          <p:spTgt spid="10"/>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74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750"/>
                                        <p:tgtEl>
                                          <p:spTgt spid="11"/>
                                        </p:tgtEl>
                                      </p:cBhvr>
                                    </p:animEffect>
                                    <p:anim calcmode="lin" valueType="num">
                                      <p:cBhvr>
                                        <p:cTn id="29" dur="750" fill="hold"/>
                                        <p:tgtEl>
                                          <p:spTgt spid="11"/>
                                        </p:tgtEl>
                                        <p:attrNameLst>
                                          <p:attrName>ppt_x</p:attrName>
                                        </p:attrNameLst>
                                      </p:cBhvr>
                                      <p:tavLst>
                                        <p:tav tm="0">
                                          <p:val>
                                            <p:strVal val="#ppt_x"/>
                                          </p:val>
                                        </p:tav>
                                        <p:tav tm="100000">
                                          <p:val>
                                            <p:strVal val="#ppt_x"/>
                                          </p:val>
                                        </p:tav>
                                      </p:tavLst>
                                    </p:anim>
                                    <p:anim calcmode="lin" valueType="num">
                                      <p:cBhvr>
                                        <p:cTn id="30" dur="750" decel="100000" fill="hold"/>
                                        <p:tgtEl>
                                          <p:spTgt spid="11"/>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8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750"/>
                                        <p:tgtEl>
                                          <p:spTgt spid="12"/>
                                        </p:tgtEl>
                                      </p:cBhvr>
                                    </p:animEffect>
                                    <p:anim calcmode="lin" valueType="num">
                                      <p:cBhvr>
                                        <p:cTn id="34" dur="750" fill="hold"/>
                                        <p:tgtEl>
                                          <p:spTgt spid="12"/>
                                        </p:tgtEl>
                                        <p:attrNameLst>
                                          <p:attrName>ppt_x</p:attrName>
                                        </p:attrNameLst>
                                      </p:cBhvr>
                                      <p:tavLst>
                                        <p:tav tm="0">
                                          <p:val>
                                            <p:strVal val="#ppt_x"/>
                                          </p:val>
                                        </p:tav>
                                        <p:tav tm="100000">
                                          <p:val>
                                            <p:strVal val="#ppt_x"/>
                                          </p:val>
                                        </p:tav>
                                      </p:tavLst>
                                    </p:anim>
                                    <p:anim calcmode="lin" valueType="num">
                                      <p:cBhvr>
                                        <p:cTn id="35" dur="750" decel="100000" fill="hold"/>
                                        <p:tgtEl>
                                          <p:spTgt spid="12"/>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855"/>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750"/>
                                        <p:tgtEl>
                                          <p:spTgt spid="13"/>
                                        </p:tgtEl>
                                      </p:cBhvr>
                                    </p:animEffect>
                                    <p:anim calcmode="lin" valueType="num">
                                      <p:cBhvr>
                                        <p:cTn id="39" dur="750" fill="hold"/>
                                        <p:tgtEl>
                                          <p:spTgt spid="13"/>
                                        </p:tgtEl>
                                        <p:attrNameLst>
                                          <p:attrName>ppt_x</p:attrName>
                                        </p:attrNameLst>
                                      </p:cBhvr>
                                      <p:tavLst>
                                        <p:tav tm="0">
                                          <p:val>
                                            <p:strVal val="#ppt_x"/>
                                          </p:val>
                                        </p:tav>
                                        <p:tav tm="100000">
                                          <p:val>
                                            <p:strVal val="#ppt_x"/>
                                          </p:val>
                                        </p:tav>
                                      </p:tavLst>
                                    </p:anim>
                                    <p:anim calcmode="lin" valueType="num">
                                      <p:cBhvr>
                                        <p:cTn id="40" dur="750" decel="100000" fill="hold"/>
                                        <p:tgtEl>
                                          <p:spTgt spid="13"/>
                                        </p:tgtEl>
                                        <p:attrNameLst>
                                          <p:attrName>ppt_y</p:attrName>
                                        </p:attrNameLst>
                                      </p:cBhvr>
                                      <p:tavLst>
                                        <p:tav tm="0">
                                          <p:val>
                                            <p:strVal val="#ppt_y+.06"/>
                                          </p:val>
                                        </p:tav>
                                        <p:tav tm="100000">
                                          <p:val>
                                            <p:strVal val="#ppt_y"/>
                                          </p:val>
                                        </p:tav>
                                      </p:tavLst>
                                    </p:anim>
                                  </p:childTnLst>
                                </p:cTn>
                              </p:par>
                              <p:par>
                                <p:cTn id="44" presetID="10" presetClass="entr" presetSubtype="0" fill="hold" grpId="0" nodeType="withEffect">
                                  <p:stCondLst>
                                    <p:cond delay="91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50"/>
                                        <p:tgtEl>
                                          <p:spTgt spid="14"/>
                                        </p:tgtEl>
                                      </p:cBhvr>
                                    </p:animEffect>
                                  </p:childTnLst>
                                </p:cTn>
                              </p:par>
                              <p:par>
                                <p:cTn id="49" presetID="42" presetClass="entr" presetSubtype="0" fill="hold" grpId="0" nodeType="withEffect">
                                  <p:stCondLst>
                                    <p:cond delay="965"/>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50"/>
                                        <p:tgtEl>
                                          <p:spTgt spid="15"/>
                                        </p:tgtEl>
                                      </p:cBhvr>
                                    </p:animEffect>
                                    <p:anim calcmode="lin" valueType="num">
                                      <p:cBhvr>
                                        <p:cTn id="47" dur="750" fill="hold"/>
                                        <p:tgtEl>
                                          <p:spTgt spid="15"/>
                                        </p:tgtEl>
                                        <p:attrNameLst>
                                          <p:attrName>ppt_x</p:attrName>
                                        </p:attrNameLst>
                                      </p:cBhvr>
                                      <p:tavLst>
                                        <p:tav tm="0">
                                          <p:val>
                                            <p:strVal val="#ppt_x"/>
                                          </p:val>
                                        </p:tav>
                                        <p:tav tm="100000">
                                          <p:val>
                                            <p:strVal val="#ppt_x"/>
                                          </p:val>
                                        </p:tav>
                                      </p:tavLst>
                                    </p:anim>
                                    <p:anim calcmode="lin" valueType="num">
                                      <p:cBhvr>
                                        <p:cTn id="48" dur="750" decel="100000" fill="hold"/>
                                        <p:tgtEl>
                                          <p:spTgt spid="15"/>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02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750"/>
                                        <p:tgtEl>
                                          <p:spTgt spid="16"/>
                                        </p:tgtEl>
                                      </p:cBhvr>
                                    </p:animEffect>
                                    <p:anim calcmode="lin" valueType="num">
                                      <p:cBhvr>
                                        <p:cTn id="52" dur="750" fill="hold"/>
                                        <p:tgtEl>
                                          <p:spTgt spid="16"/>
                                        </p:tgtEl>
                                        <p:attrNameLst>
                                          <p:attrName>ppt_x</p:attrName>
                                        </p:attrNameLst>
                                      </p:cBhvr>
                                      <p:tavLst>
                                        <p:tav tm="0">
                                          <p:val>
                                            <p:strVal val="#ppt_x"/>
                                          </p:val>
                                        </p:tav>
                                        <p:tav tm="100000">
                                          <p:val>
                                            <p:strVal val="#ppt_x"/>
                                          </p:val>
                                        </p:tav>
                                      </p:tavLst>
                                    </p:anim>
                                    <p:anim calcmode="lin" valueType="num">
                                      <p:cBhvr>
                                        <p:cTn id="53" dur="750" decel="100000" fill="hold"/>
                                        <p:tgtEl>
                                          <p:spTgt spid="16"/>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124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750"/>
                                        <p:tgtEl>
                                          <p:spTgt spid="17"/>
                                        </p:tgtEl>
                                      </p:cBhvr>
                                    </p:animEffect>
                                    <p:anim calcmode="lin" valueType="num">
                                      <p:cBhvr>
                                        <p:cTn id="57" dur="750" fill="hold"/>
                                        <p:tgtEl>
                                          <p:spTgt spid="17"/>
                                        </p:tgtEl>
                                        <p:attrNameLst>
                                          <p:attrName>ppt_x</p:attrName>
                                        </p:attrNameLst>
                                      </p:cBhvr>
                                      <p:tavLst>
                                        <p:tav tm="0">
                                          <p:val>
                                            <p:strVal val="#ppt_x"/>
                                          </p:val>
                                        </p:tav>
                                        <p:tav tm="100000">
                                          <p:val>
                                            <p:strVal val="#ppt_x"/>
                                          </p:val>
                                        </p:tav>
                                      </p:tavLst>
                                    </p:anim>
                                    <p:anim calcmode="lin" valueType="num">
                                      <p:cBhvr>
                                        <p:cTn id="58" dur="750" decel="10000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1295"/>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750"/>
                                        <p:tgtEl>
                                          <p:spTgt spid="18"/>
                                        </p:tgtEl>
                                      </p:cBhvr>
                                    </p:animEffect>
                                    <p:anim calcmode="lin" valueType="num">
                                      <p:cBhvr>
                                        <p:cTn id="62" dur="750" fill="hold"/>
                                        <p:tgtEl>
                                          <p:spTgt spid="18"/>
                                        </p:tgtEl>
                                        <p:attrNameLst>
                                          <p:attrName>ppt_x</p:attrName>
                                        </p:attrNameLst>
                                      </p:cBhvr>
                                      <p:tavLst>
                                        <p:tav tm="0">
                                          <p:val>
                                            <p:strVal val="#ppt_x"/>
                                          </p:val>
                                        </p:tav>
                                        <p:tav tm="100000">
                                          <p:val>
                                            <p:strVal val="#ppt_x"/>
                                          </p:val>
                                        </p:tav>
                                      </p:tavLst>
                                    </p:anim>
                                    <p:anim calcmode="lin" valueType="num">
                                      <p:cBhvr>
                                        <p:cTn id="63" dur="750" decel="100000" fill="hold"/>
                                        <p:tgtEl>
                                          <p:spTgt spid="1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1645920" y="2560320"/>
            <a:ext cx="5852160" cy="585216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RED TEAM</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We attacked our own agent</a:t>
            </a:r>
            <a:endParaRPr lang="en-US" sz="3400" dirty="0"/>
          </a:p>
        </p:txBody>
      </p:sp>
      <p:sp>
        <p:nvSpPr>
          <p:cNvPr id="6" name="anim-1-zoom-big"/>
          <p:cNvSpPr txBox="1"/>
          <p:nvPr/>
        </p:nvSpPr>
        <p:spPr>
          <a:xfrm>
            <a:off x="548640" y="1645920"/>
            <a:ext cx="3840480" cy="1737360"/>
          </a:xfrm>
          <a:prstGeom prst="rect">
            <a:avLst/>
          </a:prstGeom>
          <a:noFill/>
          <a:ln/>
        </p:spPr>
        <p:txBody>
          <a:bodyPr wrap="square" lIns="0" tIns="0" rIns="0" bIns="0" rtlCol="0" anchor="ctr"/>
          <a:lstStyle/>
          <a:p>
            <a:pPr indent="0" marL="0">
              <a:buNone/>
            </a:pPr>
            <a:r>
              <a:rPr lang="en-US" sz="11000" b="1" dirty="0">
                <a:solidFill>
                  <a:srgbClr val="EFA56F"/>
                </a:solidFill>
              </a:rPr>
              <a:t>5/5</a:t>
            </a:r>
            <a:endParaRPr lang="en-US" sz="11000" dirty="0"/>
          </a:p>
        </p:txBody>
      </p:sp>
      <p:sp>
        <p:nvSpPr>
          <p:cNvPr id="7" name="anim-2-fade-bl"/>
          <p:cNvSpPr txBox="1"/>
          <p:nvPr/>
        </p:nvSpPr>
        <p:spPr>
          <a:xfrm>
            <a:off x="594360" y="3337560"/>
            <a:ext cx="3840480" cy="457200"/>
          </a:xfrm>
          <a:prstGeom prst="rect">
            <a:avLst/>
          </a:prstGeom>
          <a:noFill/>
          <a:ln/>
        </p:spPr>
        <p:txBody>
          <a:bodyPr wrap="square" lIns="0" tIns="0" rIns="0" bIns="0" rtlCol="0" anchor="ctr"/>
          <a:lstStyle/>
          <a:p>
            <a:pPr indent="0" marL="0">
              <a:buNone/>
            </a:pPr>
            <a:r>
              <a:rPr lang="en-US" sz="2400" b="1" dirty="0">
                <a:solidFill>
                  <a:srgbClr val="FFFFFF"/>
                </a:solidFill>
              </a:rPr>
              <a:t>attacks contained</a:t>
            </a:r>
            <a:endParaRPr lang="en-US" sz="2400" dirty="0"/>
          </a:p>
        </p:txBody>
      </p:sp>
      <p:sp>
        <p:nvSpPr>
          <p:cNvPr id="8" name="anim-3-fade-bp"/>
          <p:cNvSpPr txBox="1"/>
          <p:nvPr/>
        </p:nvSpPr>
        <p:spPr>
          <a:xfrm>
            <a:off x="594360" y="3931920"/>
            <a:ext cx="3749040" cy="1737360"/>
          </a:xfrm>
          <a:prstGeom prst="rect">
            <a:avLst/>
          </a:prstGeom>
          <a:noFill/>
          <a:ln/>
        </p:spPr>
        <p:txBody>
          <a:bodyPr wrap="square" lIns="0" tIns="0" rIns="0" bIns="0" rtlCol="0" anchor="t"/>
          <a:lstStyle/>
          <a:p>
            <a:pPr indent="0" marL="0">
              <a:buNone/>
            </a:pPr>
            <a:r>
              <a:rPr lang="en-US" sz="1500" dirty="0">
                <a:solidFill>
                  <a:srgbClr val="CDC7BB"/>
                </a:solidFill>
              </a:rPr>
              <a:t>Even a simulated compromised agent that obeys injected instructions can’t move the SSN, the real card or mental-health data. Those bytes never cross the boundary.</a:t>
            </a:r>
            <a:endParaRPr lang="en-US" sz="1500" dirty="0"/>
          </a:p>
        </p:txBody>
      </p:sp>
      <p:sp>
        <p:nvSpPr>
          <p:cNvPr id="9" name="anim-4-rise-a0"/>
          <p:cNvSpPr/>
          <p:nvPr/>
        </p:nvSpPr>
        <p:spPr>
          <a:xfrm>
            <a:off x="4754880" y="1691640"/>
            <a:ext cx="6903720" cy="777240"/>
          </a:xfrm>
          <a:prstGeom prst="roundRect">
            <a:avLst>
              <a:gd name="adj" fmla="val 16471"/>
            </a:avLst>
          </a:prstGeom>
          <a:solidFill>
            <a:srgbClr val="1A1B17">
              <a:alpha val="92000"/>
            </a:srgbClr>
          </a:solidFill>
          <a:ln w="12700">
            <a:solidFill>
              <a:srgbClr val="33342E"/>
            </a:solidFill>
            <a:prstDash val="solid"/>
          </a:ln>
        </p:spPr>
      </p:sp>
      <p:sp>
        <p:nvSpPr>
          <p:cNvPr id="10" name="anim-4-rise-ad0-c"/>
          <p:cNvSpPr/>
          <p:nvPr/>
        </p:nvSpPr>
        <p:spPr>
          <a:xfrm>
            <a:off x="4937760" y="1874520"/>
            <a:ext cx="411480" cy="411480"/>
          </a:xfrm>
          <a:prstGeom prst="ellipse">
            <a:avLst/>
          </a:prstGeom>
          <a:solidFill>
            <a:srgbClr val="34D399">
              <a:alpha val="22000"/>
            </a:srgbClr>
          </a:solidFill>
          <a:ln w="15875">
            <a:solidFill>
              <a:srgbClr val="34D399"/>
            </a:solidFill>
            <a:prstDash val="solid"/>
          </a:ln>
        </p:spPr>
      </p:sp>
      <p:sp>
        <p:nvSpPr>
          <p:cNvPr id="11" name="anim-4-rise-ad0-t"/>
          <p:cNvSpPr txBox="1"/>
          <p:nvPr/>
        </p:nvSpPr>
        <p:spPr>
          <a:xfrm>
            <a:off x="4937760" y="1874520"/>
            <a:ext cx="411480" cy="411480"/>
          </a:xfrm>
          <a:prstGeom prst="rect">
            <a:avLst/>
          </a:prstGeom>
          <a:noFill/>
          <a:ln/>
        </p:spPr>
        <p:txBody>
          <a:bodyPr wrap="square" lIns="0" tIns="0" rIns="0" bIns="0" rtlCol="0" anchor="ctr"/>
          <a:lstStyle/>
          <a:p>
            <a:pPr algn="ctr" indent="0" marL="0">
              <a:buNone/>
            </a:pPr>
            <a:r>
              <a:rPr lang="en-US" sz="1400" b="1" dirty="0">
                <a:solidFill>
                  <a:srgbClr val="34D399"/>
                </a:solidFill>
              </a:rPr>
              <a:t>✓</a:t>
            </a:r>
            <a:endParaRPr lang="en-US" sz="1400" dirty="0"/>
          </a:p>
        </p:txBody>
      </p:sp>
      <p:sp>
        <p:nvSpPr>
          <p:cNvPr id="12" name="anim-4-rise-ah0"/>
          <p:cNvSpPr txBox="1"/>
          <p:nvPr/>
        </p:nvSpPr>
        <p:spPr>
          <a:xfrm>
            <a:off x="5532120" y="1755648"/>
            <a:ext cx="5943600" cy="329184"/>
          </a:xfrm>
          <a:prstGeom prst="rect">
            <a:avLst/>
          </a:prstGeom>
          <a:noFill/>
          <a:ln/>
        </p:spPr>
        <p:txBody>
          <a:bodyPr wrap="square" lIns="0" tIns="0" rIns="0" bIns="0" rtlCol="0" anchor="ctr"/>
          <a:lstStyle/>
          <a:p>
            <a:pPr indent="0" marL="0">
              <a:buNone/>
            </a:pPr>
            <a:r>
              <a:rPr lang="en-US" sz="1550" b="1" dirty="0">
                <a:solidFill>
                  <a:srgbClr val="FFFFFF"/>
                </a:solidFill>
              </a:rPr>
              <a:t>Poisoned restaurant review</a:t>
            </a:r>
            <a:endParaRPr lang="en-US" sz="1550" dirty="0"/>
          </a:p>
        </p:txBody>
      </p:sp>
      <p:sp>
        <p:nvSpPr>
          <p:cNvPr id="13" name="anim-4-rise-ab0"/>
          <p:cNvSpPr txBox="1"/>
          <p:nvPr/>
        </p:nvSpPr>
        <p:spPr>
          <a:xfrm>
            <a:off x="5532120" y="2075688"/>
            <a:ext cx="5989320" cy="347472"/>
          </a:xfrm>
          <a:prstGeom prst="rect">
            <a:avLst/>
          </a:prstGeom>
          <a:noFill/>
          <a:ln/>
        </p:spPr>
        <p:txBody>
          <a:bodyPr wrap="square" lIns="0" tIns="0" rIns="0" bIns="0" rtlCol="0" anchor="ctr"/>
          <a:lstStyle/>
          <a:p>
            <a:pPr indent="0" marL="0">
              <a:buNone/>
            </a:pPr>
            <a:r>
              <a:rPr lang="en-US" sz="1250" dirty="0">
                <a:solidFill>
                  <a:srgbClr val="CDC7BB"/>
                </a:solidFill>
              </a:rPr>
              <a:t>Hidden HTML comment orders exfiltration → quarantined (score 1.0), run tainted, exfil call blocked</a:t>
            </a:r>
            <a:endParaRPr lang="en-US" sz="1250" dirty="0"/>
          </a:p>
        </p:txBody>
      </p:sp>
      <p:sp>
        <p:nvSpPr>
          <p:cNvPr id="14" name="anim-5-rise-a1"/>
          <p:cNvSpPr/>
          <p:nvPr/>
        </p:nvSpPr>
        <p:spPr>
          <a:xfrm>
            <a:off x="4754880" y="2578608"/>
            <a:ext cx="6903720" cy="777240"/>
          </a:xfrm>
          <a:prstGeom prst="roundRect">
            <a:avLst>
              <a:gd name="adj" fmla="val 16471"/>
            </a:avLst>
          </a:prstGeom>
          <a:solidFill>
            <a:srgbClr val="1A1B17">
              <a:alpha val="92000"/>
            </a:srgbClr>
          </a:solidFill>
          <a:ln w="12700">
            <a:solidFill>
              <a:srgbClr val="33342E"/>
            </a:solidFill>
            <a:prstDash val="solid"/>
          </a:ln>
        </p:spPr>
      </p:sp>
      <p:sp>
        <p:nvSpPr>
          <p:cNvPr id="15" name="anim-5-rise-ad1-c"/>
          <p:cNvSpPr/>
          <p:nvPr/>
        </p:nvSpPr>
        <p:spPr>
          <a:xfrm>
            <a:off x="4937760" y="2761488"/>
            <a:ext cx="411480" cy="411480"/>
          </a:xfrm>
          <a:prstGeom prst="ellipse">
            <a:avLst/>
          </a:prstGeom>
          <a:solidFill>
            <a:srgbClr val="34D399">
              <a:alpha val="22000"/>
            </a:srgbClr>
          </a:solidFill>
          <a:ln w="15875">
            <a:solidFill>
              <a:srgbClr val="34D399"/>
            </a:solidFill>
            <a:prstDash val="solid"/>
          </a:ln>
        </p:spPr>
      </p:sp>
      <p:sp>
        <p:nvSpPr>
          <p:cNvPr id="16" name="anim-5-rise-ad1-t"/>
          <p:cNvSpPr txBox="1"/>
          <p:nvPr/>
        </p:nvSpPr>
        <p:spPr>
          <a:xfrm>
            <a:off x="4937760" y="2761488"/>
            <a:ext cx="411480" cy="411480"/>
          </a:xfrm>
          <a:prstGeom prst="rect">
            <a:avLst/>
          </a:prstGeom>
          <a:noFill/>
          <a:ln/>
        </p:spPr>
        <p:txBody>
          <a:bodyPr wrap="square" lIns="0" tIns="0" rIns="0" bIns="0" rtlCol="0" anchor="ctr"/>
          <a:lstStyle/>
          <a:p>
            <a:pPr algn="ctr" indent="0" marL="0">
              <a:buNone/>
            </a:pPr>
            <a:r>
              <a:rPr lang="en-US" sz="1400" b="1" dirty="0">
                <a:solidFill>
                  <a:srgbClr val="34D399"/>
                </a:solidFill>
              </a:rPr>
              <a:t>✓</a:t>
            </a:r>
            <a:endParaRPr lang="en-US" sz="1400" dirty="0"/>
          </a:p>
        </p:txBody>
      </p:sp>
      <p:sp>
        <p:nvSpPr>
          <p:cNvPr id="17" name="anim-5-rise-ah1"/>
          <p:cNvSpPr txBox="1"/>
          <p:nvPr/>
        </p:nvSpPr>
        <p:spPr>
          <a:xfrm>
            <a:off x="5532120" y="2642616"/>
            <a:ext cx="5943600" cy="329184"/>
          </a:xfrm>
          <a:prstGeom prst="rect">
            <a:avLst/>
          </a:prstGeom>
          <a:noFill/>
          <a:ln/>
        </p:spPr>
        <p:txBody>
          <a:bodyPr wrap="square" lIns="0" tIns="0" rIns="0" bIns="0" rtlCol="0" anchor="ctr"/>
          <a:lstStyle/>
          <a:p>
            <a:pPr indent="0" marL="0">
              <a:buNone/>
            </a:pPr>
            <a:r>
              <a:rPr lang="en-US" sz="1550" b="1" dirty="0">
                <a:solidFill>
                  <a:srgbClr val="FFFFFF"/>
                </a:solidFill>
              </a:rPr>
              <a:t>Zero-click image exfiltration</a:t>
            </a:r>
            <a:endParaRPr lang="en-US" sz="1550" dirty="0"/>
          </a:p>
        </p:txBody>
      </p:sp>
      <p:sp>
        <p:nvSpPr>
          <p:cNvPr id="18" name="anim-5-rise-ab1"/>
          <p:cNvSpPr txBox="1"/>
          <p:nvPr/>
        </p:nvSpPr>
        <p:spPr>
          <a:xfrm>
            <a:off x="5532120" y="2962656"/>
            <a:ext cx="5989320" cy="347472"/>
          </a:xfrm>
          <a:prstGeom prst="rect">
            <a:avLst/>
          </a:prstGeom>
          <a:noFill/>
          <a:ln/>
        </p:spPr>
        <p:txBody>
          <a:bodyPr wrap="square" lIns="0" tIns="0" rIns="0" bIns="0" rtlCol="0" anchor="ctr"/>
          <a:lstStyle/>
          <a:p>
            <a:pPr indent="0" marL="0">
              <a:buNone/>
            </a:pPr>
            <a:r>
              <a:rPr lang="en-US" sz="1250" dirty="0">
                <a:solidFill>
                  <a:srgbClr val="CDC7BB"/>
                </a:solidFill>
              </a:rPr>
              <a:t>Markdown image smuggles email + vault token → URL stripped, token neutralized</a:t>
            </a:r>
            <a:endParaRPr lang="en-US" sz="1250" dirty="0"/>
          </a:p>
        </p:txBody>
      </p:sp>
      <p:sp>
        <p:nvSpPr>
          <p:cNvPr id="19" name="anim-6-rise-a2"/>
          <p:cNvSpPr/>
          <p:nvPr/>
        </p:nvSpPr>
        <p:spPr>
          <a:xfrm>
            <a:off x="4754880" y="3465576"/>
            <a:ext cx="6903720" cy="777240"/>
          </a:xfrm>
          <a:prstGeom prst="roundRect">
            <a:avLst>
              <a:gd name="adj" fmla="val 16471"/>
            </a:avLst>
          </a:prstGeom>
          <a:solidFill>
            <a:srgbClr val="1A1B17">
              <a:alpha val="92000"/>
            </a:srgbClr>
          </a:solidFill>
          <a:ln w="12700">
            <a:solidFill>
              <a:srgbClr val="33342E"/>
            </a:solidFill>
            <a:prstDash val="solid"/>
          </a:ln>
        </p:spPr>
      </p:sp>
      <p:sp>
        <p:nvSpPr>
          <p:cNvPr id="20" name="anim-6-rise-ad2-c"/>
          <p:cNvSpPr/>
          <p:nvPr/>
        </p:nvSpPr>
        <p:spPr>
          <a:xfrm>
            <a:off x="4937760" y="3648456"/>
            <a:ext cx="411480" cy="411480"/>
          </a:xfrm>
          <a:prstGeom prst="ellipse">
            <a:avLst/>
          </a:prstGeom>
          <a:solidFill>
            <a:srgbClr val="34D399">
              <a:alpha val="22000"/>
            </a:srgbClr>
          </a:solidFill>
          <a:ln w="15875">
            <a:solidFill>
              <a:srgbClr val="34D399"/>
            </a:solidFill>
            <a:prstDash val="solid"/>
          </a:ln>
        </p:spPr>
      </p:sp>
      <p:sp>
        <p:nvSpPr>
          <p:cNvPr id="21" name="anim-6-rise-ad2-t"/>
          <p:cNvSpPr txBox="1"/>
          <p:nvPr/>
        </p:nvSpPr>
        <p:spPr>
          <a:xfrm>
            <a:off x="4937760" y="3648456"/>
            <a:ext cx="411480" cy="411480"/>
          </a:xfrm>
          <a:prstGeom prst="rect">
            <a:avLst/>
          </a:prstGeom>
          <a:noFill/>
          <a:ln/>
        </p:spPr>
        <p:txBody>
          <a:bodyPr wrap="square" lIns="0" tIns="0" rIns="0" bIns="0" rtlCol="0" anchor="ctr"/>
          <a:lstStyle/>
          <a:p>
            <a:pPr algn="ctr" indent="0" marL="0">
              <a:buNone/>
            </a:pPr>
            <a:r>
              <a:rPr lang="en-US" sz="1400" b="1" dirty="0">
                <a:solidFill>
                  <a:srgbClr val="34D399"/>
                </a:solidFill>
              </a:rPr>
              <a:t>✓</a:t>
            </a:r>
            <a:endParaRPr lang="en-US" sz="1400" dirty="0"/>
          </a:p>
        </p:txBody>
      </p:sp>
      <p:sp>
        <p:nvSpPr>
          <p:cNvPr id="22" name="anim-6-rise-ah2"/>
          <p:cNvSpPr txBox="1"/>
          <p:nvPr/>
        </p:nvSpPr>
        <p:spPr>
          <a:xfrm>
            <a:off x="5532120" y="3529584"/>
            <a:ext cx="5943600" cy="329184"/>
          </a:xfrm>
          <a:prstGeom prst="rect">
            <a:avLst/>
          </a:prstGeom>
          <a:noFill/>
          <a:ln/>
        </p:spPr>
        <p:txBody>
          <a:bodyPr wrap="square" lIns="0" tIns="0" rIns="0" bIns="0" rtlCol="0" anchor="ctr"/>
          <a:lstStyle/>
          <a:p>
            <a:pPr indent="0" marL="0">
              <a:buNone/>
            </a:pPr>
            <a:r>
              <a:rPr lang="en-US" sz="1550" b="1" dirty="0">
                <a:solidFill>
                  <a:srgbClr val="FFFFFF"/>
                </a:solidFill>
              </a:rPr>
              <a:t>Secrets pasted into the prompt</a:t>
            </a:r>
            <a:endParaRPr lang="en-US" sz="1550" dirty="0"/>
          </a:p>
        </p:txBody>
      </p:sp>
      <p:sp>
        <p:nvSpPr>
          <p:cNvPr id="23" name="anim-6-rise-ab2"/>
          <p:cNvSpPr txBox="1"/>
          <p:nvPr/>
        </p:nvSpPr>
        <p:spPr>
          <a:xfrm>
            <a:off x="5532120" y="3849624"/>
            <a:ext cx="5989320" cy="347472"/>
          </a:xfrm>
          <a:prstGeom prst="rect">
            <a:avLst/>
          </a:prstGeom>
          <a:noFill/>
          <a:ln/>
        </p:spPr>
        <p:txBody>
          <a:bodyPr wrap="square" lIns="0" tIns="0" rIns="0" bIns="0" rtlCol="0" anchor="ctr"/>
          <a:lstStyle/>
          <a:p>
            <a:pPr indent="0" marL="0">
              <a:buNone/>
            </a:pPr>
            <a:r>
              <a:rPr lang="en-US" sz="1250" dirty="0">
                <a:solidFill>
                  <a:srgbClr val="CDC7BB"/>
                </a:solidFill>
              </a:rPr>
              <a:t>Model receives {{vault:card}} and [Government ID withheld]</a:t>
            </a:r>
            <a:endParaRPr lang="en-US" sz="1250" dirty="0"/>
          </a:p>
        </p:txBody>
      </p:sp>
      <p:sp>
        <p:nvSpPr>
          <p:cNvPr id="24" name="anim-7-rise-a3"/>
          <p:cNvSpPr/>
          <p:nvPr/>
        </p:nvSpPr>
        <p:spPr>
          <a:xfrm>
            <a:off x="4754880" y="4352544"/>
            <a:ext cx="6903720" cy="777240"/>
          </a:xfrm>
          <a:prstGeom prst="roundRect">
            <a:avLst>
              <a:gd name="adj" fmla="val 16471"/>
            </a:avLst>
          </a:prstGeom>
          <a:solidFill>
            <a:srgbClr val="1A1B17">
              <a:alpha val="92000"/>
            </a:srgbClr>
          </a:solidFill>
          <a:ln w="12700">
            <a:solidFill>
              <a:srgbClr val="33342E"/>
            </a:solidFill>
            <a:prstDash val="solid"/>
          </a:ln>
        </p:spPr>
      </p:sp>
      <p:sp>
        <p:nvSpPr>
          <p:cNvPr id="25" name="anim-7-rise-ad3-c"/>
          <p:cNvSpPr/>
          <p:nvPr/>
        </p:nvSpPr>
        <p:spPr>
          <a:xfrm>
            <a:off x="4937760" y="4535424"/>
            <a:ext cx="411480" cy="411480"/>
          </a:xfrm>
          <a:prstGeom prst="ellipse">
            <a:avLst/>
          </a:prstGeom>
          <a:solidFill>
            <a:srgbClr val="34D399">
              <a:alpha val="22000"/>
            </a:srgbClr>
          </a:solidFill>
          <a:ln w="15875">
            <a:solidFill>
              <a:srgbClr val="34D399"/>
            </a:solidFill>
            <a:prstDash val="solid"/>
          </a:ln>
        </p:spPr>
      </p:sp>
      <p:sp>
        <p:nvSpPr>
          <p:cNvPr id="26" name="anim-7-rise-ad3-t"/>
          <p:cNvSpPr txBox="1"/>
          <p:nvPr/>
        </p:nvSpPr>
        <p:spPr>
          <a:xfrm>
            <a:off x="4937760" y="4535424"/>
            <a:ext cx="411480" cy="411480"/>
          </a:xfrm>
          <a:prstGeom prst="rect">
            <a:avLst/>
          </a:prstGeom>
          <a:noFill/>
          <a:ln/>
        </p:spPr>
        <p:txBody>
          <a:bodyPr wrap="square" lIns="0" tIns="0" rIns="0" bIns="0" rtlCol="0" anchor="ctr"/>
          <a:lstStyle/>
          <a:p>
            <a:pPr algn="ctr" indent="0" marL="0">
              <a:buNone/>
            </a:pPr>
            <a:r>
              <a:rPr lang="en-US" sz="1400" b="1" dirty="0">
                <a:solidFill>
                  <a:srgbClr val="34D399"/>
                </a:solidFill>
              </a:rPr>
              <a:t>✓</a:t>
            </a:r>
            <a:endParaRPr lang="en-US" sz="1400" dirty="0"/>
          </a:p>
        </p:txBody>
      </p:sp>
      <p:sp>
        <p:nvSpPr>
          <p:cNvPr id="27" name="anim-7-rise-ah3"/>
          <p:cNvSpPr txBox="1"/>
          <p:nvPr/>
        </p:nvSpPr>
        <p:spPr>
          <a:xfrm>
            <a:off x="5532120" y="4416552"/>
            <a:ext cx="5943600" cy="329184"/>
          </a:xfrm>
          <a:prstGeom prst="rect">
            <a:avLst/>
          </a:prstGeom>
          <a:noFill/>
          <a:ln/>
        </p:spPr>
        <p:txBody>
          <a:bodyPr wrap="square" lIns="0" tIns="0" rIns="0" bIns="0" rtlCol="0" anchor="ctr"/>
          <a:lstStyle/>
          <a:p>
            <a:pPr indent="0" marL="0">
              <a:buNone/>
            </a:pPr>
            <a:r>
              <a:rPr lang="en-US" sz="1550" b="1" dirty="0">
                <a:solidFill>
                  <a:srgbClr val="FFFFFF"/>
                </a:solidFill>
              </a:rPr>
              <a:t>Over-collecting partner</a:t>
            </a:r>
            <a:endParaRPr lang="en-US" sz="1550" dirty="0"/>
          </a:p>
        </p:txBody>
      </p:sp>
      <p:sp>
        <p:nvSpPr>
          <p:cNvPr id="28" name="anim-7-rise-ab3"/>
          <p:cNvSpPr txBox="1"/>
          <p:nvPr/>
        </p:nvSpPr>
        <p:spPr>
          <a:xfrm>
            <a:off x="5532120" y="4736592"/>
            <a:ext cx="5989320" cy="347472"/>
          </a:xfrm>
          <a:prstGeom prst="rect">
            <a:avLst/>
          </a:prstGeom>
          <a:noFill/>
          <a:ln/>
        </p:spPr>
        <p:txBody>
          <a:bodyPr wrap="square" lIns="0" tIns="0" rIns="0" bIns="0" rtlCol="0" anchor="ctr"/>
          <a:lstStyle/>
          <a:p>
            <a:pPr indent="0" marL="0">
              <a:buNone/>
            </a:pPr>
            <a:r>
              <a:rPr lang="en-US" sz="1250" dirty="0">
                <a:solidFill>
                  <a:srgbClr val="CDC7BB"/>
                </a:solidFill>
              </a:rPr>
              <a:t>8 fields asked → 2 exact, 4 minimized, 2 withheld; the quote still works</a:t>
            </a:r>
            <a:endParaRPr lang="en-US" sz="1250" dirty="0"/>
          </a:p>
        </p:txBody>
      </p:sp>
      <p:sp>
        <p:nvSpPr>
          <p:cNvPr id="29" name="anim-8-rise-a4"/>
          <p:cNvSpPr/>
          <p:nvPr/>
        </p:nvSpPr>
        <p:spPr>
          <a:xfrm>
            <a:off x="4754880" y="5239512"/>
            <a:ext cx="6903720" cy="777240"/>
          </a:xfrm>
          <a:prstGeom prst="roundRect">
            <a:avLst>
              <a:gd name="adj" fmla="val 16471"/>
            </a:avLst>
          </a:prstGeom>
          <a:solidFill>
            <a:srgbClr val="1A1B17">
              <a:alpha val="92000"/>
            </a:srgbClr>
          </a:solidFill>
          <a:ln w="12700">
            <a:solidFill>
              <a:srgbClr val="33342E"/>
            </a:solidFill>
            <a:prstDash val="solid"/>
          </a:ln>
        </p:spPr>
      </p:sp>
      <p:sp>
        <p:nvSpPr>
          <p:cNvPr id="30" name="anim-8-rise-ad4-c"/>
          <p:cNvSpPr/>
          <p:nvPr/>
        </p:nvSpPr>
        <p:spPr>
          <a:xfrm>
            <a:off x="4937760" y="5422392"/>
            <a:ext cx="411480" cy="411480"/>
          </a:xfrm>
          <a:prstGeom prst="ellipse">
            <a:avLst/>
          </a:prstGeom>
          <a:solidFill>
            <a:srgbClr val="34D399">
              <a:alpha val="22000"/>
            </a:srgbClr>
          </a:solidFill>
          <a:ln w="15875">
            <a:solidFill>
              <a:srgbClr val="34D399"/>
            </a:solidFill>
            <a:prstDash val="solid"/>
          </a:ln>
        </p:spPr>
      </p:sp>
      <p:sp>
        <p:nvSpPr>
          <p:cNvPr id="31" name="anim-8-rise-ad4-t"/>
          <p:cNvSpPr txBox="1"/>
          <p:nvPr/>
        </p:nvSpPr>
        <p:spPr>
          <a:xfrm>
            <a:off x="4937760" y="5422392"/>
            <a:ext cx="411480" cy="411480"/>
          </a:xfrm>
          <a:prstGeom prst="rect">
            <a:avLst/>
          </a:prstGeom>
          <a:noFill/>
          <a:ln/>
        </p:spPr>
        <p:txBody>
          <a:bodyPr wrap="square" lIns="0" tIns="0" rIns="0" bIns="0" rtlCol="0" anchor="ctr"/>
          <a:lstStyle/>
          <a:p>
            <a:pPr algn="ctr" indent="0" marL="0">
              <a:buNone/>
            </a:pPr>
            <a:r>
              <a:rPr lang="en-US" sz="1400" b="1" dirty="0">
                <a:solidFill>
                  <a:srgbClr val="34D399"/>
                </a:solidFill>
              </a:rPr>
              <a:t>✓</a:t>
            </a:r>
            <a:endParaRPr lang="en-US" sz="1400" dirty="0"/>
          </a:p>
        </p:txBody>
      </p:sp>
      <p:sp>
        <p:nvSpPr>
          <p:cNvPr id="32" name="anim-8-rise-ah4"/>
          <p:cNvSpPr txBox="1"/>
          <p:nvPr/>
        </p:nvSpPr>
        <p:spPr>
          <a:xfrm>
            <a:off x="5532120" y="5303520"/>
            <a:ext cx="5943600" cy="329184"/>
          </a:xfrm>
          <a:prstGeom prst="rect">
            <a:avLst/>
          </a:prstGeom>
          <a:noFill/>
          <a:ln/>
        </p:spPr>
        <p:txBody>
          <a:bodyPr wrap="square" lIns="0" tIns="0" rIns="0" bIns="0" rtlCol="0" anchor="ctr"/>
          <a:lstStyle/>
          <a:p>
            <a:pPr indent="0" marL="0">
              <a:buNone/>
            </a:pPr>
            <a:r>
              <a:rPr lang="en-US" sz="1550" b="1" dirty="0">
                <a:solidFill>
                  <a:srgbClr val="FFFFFF"/>
                </a:solidFill>
              </a:rPr>
              <a:t>Rewrite the audit log</a:t>
            </a:r>
            <a:endParaRPr lang="en-US" sz="1550" dirty="0"/>
          </a:p>
        </p:txBody>
      </p:sp>
      <p:sp>
        <p:nvSpPr>
          <p:cNvPr id="33" name="anim-8-rise-ab4"/>
          <p:cNvSpPr txBox="1"/>
          <p:nvPr/>
        </p:nvSpPr>
        <p:spPr>
          <a:xfrm>
            <a:off x="5532120" y="5623560"/>
            <a:ext cx="5989320" cy="347472"/>
          </a:xfrm>
          <a:prstGeom prst="rect">
            <a:avLst/>
          </a:prstGeom>
          <a:noFill/>
          <a:ln/>
        </p:spPr>
        <p:txBody>
          <a:bodyPr wrap="square" lIns="0" tIns="0" rIns="0" bIns="0" rtlCol="0" anchor="ctr"/>
          <a:lstStyle/>
          <a:p>
            <a:pPr indent="0" marL="0">
              <a:buNone/>
            </a:pPr>
            <a:r>
              <a:rPr lang="en-US" sz="1250" dirty="0">
                <a:solidFill>
                  <a:srgbClr val="CDC7BB"/>
                </a:solidFill>
              </a:rPr>
              <a:t>Hash mismatch detected at the exact edited entry</a:t>
            </a:r>
            <a:endParaRPr lang="en-US" sz="125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0" fill="hold">
                            <p:stCondLst>
                              <p:cond delay="0"/>
                            </p:stCondLst>
                            <p:childTnLst>
                              <p:par>
                                <p:cTn id="8" presetID="53" presetClass="entr" presetSubtype="16"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 calcmode="lin" valueType="num">
                                      <p:cBhvr>
                                        <p:cTn id="5" dur="700" decel="100000" fill="hold"/>
                                        <p:tgtEl>
                                          <p:spTgt spid="6"/>
                                        </p:tgtEl>
                                        <p:attrNameLst>
                                          <p:attrName>ppt_w</p:attrName>
                                        </p:attrNameLst>
                                      </p:cBhvr>
                                      <p:tavLst>
                                        <p:tav tm="0">
                                          <p:val>
                                            <p:strVal val="0"/>
                                          </p:val>
                                        </p:tav>
                                        <p:tav tm="100000">
                                          <p:val>
                                            <p:strVal val="#ppt_w"/>
                                          </p:val>
                                        </p:tav>
                                      </p:tavLst>
                                    </p:anim>
                                    <p:anim calcmode="lin" valueType="num">
                                      <p:cBhvr>
                                        <p:cTn id="6" dur="700" decel="100000" fill="hold"/>
                                        <p:tgtEl>
                                          <p:spTgt spid="6"/>
                                        </p:tgtEl>
                                        <p:attrNameLst>
                                          <p:attrName>ppt_h</p:attrName>
                                        </p:attrNameLst>
                                      </p:cBhvr>
                                      <p:tavLst>
                                        <p:tav tm="0">
                                          <p:val>
                                            <p:strVal val="0"/>
                                          </p:val>
                                        </p:tav>
                                        <p:tav tm="100000">
                                          <p:val>
                                            <p:strVal val="#ppt_h"/>
                                          </p:val>
                                        </p:tav>
                                      </p:tavLst>
                                    </p:anim>
                                    <p:animEffect transition="in" filter="fade">
                                      <p:cBhvr>
                                        <p:cTn id="7" dur="700"/>
                                        <p:tgtEl>
                                          <p:spTgt spid="6"/>
                                        </p:tgtEl>
                                      </p:cBhvr>
                                    </p:animEffect>
                                  </p:childTnLst>
                                </p:cTn>
                              </p:par>
                              <p:par>
                                <p:cTn id="11" presetID="10" presetClass="entr" presetSubtype="0" fill="hold" grpId="0" nodeType="withEffect">
                                  <p:stCondLst>
                                    <p:cond delay="58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50"/>
                                        <p:tgtEl>
                                          <p:spTgt spid="7"/>
                                        </p:tgtEl>
                                      </p:cBhvr>
                                    </p:animEffect>
                                  </p:childTnLst>
                                </p:cTn>
                              </p:par>
                              <p:par>
                                <p:cTn id="14" presetID="10" presetClass="entr" presetSubtype="0" fill="hold" grpId="0" nodeType="withEffect">
                                  <p:stCondLst>
                                    <p:cond delay="91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50"/>
                                        <p:tgtEl>
                                          <p:spTgt spid="8"/>
                                        </p:tgtEl>
                                      </p:cBhvr>
                                    </p:animEffect>
                                  </p:childTnLst>
                                </p:cTn>
                              </p:par>
                              <p:par>
                                <p:cTn id="19" presetID="42" presetClass="entr" presetSubtype="0" fill="hold" grpId="0" nodeType="withEffect">
                                  <p:stCondLst>
                                    <p:cond delay="124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750"/>
                                        <p:tgtEl>
                                          <p:spTgt spid="9"/>
                                        </p:tgtEl>
                                      </p:cBhvr>
                                    </p:animEffect>
                                    <p:anim calcmode="lin" valueType="num">
                                      <p:cBhvr>
                                        <p:cTn id="17" dur="750" fill="hold"/>
                                        <p:tgtEl>
                                          <p:spTgt spid="9"/>
                                        </p:tgtEl>
                                        <p:attrNameLst>
                                          <p:attrName>ppt_x</p:attrName>
                                        </p:attrNameLst>
                                      </p:cBhvr>
                                      <p:tavLst>
                                        <p:tav tm="0">
                                          <p:val>
                                            <p:strVal val="#ppt_x"/>
                                          </p:val>
                                        </p:tav>
                                        <p:tav tm="100000">
                                          <p:val>
                                            <p:strVal val="#ppt_x"/>
                                          </p:val>
                                        </p:tav>
                                      </p:tavLst>
                                    </p:anim>
                                    <p:anim calcmode="lin" valueType="num">
                                      <p:cBhvr>
                                        <p:cTn id="18" dur="750" decel="100000" fill="hold"/>
                                        <p:tgtEl>
                                          <p:spTgt spid="9"/>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1295"/>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750"/>
                                        <p:tgtEl>
                                          <p:spTgt spid="10"/>
                                        </p:tgtEl>
                                      </p:cBhvr>
                                    </p:animEffect>
                                    <p:anim calcmode="lin" valueType="num">
                                      <p:cBhvr>
                                        <p:cTn id="22" dur="750" fill="hold"/>
                                        <p:tgtEl>
                                          <p:spTgt spid="10"/>
                                        </p:tgtEl>
                                        <p:attrNameLst>
                                          <p:attrName>ppt_x</p:attrName>
                                        </p:attrNameLst>
                                      </p:cBhvr>
                                      <p:tavLst>
                                        <p:tav tm="0">
                                          <p:val>
                                            <p:strVal val="#ppt_x"/>
                                          </p:val>
                                        </p:tav>
                                        <p:tav tm="100000">
                                          <p:val>
                                            <p:strVal val="#ppt_x"/>
                                          </p:val>
                                        </p:tav>
                                      </p:tavLst>
                                    </p:anim>
                                    <p:anim calcmode="lin" valueType="num">
                                      <p:cBhvr>
                                        <p:cTn id="23" dur="750" decel="100000" fill="hold"/>
                                        <p:tgtEl>
                                          <p:spTgt spid="10"/>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13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750"/>
                                        <p:tgtEl>
                                          <p:spTgt spid="11"/>
                                        </p:tgtEl>
                                      </p:cBhvr>
                                    </p:animEffect>
                                    <p:anim calcmode="lin" valueType="num">
                                      <p:cBhvr>
                                        <p:cTn id="27" dur="750" fill="hold"/>
                                        <p:tgtEl>
                                          <p:spTgt spid="11"/>
                                        </p:tgtEl>
                                        <p:attrNameLst>
                                          <p:attrName>ppt_x</p:attrName>
                                        </p:attrNameLst>
                                      </p:cBhvr>
                                      <p:tavLst>
                                        <p:tav tm="0">
                                          <p:val>
                                            <p:strVal val="#ppt_x"/>
                                          </p:val>
                                        </p:tav>
                                        <p:tav tm="100000">
                                          <p:val>
                                            <p:strVal val="#ppt_x"/>
                                          </p:val>
                                        </p:tav>
                                      </p:tavLst>
                                    </p:anim>
                                    <p:anim calcmode="lin" valueType="num">
                                      <p:cBhvr>
                                        <p:cTn id="28" dur="750" decel="100000" fill="hold"/>
                                        <p:tgtEl>
                                          <p:spTgt spid="11"/>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1405"/>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750"/>
                                        <p:tgtEl>
                                          <p:spTgt spid="12"/>
                                        </p:tgtEl>
                                      </p:cBhvr>
                                    </p:animEffect>
                                    <p:anim calcmode="lin" valueType="num">
                                      <p:cBhvr>
                                        <p:cTn id="32" dur="750" fill="hold"/>
                                        <p:tgtEl>
                                          <p:spTgt spid="12"/>
                                        </p:tgtEl>
                                        <p:attrNameLst>
                                          <p:attrName>ppt_x</p:attrName>
                                        </p:attrNameLst>
                                      </p:cBhvr>
                                      <p:tavLst>
                                        <p:tav tm="0">
                                          <p:val>
                                            <p:strVal val="#ppt_x"/>
                                          </p:val>
                                        </p:tav>
                                        <p:tav tm="100000">
                                          <p:val>
                                            <p:strVal val="#ppt_x"/>
                                          </p:val>
                                        </p:tav>
                                      </p:tavLst>
                                    </p:anim>
                                    <p:anim calcmode="lin" valueType="num">
                                      <p:cBhvr>
                                        <p:cTn id="33" dur="750" decel="100000" fill="hold"/>
                                        <p:tgtEl>
                                          <p:spTgt spid="12"/>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146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750"/>
                                        <p:tgtEl>
                                          <p:spTgt spid="13"/>
                                        </p:tgtEl>
                                      </p:cBhvr>
                                    </p:animEffect>
                                    <p:anim calcmode="lin" valueType="num">
                                      <p:cBhvr>
                                        <p:cTn id="37" dur="750" fill="hold"/>
                                        <p:tgtEl>
                                          <p:spTgt spid="13"/>
                                        </p:tgtEl>
                                        <p:attrNameLst>
                                          <p:attrName>ppt_x</p:attrName>
                                        </p:attrNameLst>
                                      </p:cBhvr>
                                      <p:tavLst>
                                        <p:tav tm="0">
                                          <p:val>
                                            <p:strVal val="#ppt_x"/>
                                          </p:val>
                                        </p:tav>
                                        <p:tav tm="100000">
                                          <p:val>
                                            <p:strVal val="#ppt_x"/>
                                          </p:val>
                                        </p:tav>
                                      </p:tavLst>
                                    </p:anim>
                                    <p:anim calcmode="lin" valueType="num">
                                      <p:cBhvr>
                                        <p:cTn id="38" dur="750" decel="100000" fill="hold"/>
                                        <p:tgtEl>
                                          <p:spTgt spid="13"/>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157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750"/>
                                        <p:tgtEl>
                                          <p:spTgt spid="14"/>
                                        </p:tgtEl>
                                      </p:cBhvr>
                                    </p:animEffect>
                                    <p:anim calcmode="lin" valueType="num">
                                      <p:cBhvr>
                                        <p:cTn id="42" dur="750" fill="hold"/>
                                        <p:tgtEl>
                                          <p:spTgt spid="14"/>
                                        </p:tgtEl>
                                        <p:attrNameLst>
                                          <p:attrName>ppt_x</p:attrName>
                                        </p:attrNameLst>
                                      </p:cBhvr>
                                      <p:tavLst>
                                        <p:tav tm="0">
                                          <p:val>
                                            <p:strVal val="#ppt_x"/>
                                          </p:val>
                                        </p:tav>
                                        <p:tav tm="100000">
                                          <p:val>
                                            <p:strVal val="#ppt_x"/>
                                          </p:val>
                                        </p:tav>
                                      </p:tavLst>
                                    </p:anim>
                                    <p:anim calcmode="lin" valueType="num">
                                      <p:cBhvr>
                                        <p:cTn id="43" dur="750" decel="100000" fill="hold"/>
                                        <p:tgtEl>
                                          <p:spTgt spid="14"/>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625"/>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750"/>
                                        <p:tgtEl>
                                          <p:spTgt spid="15"/>
                                        </p:tgtEl>
                                      </p:cBhvr>
                                    </p:animEffect>
                                    <p:anim calcmode="lin" valueType="num">
                                      <p:cBhvr>
                                        <p:cTn id="47" dur="750" fill="hold"/>
                                        <p:tgtEl>
                                          <p:spTgt spid="15"/>
                                        </p:tgtEl>
                                        <p:attrNameLst>
                                          <p:attrName>ppt_x</p:attrName>
                                        </p:attrNameLst>
                                      </p:cBhvr>
                                      <p:tavLst>
                                        <p:tav tm="0">
                                          <p:val>
                                            <p:strVal val="#ppt_x"/>
                                          </p:val>
                                        </p:tav>
                                        <p:tav tm="100000">
                                          <p:val>
                                            <p:strVal val="#ppt_x"/>
                                          </p:val>
                                        </p:tav>
                                      </p:tavLst>
                                    </p:anim>
                                    <p:anim calcmode="lin" valueType="num">
                                      <p:cBhvr>
                                        <p:cTn id="48" dur="750" decel="100000" fill="hold"/>
                                        <p:tgtEl>
                                          <p:spTgt spid="15"/>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68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750"/>
                                        <p:tgtEl>
                                          <p:spTgt spid="16"/>
                                        </p:tgtEl>
                                      </p:cBhvr>
                                    </p:animEffect>
                                    <p:anim calcmode="lin" valueType="num">
                                      <p:cBhvr>
                                        <p:cTn id="52" dur="750" fill="hold"/>
                                        <p:tgtEl>
                                          <p:spTgt spid="16"/>
                                        </p:tgtEl>
                                        <p:attrNameLst>
                                          <p:attrName>ppt_x</p:attrName>
                                        </p:attrNameLst>
                                      </p:cBhvr>
                                      <p:tavLst>
                                        <p:tav tm="0">
                                          <p:val>
                                            <p:strVal val="#ppt_x"/>
                                          </p:val>
                                        </p:tav>
                                        <p:tav tm="100000">
                                          <p:val>
                                            <p:strVal val="#ppt_x"/>
                                          </p:val>
                                        </p:tav>
                                      </p:tavLst>
                                    </p:anim>
                                    <p:anim calcmode="lin" valueType="num">
                                      <p:cBhvr>
                                        <p:cTn id="53" dur="750" decel="100000" fill="hold"/>
                                        <p:tgtEl>
                                          <p:spTgt spid="16"/>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1735"/>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750"/>
                                        <p:tgtEl>
                                          <p:spTgt spid="17"/>
                                        </p:tgtEl>
                                      </p:cBhvr>
                                    </p:animEffect>
                                    <p:anim calcmode="lin" valueType="num">
                                      <p:cBhvr>
                                        <p:cTn id="57" dur="750" fill="hold"/>
                                        <p:tgtEl>
                                          <p:spTgt spid="17"/>
                                        </p:tgtEl>
                                        <p:attrNameLst>
                                          <p:attrName>ppt_x</p:attrName>
                                        </p:attrNameLst>
                                      </p:cBhvr>
                                      <p:tavLst>
                                        <p:tav tm="0">
                                          <p:val>
                                            <p:strVal val="#ppt_x"/>
                                          </p:val>
                                        </p:tav>
                                        <p:tav tm="100000">
                                          <p:val>
                                            <p:strVal val="#ppt_x"/>
                                          </p:val>
                                        </p:tav>
                                      </p:tavLst>
                                    </p:anim>
                                    <p:anim calcmode="lin" valueType="num">
                                      <p:cBhvr>
                                        <p:cTn id="58" dur="750" decel="10000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179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750"/>
                                        <p:tgtEl>
                                          <p:spTgt spid="18"/>
                                        </p:tgtEl>
                                      </p:cBhvr>
                                    </p:animEffect>
                                    <p:anim calcmode="lin" valueType="num">
                                      <p:cBhvr>
                                        <p:cTn id="62" dur="750" fill="hold"/>
                                        <p:tgtEl>
                                          <p:spTgt spid="18"/>
                                        </p:tgtEl>
                                        <p:attrNameLst>
                                          <p:attrName>ppt_x</p:attrName>
                                        </p:attrNameLst>
                                      </p:cBhvr>
                                      <p:tavLst>
                                        <p:tav tm="0">
                                          <p:val>
                                            <p:strVal val="#ppt_x"/>
                                          </p:val>
                                        </p:tav>
                                        <p:tav tm="100000">
                                          <p:val>
                                            <p:strVal val="#ppt_x"/>
                                          </p:val>
                                        </p:tav>
                                      </p:tavLst>
                                    </p:anim>
                                    <p:anim calcmode="lin" valueType="num">
                                      <p:cBhvr>
                                        <p:cTn id="63" dur="750" decel="100000" fill="hold"/>
                                        <p:tgtEl>
                                          <p:spTgt spid="18"/>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190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750"/>
                                        <p:tgtEl>
                                          <p:spTgt spid="19"/>
                                        </p:tgtEl>
                                      </p:cBhvr>
                                    </p:animEffect>
                                    <p:anim calcmode="lin" valueType="num">
                                      <p:cBhvr>
                                        <p:cTn id="67" dur="750" fill="hold"/>
                                        <p:tgtEl>
                                          <p:spTgt spid="19"/>
                                        </p:tgtEl>
                                        <p:attrNameLst>
                                          <p:attrName>ppt_x</p:attrName>
                                        </p:attrNameLst>
                                      </p:cBhvr>
                                      <p:tavLst>
                                        <p:tav tm="0">
                                          <p:val>
                                            <p:strVal val="#ppt_x"/>
                                          </p:val>
                                        </p:tav>
                                        <p:tav tm="100000">
                                          <p:val>
                                            <p:strVal val="#ppt_x"/>
                                          </p:val>
                                        </p:tav>
                                      </p:tavLst>
                                    </p:anim>
                                    <p:anim calcmode="lin" valueType="num">
                                      <p:cBhvr>
                                        <p:cTn id="68" dur="750" decel="100000" fill="hold"/>
                                        <p:tgtEl>
                                          <p:spTgt spid="19"/>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1955"/>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750"/>
                                        <p:tgtEl>
                                          <p:spTgt spid="20"/>
                                        </p:tgtEl>
                                      </p:cBhvr>
                                    </p:animEffect>
                                    <p:anim calcmode="lin" valueType="num">
                                      <p:cBhvr>
                                        <p:cTn id="72" dur="750" fill="hold"/>
                                        <p:tgtEl>
                                          <p:spTgt spid="20"/>
                                        </p:tgtEl>
                                        <p:attrNameLst>
                                          <p:attrName>ppt_x</p:attrName>
                                        </p:attrNameLst>
                                      </p:cBhvr>
                                      <p:tavLst>
                                        <p:tav tm="0">
                                          <p:val>
                                            <p:strVal val="#ppt_x"/>
                                          </p:val>
                                        </p:tav>
                                        <p:tav tm="100000">
                                          <p:val>
                                            <p:strVal val="#ppt_x"/>
                                          </p:val>
                                        </p:tav>
                                      </p:tavLst>
                                    </p:anim>
                                    <p:anim calcmode="lin" valueType="num">
                                      <p:cBhvr>
                                        <p:cTn id="73" dur="750" decel="100000" fill="hold"/>
                                        <p:tgtEl>
                                          <p:spTgt spid="20"/>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201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750"/>
                                        <p:tgtEl>
                                          <p:spTgt spid="21"/>
                                        </p:tgtEl>
                                      </p:cBhvr>
                                    </p:animEffect>
                                    <p:anim calcmode="lin" valueType="num">
                                      <p:cBhvr>
                                        <p:cTn id="77" dur="750" fill="hold"/>
                                        <p:tgtEl>
                                          <p:spTgt spid="21"/>
                                        </p:tgtEl>
                                        <p:attrNameLst>
                                          <p:attrName>ppt_x</p:attrName>
                                        </p:attrNameLst>
                                      </p:cBhvr>
                                      <p:tavLst>
                                        <p:tav tm="0">
                                          <p:val>
                                            <p:strVal val="#ppt_x"/>
                                          </p:val>
                                        </p:tav>
                                        <p:tav tm="100000">
                                          <p:val>
                                            <p:strVal val="#ppt_x"/>
                                          </p:val>
                                        </p:tav>
                                      </p:tavLst>
                                    </p:anim>
                                    <p:anim calcmode="lin" valueType="num">
                                      <p:cBhvr>
                                        <p:cTn id="78" dur="750" decel="100000" fill="hold"/>
                                        <p:tgtEl>
                                          <p:spTgt spid="21"/>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2065"/>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750"/>
                                        <p:tgtEl>
                                          <p:spTgt spid="22"/>
                                        </p:tgtEl>
                                      </p:cBhvr>
                                    </p:animEffect>
                                    <p:anim calcmode="lin" valueType="num">
                                      <p:cBhvr>
                                        <p:cTn id="82" dur="750" fill="hold"/>
                                        <p:tgtEl>
                                          <p:spTgt spid="22"/>
                                        </p:tgtEl>
                                        <p:attrNameLst>
                                          <p:attrName>ppt_x</p:attrName>
                                        </p:attrNameLst>
                                      </p:cBhvr>
                                      <p:tavLst>
                                        <p:tav tm="0">
                                          <p:val>
                                            <p:strVal val="#ppt_x"/>
                                          </p:val>
                                        </p:tav>
                                        <p:tav tm="100000">
                                          <p:val>
                                            <p:strVal val="#ppt_x"/>
                                          </p:val>
                                        </p:tav>
                                      </p:tavLst>
                                    </p:anim>
                                    <p:anim calcmode="lin" valueType="num">
                                      <p:cBhvr>
                                        <p:cTn id="83" dur="750" decel="100000" fill="hold"/>
                                        <p:tgtEl>
                                          <p:spTgt spid="22"/>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212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750"/>
                                        <p:tgtEl>
                                          <p:spTgt spid="23"/>
                                        </p:tgtEl>
                                      </p:cBhvr>
                                    </p:animEffect>
                                    <p:anim calcmode="lin" valueType="num">
                                      <p:cBhvr>
                                        <p:cTn id="87" dur="750" fill="hold"/>
                                        <p:tgtEl>
                                          <p:spTgt spid="23"/>
                                        </p:tgtEl>
                                        <p:attrNameLst>
                                          <p:attrName>ppt_x</p:attrName>
                                        </p:attrNameLst>
                                      </p:cBhvr>
                                      <p:tavLst>
                                        <p:tav tm="0">
                                          <p:val>
                                            <p:strVal val="#ppt_x"/>
                                          </p:val>
                                        </p:tav>
                                        <p:tav tm="100000">
                                          <p:val>
                                            <p:strVal val="#ppt_x"/>
                                          </p:val>
                                        </p:tav>
                                      </p:tavLst>
                                    </p:anim>
                                    <p:anim calcmode="lin" valueType="num">
                                      <p:cBhvr>
                                        <p:cTn id="88" dur="750" decel="100000" fill="hold"/>
                                        <p:tgtEl>
                                          <p:spTgt spid="23"/>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2230"/>
                                  </p:stCondLst>
                                  <p:childTnLst>
                                    <p:set>
                                      <p:cBhvr>
                                        <p:cTn id="90" dur="1" fill="hold">
                                          <p:stCondLst>
                                            <p:cond delay="0"/>
                                          </p:stCondLst>
                                        </p:cTn>
                                        <p:tgtEl>
                                          <p:spTgt spid="24"/>
                                        </p:tgtEl>
                                        <p:attrNameLst>
                                          <p:attrName>style.visibility</p:attrName>
                                        </p:attrNameLst>
                                      </p:cBhvr>
                                      <p:to>
                                        <p:strVal val="visible"/>
                                      </p:to>
                                    </p:set>
                                    <p:animEffect transition="in" filter="fade">
                                      <p:cBhvr>
                                        <p:cTn id="91" dur="750"/>
                                        <p:tgtEl>
                                          <p:spTgt spid="24"/>
                                        </p:tgtEl>
                                      </p:cBhvr>
                                    </p:animEffect>
                                    <p:anim calcmode="lin" valueType="num">
                                      <p:cBhvr>
                                        <p:cTn id="92" dur="750" fill="hold"/>
                                        <p:tgtEl>
                                          <p:spTgt spid="24"/>
                                        </p:tgtEl>
                                        <p:attrNameLst>
                                          <p:attrName>ppt_x</p:attrName>
                                        </p:attrNameLst>
                                      </p:cBhvr>
                                      <p:tavLst>
                                        <p:tav tm="0">
                                          <p:val>
                                            <p:strVal val="#ppt_x"/>
                                          </p:val>
                                        </p:tav>
                                        <p:tav tm="100000">
                                          <p:val>
                                            <p:strVal val="#ppt_x"/>
                                          </p:val>
                                        </p:tav>
                                      </p:tavLst>
                                    </p:anim>
                                    <p:anim calcmode="lin" valueType="num">
                                      <p:cBhvr>
                                        <p:cTn id="93" dur="750" decel="100000" fill="hold"/>
                                        <p:tgtEl>
                                          <p:spTgt spid="24"/>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2285"/>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750"/>
                                        <p:tgtEl>
                                          <p:spTgt spid="25"/>
                                        </p:tgtEl>
                                      </p:cBhvr>
                                    </p:animEffect>
                                    <p:anim calcmode="lin" valueType="num">
                                      <p:cBhvr>
                                        <p:cTn id="97" dur="750" fill="hold"/>
                                        <p:tgtEl>
                                          <p:spTgt spid="25"/>
                                        </p:tgtEl>
                                        <p:attrNameLst>
                                          <p:attrName>ppt_x</p:attrName>
                                        </p:attrNameLst>
                                      </p:cBhvr>
                                      <p:tavLst>
                                        <p:tav tm="0">
                                          <p:val>
                                            <p:strVal val="#ppt_x"/>
                                          </p:val>
                                        </p:tav>
                                        <p:tav tm="100000">
                                          <p:val>
                                            <p:strVal val="#ppt_x"/>
                                          </p:val>
                                        </p:tav>
                                      </p:tavLst>
                                    </p:anim>
                                    <p:anim calcmode="lin" valueType="num">
                                      <p:cBhvr>
                                        <p:cTn id="98" dur="750" decel="100000" fill="hold"/>
                                        <p:tgtEl>
                                          <p:spTgt spid="25"/>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234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750"/>
                                        <p:tgtEl>
                                          <p:spTgt spid="26"/>
                                        </p:tgtEl>
                                      </p:cBhvr>
                                    </p:animEffect>
                                    <p:anim calcmode="lin" valueType="num">
                                      <p:cBhvr>
                                        <p:cTn id="102" dur="750" fill="hold"/>
                                        <p:tgtEl>
                                          <p:spTgt spid="26"/>
                                        </p:tgtEl>
                                        <p:attrNameLst>
                                          <p:attrName>ppt_x</p:attrName>
                                        </p:attrNameLst>
                                      </p:cBhvr>
                                      <p:tavLst>
                                        <p:tav tm="0">
                                          <p:val>
                                            <p:strVal val="#ppt_x"/>
                                          </p:val>
                                        </p:tav>
                                        <p:tav tm="100000">
                                          <p:val>
                                            <p:strVal val="#ppt_x"/>
                                          </p:val>
                                        </p:tav>
                                      </p:tavLst>
                                    </p:anim>
                                    <p:anim calcmode="lin" valueType="num">
                                      <p:cBhvr>
                                        <p:cTn id="103" dur="750" decel="100000" fill="hold"/>
                                        <p:tgtEl>
                                          <p:spTgt spid="26"/>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2395"/>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750"/>
                                        <p:tgtEl>
                                          <p:spTgt spid="27"/>
                                        </p:tgtEl>
                                      </p:cBhvr>
                                    </p:animEffect>
                                    <p:anim calcmode="lin" valueType="num">
                                      <p:cBhvr>
                                        <p:cTn id="107" dur="750" fill="hold"/>
                                        <p:tgtEl>
                                          <p:spTgt spid="27"/>
                                        </p:tgtEl>
                                        <p:attrNameLst>
                                          <p:attrName>ppt_x</p:attrName>
                                        </p:attrNameLst>
                                      </p:cBhvr>
                                      <p:tavLst>
                                        <p:tav tm="0">
                                          <p:val>
                                            <p:strVal val="#ppt_x"/>
                                          </p:val>
                                        </p:tav>
                                        <p:tav tm="100000">
                                          <p:val>
                                            <p:strVal val="#ppt_x"/>
                                          </p:val>
                                        </p:tav>
                                      </p:tavLst>
                                    </p:anim>
                                    <p:anim calcmode="lin" valueType="num">
                                      <p:cBhvr>
                                        <p:cTn id="108" dur="750" decel="100000" fill="hold"/>
                                        <p:tgtEl>
                                          <p:spTgt spid="27"/>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2450"/>
                                  </p:stCondLst>
                                  <p:childTnLst>
                                    <p:set>
                                      <p:cBhvr>
                                        <p:cTn id="110" dur="1" fill="hold">
                                          <p:stCondLst>
                                            <p:cond delay="0"/>
                                          </p:stCondLst>
                                        </p:cTn>
                                        <p:tgtEl>
                                          <p:spTgt spid="28"/>
                                        </p:tgtEl>
                                        <p:attrNameLst>
                                          <p:attrName>style.visibility</p:attrName>
                                        </p:attrNameLst>
                                      </p:cBhvr>
                                      <p:to>
                                        <p:strVal val="visible"/>
                                      </p:to>
                                    </p:set>
                                    <p:animEffect transition="in" filter="fade">
                                      <p:cBhvr>
                                        <p:cTn id="111" dur="750"/>
                                        <p:tgtEl>
                                          <p:spTgt spid="28"/>
                                        </p:tgtEl>
                                      </p:cBhvr>
                                    </p:animEffect>
                                    <p:anim calcmode="lin" valueType="num">
                                      <p:cBhvr>
                                        <p:cTn id="112" dur="750" fill="hold"/>
                                        <p:tgtEl>
                                          <p:spTgt spid="28"/>
                                        </p:tgtEl>
                                        <p:attrNameLst>
                                          <p:attrName>ppt_x</p:attrName>
                                        </p:attrNameLst>
                                      </p:cBhvr>
                                      <p:tavLst>
                                        <p:tav tm="0">
                                          <p:val>
                                            <p:strVal val="#ppt_x"/>
                                          </p:val>
                                        </p:tav>
                                        <p:tav tm="100000">
                                          <p:val>
                                            <p:strVal val="#ppt_x"/>
                                          </p:val>
                                        </p:tav>
                                      </p:tavLst>
                                    </p:anim>
                                    <p:anim calcmode="lin" valueType="num">
                                      <p:cBhvr>
                                        <p:cTn id="113" dur="750" decel="100000" fill="hold"/>
                                        <p:tgtEl>
                                          <p:spTgt spid="28"/>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256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750"/>
                                        <p:tgtEl>
                                          <p:spTgt spid="29"/>
                                        </p:tgtEl>
                                      </p:cBhvr>
                                    </p:animEffect>
                                    <p:anim calcmode="lin" valueType="num">
                                      <p:cBhvr>
                                        <p:cTn id="117" dur="750" fill="hold"/>
                                        <p:tgtEl>
                                          <p:spTgt spid="29"/>
                                        </p:tgtEl>
                                        <p:attrNameLst>
                                          <p:attrName>ppt_x</p:attrName>
                                        </p:attrNameLst>
                                      </p:cBhvr>
                                      <p:tavLst>
                                        <p:tav tm="0">
                                          <p:val>
                                            <p:strVal val="#ppt_x"/>
                                          </p:val>
                                        </p:tav>
                                        <p:tav tm="100000">
                                          <p:val>
                                            <p:strVal val="#ppt_x"/>
                                          </p:val>
                                        </p:tav>
                                      </p:tavLst>
                                    </p:anim>
                                    <p:anim calcmode="lin" valueType="num">
                                      <p:cBhvr>
                                        <p:cTn id="118" dur="750" decel="100000" fill="hold"/>
                                        <p:tgtEl>
                                          <p:spTgt spid="29"/>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2615"/>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750"/>
                                        <p:tgtEl>
                                          <p:spTgt spid="30"/>
                                        </p:tgtEl>
                                      </p:cBhvr>
                                    </p:animEffect>
                                    <p:anim calcmode="lin" valueType="num">
                                      <p:cBhvr>
                                        <p:cTn id="122" dur="750" fill="hold"/>
                                        <p:tgtEl>
                                          <p:spTgt spid="30"/>
                                        </p:tgtEl>
                                        <p:attrNameLst>
                                          <p:attrName>ppt_x</p:attrName>
                                        </p:attrNameLst>
                                      </p:cBhvr>
                                      <p:tavLst>
                                        <p:tav tm="0">
                                          <p:val>
                                            <p:strVal val="#ppt_x"/>
                                          </p:val>
                                        </p:tav>
                                        <p:tav tm="100000">
                                          <p:val>
                                            <p:strVal val="#ppt_x"/>
                                          </p:val>
                                        </p:tav>
                                      </p:tavLst>
                                    </p:anim>
                                    <p:anim calcmode="lin" valueType="num">
                                      <p:cBhvr>
                                        <p:cTn id="123" dur="750" decel="100000" fill="hold"/>
                                        <p:tgtEl>
                                          <p:spTgt spid="30"/>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267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750"/>
                                        <p:tgtEl>
                                          <p:spTgt spid="31"/>
                                        </p:tgtEl>
                                      </p:cBhvr>
                                    </p:animEffect>
                                    <p:anim calcmode="lin" valueType="num">
                                      <p:cBhvr>
                                        <p:cTn id="127" dur="750" fill="hold"/>
                                        <p:tgtEl>
                                          <p:spTgt spid="31"/>
                                        </p:tgtEl>
                                        <p:attrNameLst>
                                          <p:attrName>ppt_x</p:attrName>
                                        </p:attrNameLst>
                                      </p:cBhvr>
                                      <p:tavLst>
                                        <p:tav tm="0">
                                          <p:val>
                                            <p:strVal val="#ppt_x"/>
                                          </p:val>
                                        </p:tav>
                                        <p:tav tm="100000">
                                          <p:val>
                                            <p:strVal val="#ppt_x"/>
                                          </p:val>
                                        </p:tav>
                                      </p:tavLst>
                                    </p:anim>
                                    <p:anim calcmode="lin" valueType="num">
                                      <p:cBhvr>
                                        <p:cTn id="128" dur="750" decel="100000" fill="hold"/>
                                        <p:tgtEl>
                                          <p:spTgt spid="31"/>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2725"/>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750"/>
                                        <p:tgtEl>
                                          <p:spTgt spid="32"/>
                                        </p:tgtEl>
                                      </p:cBhvr>
                                    </p:animEffect>
                                    <p:anim calcmode="lin" valueType="num">
                                      <p:cBhvr>
                                        <p:cTn id="132" dur="750" fill="hold"/>
                                        <p:tgtEl>
                                          <p:spTgt spid="32"/>
                                        </p:tgtEl>
                                        <p:attrNameLst>
                                          <p:attrName>ppt_x</p:attrName>
                                        </p:attrNameLst>
                                      </p:cBhvr>
                                      <p:tavLst>
                                        <p:tav tm="0">
                                          <p:val>
                                            <p:strVal val="#ppt_x"/>
                                          </p:val>
                                        </p:tav>
                                        <p:tav tm="100000">
                                          <p:val>
                                            <p:strVal val="#ppt_x"/>
                                          </p:val>
                                        </p:tav>
                                      </p:tavLst>
                                    </p:anim>
                                    <p:anim calcmode="lin" valueType="num">
                                      <p:cBhvr>
                                        <p:cTn id="133" dur="750" decel="100000" fill="hold"/>
                                        <p:tgtEl>
                                          <p:spTgt spid="32"/>
                                        </p:tgtEl>
                                        <p:attrNameLst>
                                          <p:attrName>ppt_y</p:attrName>
                                        </p:attrNameLst>
                                      </p:cBhvr>
                                      <p:tavLst>
                                        <p:tav tm="0">
                                          <p:val>
                                            <p:strVal val="#ppt_y+.06"/>
                                          </p:val>
                                        </p:tav>
                                        <p:tav tm="100000">
                                          <p:val>
                                            <p:strVal val="#ppt_y"/>
                                          </p:val>
                                        </p:tav>
                                      </p:tavLst>
                                    </p:anim>
                                  </p:childTnLst>
                                </p:cTn>
                              </p:par>
                              <p:par>
                                <p:cTn id="139" presetID="42" presetClass="entr" presetSubtype="0" fill="hold" grpId="0" nodeType="withEffect">
                                  <p:stCondLst>
                                    <p:cond delay="278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750"/>
                                        <p:tgtEl>
                                          <p:spTgt spid="33"/>
                                        </p:tgtEl>
                                      </p:cBhvr>
                                    </p:animEffect>
                                    <p:anim calcmode="lin" valueType="num">
                                      <p:cBhvr>
                                        <p:cTn id="137" dur="750" fill="hold"/>
                                        <p:tgtEl>
                                          <p:spTgt spid="33"/>
                                        </p:tgtEl>
                                        <p:attrNameLst>
                                          <p:attrName>ppt_x</p:attrName>
                                        </p:attrNameLst>
                                      </p:cBhvr>
                                      <p:tavLst>
                                        <p:tav tm="0">
                                          <p:val>
                                            <p:strVal val="#ppt_x"/>
                                          </p:val>
                                        </p:tav>
                                        <p:tav tm="100000">
                                          <p:val>
                                            <p:strVal val="#ppt_x"/>
                                          </p:val>
                                        </p:tav>
                                      </p:tavLst>
                                    </p:anim>
                                    <p:anim calcmode="lin" valueType="num">
                                      <p:cBhvr>
                                        <p:cTn id="138" dur="750" decel="100000" fill="hold"/>
                                        <p:tgtEl>
                                          <p:spTgt spid="3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8686800" y="3200400"/>
            <a:ext cx="5029200" cy="502920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ARCHITECTURE</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One TypeScript core. Runs everywhere</a:t>
            </a:r>
            <a:endParaRPr lang="en-US" sz="3400" dirty="0"/>
          </a:p>
        </p:txBody>
      </p:sp>
      <p:sp>
        <p:nvSpPr>
          <p:cNvPr id="6" name="anim-1-zoom-arch-frame"/>
          <p:cNvSpPr/>
          <p:nvPr/>
        </p:nvSpPr>
        <p:spPr>
          <a:xfrm>
            <a:off x="539496" y="1636776"/>
            <a:ext cx="7653528" cy="4727448"/>
          </a:xfrm>
          <a:prstGeom prst="roundRect">
            <a:avLst>
              <a:gd name="adj" fmla="val 2321"/>
            </a:avLst>
          </a:prstGeom>
          <a:solidFill>
            <a:srgbClr val="1A1B17"/>
          </a:solidFill>
          <a:ln w="12700">
            <a:solidFill>
              <a:srgbClr val="3A3A33"/>
            </a:solidFill>
            <a:prstDash val="solid"/>
          </a:ln>
          <a:effectLst>
            <a:outerShdw sx="100000" sy="100000" kx="0" ky="0" algn="bl" rotWithShape="0" blurRad="304800" dist="50800" dir="5400000">
              <a:srgbClr val="EFA56F">
                <a:alpha val="22000"/>
              </a:srgbClr>
            </a:outerShdw>
          </a:effectLst>
        </p:spPr>
      </p:sp>
      <p:pic>
        <p:nvPicPr>
          <p:cNvPr id="7" name="anim-1-zoom-arch" descr="../../assets/architecture.png">    </p:cNvPr>
          <p:cNvPicPr>
            <a:picLocks noChangeAspect="1"/>
          </p:cNvPicPr>
          <p:nvPr/>
        </p:nvPicPr>
        <p:blipFill>
          <a:blip r:embed="rId3"/>
          <a:stretch>
            <a:fillRect/>
          </a:stretch>
        </p:blipFill>
        <p:spPr>
          <a:xfrm>
            <a:off x="594360" y="1691640"/>
            <a:ext cx="7543800" cy="4617720"/>
          </a:xfrm>
          <a:prstGeom prst="rect">
            <a:avLst/>
          </a:prstGeom>
        </p:spPr>
      </p:pic>
      <p:sp>
        <p:nvSpPr>
          <p:cNvPr id="8" name="anim-2-rise-h0"/>
          <p:cNvSpPr txBox="1"/>
          <p:nvPr/>
        </p:nvSpPr>
        <p:spPr>
          <a:xfrm>
            <a:off x="8503920" y="1737360"/>
            <a:ext cx="3154680" cy="347472"/>
          </a:xfrm>
          <a:prstGeom prst="rect">
            <a:avLst/>
          </a:prstGeom>
          <a:noFill/>
          <a:ln/>
        </p:spPr>
        <p:txBody>
          <a:bodyPr wrap="square" lIns="0" tIns="0" rIns="0" bIns="0" rtlCol="0" anchor="ctr"/>
          <a:lstStyle/>
          <a:p>
            <a:pPr indent="0" marL="0">
              <a:buNone/>
            </a:pPr>
            <a:r>
              <a:rPr lang="en-US" sz="1600" b="1" dirty="0">
                <a:solidFill>
                  <a:srgbClr val="EFA56F"/>
                </a:solidFill>
              </a:rPr>
              <a:t>Isomorphic core</a:t>
            </a:r>
            <a:endParaRPr lang="en-US" sz="1600" dirty="0"/>
          </a:p>
        </p:txBody>
      </p:sp>
      <p:sp>
        <p:nvSpPr>
          <p:cNvPr id="9" name="anim-2-rise-b0"/>
          <p:cNvSpPr txBox="1"/>
          <p:nvPr/>
        </p:nvSpPr>
        <p:spPr>
          <a:xfrm>
            <a:off x="8503920" y="2084832"/>
            <a:ext cx="3154680" cy="457200"/>
          </a:xfrm>
          <a:prstGeom prst="rect">
            <a:avLst/>
          </a:prstGeom>
          <a:noFill/>
          <a:ln/>
        </p:spPr>
        <p:txBody>
          <a:bodyPr wrap="square" lIns="0" tIns="0" rIns="0" bIns="0" rtlCol="0" anchor="t"/>
          <a:lstStyle/>
          <a:p>
            <a:pPr indent="0" marL="0">
              <a:buNone/>
            </a:pPr>
            <a:r>
              <a:rPr lang="en-US" sz="1300" dirty="0">
                <a:solidFill>
                  <a:srgbClr val="CDC7BB"/>
                </a:solidFill>
              </a:rPr>
              <a:t>Same engine in Node and the browser (WebCrypto)</a:t>
            </a:r>
            <a:endParaRPr lang="en-US" sz="1300" dirty="0"/>
          </a:p>
        </p:txBody>
      </p:sp>
      <p:sp>
        <p:nvSpPr>
          <p:cNvPr id="10" name="anim-3-rise-h1"/>
          <p:cNvSpPr txBox="1"/>
          <p:nvPr/>
        </p:nvSpPr>
        <p:spPr>
          <a:xfrm>
            <a:off x="8503920" y="2633472"/>
            <a:ext cx="3154680" cy="347472"/>
          </a:xfrm>
          <a:prstGeom prst="rect">
            <a:avLst/>
          </a:prstGeom>
          <a:noFill/>
          <a:ln/>
        </p:spPr>
        <p:txBody>
          <a:bodyPr wrap="square" lIns="0" tIns="0" rIns="0" bIns="0" rtlCol="0" anchor="ctr"/>
          <a:lstStyle/>
          <a:p>
            <a:pPr indent="0" marL="0">
              <a:buNone/>
            </a:pPr>
            <a:r>
              <a:rPr lang="en-US" sz="1600" b="1" dirty="0">
                <a:solidFill>
                  <a:srgbClr val="F6D8B4"/>
                </a:solidFill>
              </a:rPr>
              <a:t>Gateway</a:t>
            </a:r>
            <a:endParaRPr lang="en-US" sz="1600" dirty="0"/>
          </a:p>
        </p:txBody>
      </p:sp>
      <p:sp>
        <p:nvSpPr>
          <p:cNvPr id="11" name="anim-3-rise-b1"/>
          <p:cNvSpPr txBox="1"/>
          <p:nvPr/>
        </p:nvSpPr>
        <p:spPr>
          <a:xfrm>
            <a:off x="8503920" y="2980944"/>
            <a:ext cx="3154680" cy="457200"/>
          </a:xfrm>
          <a:prstGeom prst="rect">
            <a:avLst/>
          </a:prstGeom>
          <a:noFill/>
          <a:ln/>
        </p:spPr>
        <p:txBody>
          <a:bodyPr wrap="square" lIns="0" tIns="0" rIns="0" bIns="0" rtlCol="0" anchor="t"/>
          <a:lstStyle/>
          <a:p>
            <a:pPr indent="0" marL="0">
              <a:buNone/>
            </a:pPr>
            <a:r>
              <a:rPr lang="en-US" sz="1300" dirty="0">
                <a:solidFill>
                  <a:srgbClr val="CDC7BB"/>
                </a:solidFill>
              </a:rPr>
              <a:t>Hono · SSE · SQLite · AES-256-GCM vault</a:t>
            </a:r>
            <a:endParaRPr lang="en-US" sz="1300" dirty="0"/>
          </a:p>
        </p:txBody>
      </p:sp>
      <p:sp>
        <p:nvSpPr>
          <p:cNvPr id="12" name="anim-4-rise-h2"/>
          <p:cNvSpPr txBox="1"/>
          <p:nvPr/>
        </p:nvSpPr>
        <p:spPr>
          <a:xfrm>
            <a:off x="8503920" y="3529584"/>
            <a:ext cx="3154680" cy="347472"/>
          </a:xfrm>
          <a:prstGeom prst="rect">
            <a:avLst/>
          </a:prstGeom>
          <a:noFill/>
          <a:ln/>
        </p:spPr>
        <p:txBody>
          <a:bodyPr wrap="square" lIns="0" tIns="0" rIns="0" bIns="0" rtlCol="0" anchor="ctr"/>
          <a:lstStyle/>
          <a:p>
            <a:pPr indent="0" marL="0">
              <a:buNone/>
            </a:pPr>
            <a:r>
              <a:rPr lang="en-US" sz="1600" b="1" dirty="0">
                <a:solidFill>
                  <a:srgbClr val="EFA56F"/>
                </a:solidFill>
              </a:rPr>
              <a:t>Local-first</a:t>
            </a:r>
            <a:endParaRPr lang="en-US" sz="1600" dirty="0"/>
          </a:p>
        </p:txBody>
      </p:sp>
      <p:sp>
        <p:nvSpPr>
          <p:cNvPr id="13" name="anim-4-rise-b2"/>
          <p:cNvSpPr txBox="1"/>
          <p:nvPr/>
        </p:nvSpPr>
        <p:spPr>
          <a:xfrm>
            <a:off x="8503920" y="3877056"/>
            <a:ext cx="3154680" cy="457200"/>
          </a:xfrm>
          <a:prstGeom prst="rect">
            <a:avLst/>
          </a:prstGeom>
          <a:noFill/>
          <a:ln/>
        </p:spPr>
        <p:txBody>
          <a:bodyPr wrap="square" lIns="0" tIns="0" rIns="0" bIns="0" rtlCol="0" anchor="t"/>
          <a:lstStyle/>
          <a:p>
            <a:pPr indent="0" marL="0">
              <a:buNone/>
            </a:pPr>
            <a:r>
              <a:rPr lang="en-US" sz="1300" dirty="0">
                <a:solidFill>
                  <a:srgbClr val="CDC7BB"/>
                </a:solidFill>
              </a:rPr>
              <a:t>The live demo has no backend at all</a:t>
            </a:r>
            <a:endParaRPr lang="en-US" sz="1300" dirty="0"/>
          </a:p>
        </p:txBody>
      </p:sp>
      <p:sp>
        <p:nvSpPr>
          <p:cNvPr id="14" name="anim-5-rise-h3"/>
          <p:cNvSpPr txBox="1"/>
          <p:nvPr/>
        </p:nvSpPr>
        <p:spPr>
          <a:xfrm>
            <a:off x="8503920" y="4425696"/>
            <a:ext cx="3154680" cy="347472"/>
          </a:xfrm>
          <a:prstGeom prst="rect">
            <a:avLst/>
          </a:prstGeom>
          <a:noFill/>
          <a:ln/>
        </p:spPr>
        <p:txBody>
          <a:bodyPr wrap="square" lIns="0" tIns="0" rIns="0" bIns="0" rtlCol="0" anchor="ctr"/>
          <a:lstStyle/>
          <a:p>
            <a:pPr indent="0" marL="0">
              <a:buNone/>
            </a:pPr>
            <a:r>
              <a:rPr lang="en-US" sz="1600" b="1" dirty="0">
                <a:solidFill>
                  <a:srgbClr val="F6D8B4"/>
                </a:solidFill>
              </a:rPr>
              <a:t>MCP server</a:t>
            </a:r>
            <a:endParaRPr lang="en-US" sz="1600" dirty="0"/>
          </a:p>
        </p:txBody>
      </p:sp>
      <p:sp>
        <p:nvSpPr>
          <p:cNvPr id="15" name="anim-5-rise-b3"/>
          <p:cNvSpPr txBox="1"/>
          <p:nvPr/>
        </p:nvSpPr>
        <p:spPr>
          <a:xfrm>
            <a:off x="8503920" y="4773168"/>
            <a:ext cx="3154680" cy="457200"/>
          </a:xfrm>
          <a:prstGeom prst="rect">
            <a:avLst/>
          </a:prstGeom>
          <a:noFill/>
          <a:ln/>
        </p:spPr>
        <p:txBody>
          <a:bodyPr wrap="square" lIns="0" tIns="0" rIns="0" bIns="0" rtlCol="0" anchor="t"/>
          <a:lstStyle/>
          <a:p>
            <a:pPr indent="0" marL="0">
              <a:buNone/>
            </a:pPr>
            <a:r>
              <a:rPr lang="en-US" sz="1300" dirty="0">
                <a:solidFill>
                  <a:srgbClr val="CDC7BB"/>
                </a:solidFill>
              </a:rPr>
              <a:t>Claude Desktop, Claude Code, Cursor</a:t>
            </a:r>
            <a:endParaRPr lang="en-US" sz="1300" dirty="0"/>
          </a:p>
        </p:txBody>
      </p:sp>
      <p:sp>
        <p:nvSpPr>
          <p:cNvPr id="16" name="anim-6-rise-h4"/>
          <p:cNvSpPr txBox="1"/>
          <p:nvPr/>
        </p:nvSpPr>
        <p:spPr>
          <a:xfrm>
            <a:off x="8503920" y="5321808"/>
            <a:ext cx="3154680" cy="347472"/>
          </a:xfrm>
          <a:prstGeom prst="rect">
            <a:avLst/>
          </a:prstGeom>
          <a:noFill/>
          <a:ln/>
        </p:spPr>
        <p:txBody>
          <a:bodyPr wrap="square" lIns="0" tIns="0" rIns="0" bIns="0" rtlCol="0" anchor="ctr"/>
          <a:lstStyle/>
          <a:p>
            <a:pPr indent="0" marL="0">
              <a:buNone/>
            </a:pPr>
            <a:r>
              <a:rPr lang="en-US" sz="1600" b="1" dirty="0">
                <a:solidFill>
                  <a:srgbClr val="EFA56F"/>
                </a:solidFill>
              </a:rPr>
              <a:t>Claude or Autopilot</a:t>
            </a:r>
            <a:endParaRPr lang="en-US" sz="1600" dirty="0"/>
          </a:p>
        </p:txBody>
      </p:sp>
      <p:sp>
        <p:nvSpPr>
          <p:cNvPr id="17" name="anim-6-rise-b4"/>
          <p:cNvSpPr txBox="1"/>
          <p:nvPr/>
        </p:nvSpPr>
        <p:spPr>
          <a:xfrm>
            <a:off x="8503920" y="5669280"/>
            <a:ext cx="3154680" cy="457200"/>
          </a:xfrm>
          <a:prstGeom prst="rect">
            <a:avLst/>
          </a:prstGeom>
          <a:noFill/>
          <a:ln/>
        </p:spPr>
        <p:txBody>
          <a:bodyPr wrap="square" lIns="0" tIns="0" rIns="0" bIns="0" rtlCol="0" anchor="t"/>
          <a:lstStyle/>
          <a:p>
            <a:pPr indent="0" marL="0">
              <a:buNone/>
            </a:pPr>
            <a:r>
              <a:rPr lang="en-US" sz="1300" dirty="0">
                <a:solidFill>
                  <a:srgbClr val="CDC7BB"/>
                </a:solidFill>
              </a:rPr>
              <a:t>LLM optional; tokens only</a:t>
            </a:r>
            <a:endParaRPr lang="en-US" sz="13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8" presetID="53" presetClass="entr" presetSubtype="16"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 calcmode="lin" valueType="num">
                                      <p:cBhvr>
                                        <p:cTn id="5" dur="700" decel="100000" fill="hold"/>
                                        <p:tgtEl>
                                          <p:spTgt spid="6"/>
                                        </p:tgtEl>
                                        <p:attrNameLst>
                                          <p:attrName>ppt_w</p:attrName>
                                        </p:attrNameLst>
                                      </p:cBhvr>
                                      <p:tavLst>
                                        <p:tav tm="0">
                                          <p:val>
                                            <p:strVal val="0"/>
                                          </p:val>
                                        </p:tav>
                                        <p:tav tm="100000">
                                          <p:val>
                                            <p:strVal val="#ppt_w"/>
                                          </p:val>
                                        </p:tav>
                                      </p:tavLst>
                                    </p:anim>
                                    <p:anim calcmode="lin" valueType="num">
                                      <p:cBhvr>
                                        <p:cTn id="6" dur="700" decel="100000" fill="hold"/>
                                        <p:tgtEl>
                                          <p:spTgt spid="6"/>
                                        </p:tgtEl>
                                        <p:attrNameLst>
                                          <p:attrName>ppt_h</p:attrName>
                                        </p:attrNameLst>
                                      </p:cBhvr>
                                      <p:tavLst>
                                        <p:tav tm="0">
                                          <p:val>
                                            <p:strVal val="0"/>
                                          </p:val>
                                        </p:tav>
                                        <p:tav tm="100000">
                                          <p:val>
                                            <p:strVal val="#ppt_h"/>
                                          </p:val>
                                        </p:tav>
                                      </p:tavLst>
                                    </p:anim>
                                    <p:animEffect transition="in" filter="fade">
                                      <p:cBhvr>
                                        <p:cTn id="7" dur="700"/>
                                        <p:tgtEl>
                                          <p:spTgt spid="6"/>
                                        </p:tgtEl>
                                      </p:cBhvr>
                                    </p:animEffect>
                                  </p:childTnLst>
                                </p:cTn>
                              </p:par>
                              <p:par>
                                <p:cTn id="13" presetID="53" presetClass="entr" presetSubtype="16" fill="hold" grpId="0" nodeType="withEffect">
                                  <p:stCondLst>
                                    <p:cond delay="305"/>
                                  </p:stCondLst>
                                  <p:childTnLst>
                                    <p:set>
                                      <p:cBhvr>
                                        <p:cTn id="9" dur="1" fill="hold">
                                          <p:stCondLst>
                                            <p:cond delay="0"/>
                                          </p:stCondLst>
                                        </p:cTn>
                                        <p:tgtEl>
                                          <p:spTgt spid="7"/>
                                        </p:tgtEl>
                                        <p:attrNameLst>
                                          <p:attrName>style.visibility</p:attrName>
                                        </p:attrNameLst>
                                      </p:cBhvr>
                                      <p:to>
                                        <p:strVal val="visible"/>
                                      </p:to>
                                    </p:set>
                                    <p:anim calcmode="lin" valueType="num">
                                      <p:cBhvr>
                                        <p:cTn id="10" dur="700" decel="100000" fill="hold"/>
                                        <p:tgtEl>
                                          <p:spTgt spid="7"/>
                                        </p:tgtEl>
                                        <p:attrNameLst>
                                          <p:attrName>ppt_w</p:attrName>
                                        </p:attrNameLst>
                                      </p:cBhvr>
                                      <p:tavLst>
                                        <p:tav tm="0">
                                          <p:val>
                                            <p:strVal val="0"/>
                                          </p:val>
                                        </p:tav>
                                        <p:tav tm="100000">
                                          <p:val>
                                            <p:strVal val="#ppt_w"/>
                                          </p:val>
                                        </p:tav>
                                      </p:tavLst>
                                    </p:anim>
                                    <p:anim calcmode="lin" valueType="num">
                                      <p:cBhvr>
                                        <p:cTn id="11" dur="700" decel="100000" fill="hold"/>
                                        <p:tgtEl>
                                          <p:spTgt spid="7"/>
                                        </p:tgtEl>
                                        <p:attrNameLst>
                                          <p:attrName>ppt_h</p:attrName>
                                        </p:attrNameLst>
                                      </p:cBhvr>
                                      <p:tavLst>
                                        <p:tav tm="0">
                                          <p:val>
                                            <p:strVal val="0"/>
                                          </p:val>
                                        </p:tav>
                                        <p:tav tm="100000">
                                          <p:val>
                                            <p:strVal val="#ppt_h"/>
                                          </p:val>
                                        </p:tav>
                                      </p:tavLst>
                                    </p:anim>
                                    <p:animEffect transition="in" filter="fade">
                                      <p:cBhvr>
                                        <p:cTn id="12" dur="700"/>
                                        <p:tgtEl>
                                          <p:spTgt spid="7"/>
                                        </p:tgtEl>
                                      </p:cBhvr>
                                    </p:animEffect>
                                  </p:childTnLst>
                                </p:cTn>
                              </p:par>
                              <p:par>
                                <p:cTn id="18" presetID="42" presetClass="entr" presetSubtype="0" fill="hold" grpId="0" nodeType="withEffect">
                                  <p:stCondLst>
                                    <p:cond delay="58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50"/>
                                        <p:tgtEl>
                                          <p:spTgt spid="8"/>
                                        </p:tgtEl>
                                      </p:cBhvr>
                                    </p:animEffect>
                                    <p:anim calcmode="lin" valueType="num">
                                      <p:cBhvr>
                                        <p:cTn id="16" dur="750" fill="hold"/>
                                        <p:tgtEl>
                                          <p:spTgt spid="8"/>
                                        </p:tgtEl>
                                        <p:attrNameLst>
                                          <p:attrName>ppt_x</p:attrName>
                                        </p:attrNameLst>
                                      </p:cBhvr>
                                      <p:tavLst>
                                        <p:tav tm="0">
                                          <p:val>
                                            <p:strVal val="#ppt_x"/>
                                          </p:val>
                                        </p:tav>
                                        <p:tav tm="100000">
                                          <p:val>
                                            <p:strVal val="#ppt_x"/>
                                          </p:val>
                                        </p:tav>
                                      </p:tavLst>
                                    </p:anim>
                                    <p:anim calcmode="lin" valueType="num">
                                      <p:cBhvr>
                                        <p:cTn id="17" dur="750" decel="10000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635"/>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750"/>
                                        <p:tgtEl>
                                          <p:spTgt spid="9"/>
                                        </p:tgtEl>
                                      </p:cBhvr>
                                    </p:animEffect>
                                    <p:anim calcmode="lin" valueType="num">
                                      <p:cBhvr>
                                        <p:cTn id="21" dur="750" fill="hold"/>
                                        <p:tgtEl>
                                          <p:spTgt spid="9"/>
                                        </p:tgtEl>
                                        <p:attrNameLst>
                                          <p:attrName>ppt_x</p:attrName>
                                        </p:attrNameLst>
                                      </p:cBhvr>
                                      <p:tavLst>
                                        <p:tav tm="0">
                                          <p:val>
                                            <p:strVal val="#ppt_x"/>
                                          </p:val>
                                        </p:tav>
                                        <p:tav tm="100000">
                                          <p:val>
                                            <p:strVal val="#ppt_x"/>
                                          </p:val>
                                        </p:tav>
                                      </p:tavLst>
                                    </p:anim>
                                    <p:anim calcmode="lin" valueType="num">
                                      <p:cBhvr>
                                        <p:cTn id="22" dur="750" decel="10000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91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50"/>
                                        <p:tgtEl>
                                          <p:spTgt spid="10"/>
                                        </p:tgtEl>
                                      </p:cBhvr>
                                    </p:animEffect>
                                    <p:anim calcmode="lin" valueType="num">
                                      <p:cBhvr>
                                        <p:cTn id="26" dur="750" fill="hold"/>
                                        <p:tgtEl>
                                          <p:spTgt spid="10"/>
                                        </p:tgtEl>
                                        <p:attrNameLst>
                                          <p:attrName>ppt_x</p:attrName>
                                        </p:attrNameLst>
                                      </p:cBhvr>
                                      <p:tavLst>
                                        <p:tav tm="0">
                                          <p:val>
                                            <p:strVal val="#ppt_x"/>
                                          </p:val>
                                        </p:tav>
                                        <p:tav tm="100000">
                                          <p:val>
                                            <p:strVal val="#ppt_x"/>
                                          </p:val>
                                        </p:tav>
                                      </p:tavLst>
                                    </p:anim>
                                    <p:anim calcmode="lin" valueType="num">
                                      <p:cBhvr>
                                        <p:cTn id="27" dur="750" decel="10000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965"/>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50"/>
                                        <p:tgtEl>
                                          <p:spTgt spid="11"/>
                                        </p:tgtEl>
                                      </p:cBhvr>
                                    </p:animEffect>
                                    <p:anim calcmode="lin" valueType="num">
                                      <p:cBhvr>
                                        <p:cTn id="31" dur="750" fill="hold"/>
                                        <p:tgtEl>
                                          <p:spTgt spid="11"/>
                                        </p:tgtEl>
                                        <p:attrNameLst>
                                          <p:attrName>ppt_x</p:attrName>
                                        </p:attrNameLst>
                                      </p:cBhvr>
                                      <p:tavLst>
                                        <p:tav tm="0">
                                          <p:val>
                                            <p:strVal val="#ppt_x"/>
                                          </p:val>
                                        </p:tav>
                                        <p:tav tm="100000">
                                          <p:val>
                                            <p:strVal val="#ppt_x"/>
                                          </p:val>
                                        </p:tav>
                                      </p:tavLst>
                                    </p:anim>
                                    <p:anim calcmode="lin" valueType="num">
                                      <p:cBhvr>
                                        <p:cTn id="32" dur="750" decel="10000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124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50"/>
                                        <p:tgtEl>
                                          <p:spTgt spid="12"/>
                                        </p:tgtEl>
                                      </p:cBhvr>
                                    </p:animEffect>
                                    <p:anim calcmode="lin" valueType="num">
                                      <p:cBhvr>
                                        <p:cTn id="36" dur="750" fill="hold"/>
                                        <p:tgtEl>
                                          <p:spTgt spid="12"/>
                                        </p:tgtEl>
                                        <p:attrNameLst>
                                          <p:attrName>ppt_x</p:attrName>
                                        </p:attrNameLst>
                                      </p:cBhvr>
                                      <p:tavLst>
                                        <p:tav tm="0">
                                          <p:val>
                                            <p:strVal val="#ppt_x"/>
                                          </p:val>
                                        </p:tav>
                                        <p:tav tm="100000">
                                          <p:val>
                                            <p:strVal val="#ppt_x"/>
                                          </p:val>
                                        </p:tav>
                                      </p:tavLst>
                                    </p:anim>
                                    <p:anim calcmode="lin" valueType="num">
                                      <p:cBhvr>
                                        <p:cTn id="37" dur="750" decel="10000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1295"/>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50"/>
                                        <p:tgtEl>
                                          <p:spTgt spid="13"/>
                                        </p:tgtEl>
                                      </p:cBhvr>
                                    </p:animEffect>
                                    <p:anim calcmode="lin" valueType="num">
                                      <p:cBhvr>
                                        <p:cTn id="41" dur="750" fill="hold"/>
                                        <p:tgtEl>
                                          <p:spTgt spid="13"/>
                                        </p:tgtEl>
                                        <p:attrNameLst>
                                          <p:attrName>ppt_x</p:attrName>
                                        </p:attrNameLst>
                                      </p:cBhvr>
                                      <p:tavLst>
                                        <p:tav tm="0">
                                          <p:val>
                                            <p:strVal val="#ppt_x"/>
                                          </p:val>
                                        </p:tav>
                                        <p:tav tm="100000">
                                          <p:val>
                                            <p:strVal val="#ppt_x"/>
                                          </p:val>
                                        </p:tav>
                                      </p:tavLst>
                                    </p:anim>
                                    <p:anim calcmode="lin" valueType="num">
                                      <p:cBhvr>
                                        <p:cTn id="42" dur="750" decel="10000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157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50"/>
                                        <p:tgtEl>
                                          <p:spTgt spid="14"/>
                                        </p:tgtEl>
                                      </p:cBhvr>
                                    </p:animEffect>
                                    <p:anim calcmode="lin" valueType="num">
                                      <p:cBhvr>
                                        <p:cTn id="46" dur="750" fill="hold"/>
                                        <p:tgtEl>
                                          <p:spTgt spid="14"/>
                                        </p:tgtEl>
                                        <p:attrNameLst>
                                          <p:attrName>ppt_x</p:attrName>
                                        </p:attrNameLst>
                                      </p:cBhvr>
                                      <p:tavLst>
                                        <p:tav tm="0">
                                          <p:val>
                                            <p:strVal val="#ppt_x"/>
                                          </p:val>
                                        </p:tav>
                                        <p:tav tm="100000">
                                          <p:val>
                                            <p:strVal val="#ppt_x"/>
                                          </p:val>
                                        </p:tav>
                                      </p:tavLst>
                                    </p:anim>
                                    <p:anim calcmode="lin" valueType="num">
                                      <p:cBhvr>
                                        <p:cTn id="47" dur="750" decel="10000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1625"/>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750"/>
                                        <p:tgtEl>
                                          <p:spTgt spid="15"/>
                                        </p:tgtEl>
                                      </p:cBhvr>
                                    </p:animEffect>
                                    <p:anim calcmode="lin" valueType="num">
                                      <p:cBhvr>
                                        <p:cTn id="51" dur="750" fill="hold"/>
                                        <p:tgtEl>
                                          <p:spTgt spid="15"/>
                                        </p:tgtEl>
                                        <p:attrNameLst>
                                          <p:attrName>ppt_x</p:attrName>
                                        </p:attrNameLst>
                                      </p:cBhvr>
                                      <p:tavLst>
                                        <p:tav tm="0">
                                          <p:val>
                                            <p:strVal val="#ppt_x"/>
                                          </p:val>
                                        </p:tav>
                                        <p:tav tm="100000">
                                          <p:val>
                                            <p:strVal val="#ppt_x"/>
                                          </p:val>
                                        </p:tav>
                                      </p:tavLst>
                                    </p:anim>
                                    <p:anim calcmode="lin" valueType="num">
                                      <p:cBhvr>
                                        <p:cTn id="52" dur="750" decel="10000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9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ppt_x</p:attrName>
                                        </p:attrNameLst>
                                      </p:cBhvr>
                                      <p:tavLst>
                                        <p:tav tm="0">
                                          <p:val>
                                            <p:strVal val="#ppt_x"/>
                                          </p:val>
                                        </p:tav>
                                        <p:tav tm="100000">
                                          <p:val>
                                            <p:strVal val="#ppt_x"/>
                                          </p:val>
                                        </p:tav>
                                      </p:tavLst>
                                    </p:anim>
                                    <p:anim calcmode="lin" valueType="num">
                                      <p:cBhvr>
                                        <p:cTn id="57" dur="750" decel="10000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1955"/>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750"/>
                                        <p:tgtEl>
                                          <p:spTgt spid="17"/>
                                        </p:tgtEl>
                                      </p:cBhvr>
                                    </p:animEffect>
                                    <p:anim calcmode="lin" valueType="num">
                                      <p:cBhvr>
                                        <p:cTn id="61" dur="750" fill="hold"/>
                                        <p:tgtEl>
                                          <p:spTgt spid="17"/>
                                        </p:tgtEl>
                                        <p:attrNameLst>
                                          <p:attrName>ppt_x</p:attrName>
                                        </p:attrNameLst>
                                      </p:cBhvr>
                                      <p:tavLst>
                                        <p:tav tm="0">
                                          <p:val>
                                            <p:strVal val="#ppt_x"/>
                                          </p:val>
                                        </p:tav>
                                        <p:tav tm="100000">
                                          <p:val>
                                            <p:strVal val="#ppt_x"/>
                                          </p:val>
                                        </p:tav>
                                      </p:tavLst>
                                    </p:anim>
                                    <p:anim calcmode="lin" valueType="num">
                                      <p:cBhvr>
                                        <p:cTn id="62" dur="750" decel="100000" fill="hold"/>
                                        <p:tgtEl>
                                          <p:spTgt spid="1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rb" descr="media/orb.png">    </p:cNvPr>
          <p:cNvPicPr>
            <a:picLocks noChangeAspect="1"/>
          </p:cNvPicPr>
          <p:nvPr/>
        </p:nvPicPr>
        <p:blipFill>
          <a:blip r:embed="rId1">
            <a:alphaModFix amt="90000"/>
          </a:blip>
          <a:stretch>
            <a:fillRect/>
          </a:stretch>
        </p:blipFill>
        <p:spPr>
          <a:xfrm>
            <a:off x="2926080" y="-2194560"/>
            <a:ext cx="6400800" cy="6400800"/>
          </a:xfrm>
          <a:prstGeom prst="rect">
            <a:avLst/>
          </a:prstGeom>
        </p:spPr>
      </p:pic>
      <p:pic>
        <p:nvPicPr>
          <p:cNvPr id="3" name="!!logo" descr="media/logo.png">    </p:cNvPr>
          <p:cNvPicPr>
            <a:picLocks noChangeAspect="1"/>
          </p:cNvPicPr>
          <p:nvPr/>
        </p:nvPicPr>
        <p:blipFill>
          <a:blip r:embed="rId2"/>
          <a:stretch>
            <a:fillRect/>
          </a:stretch>
        </p:blipFill>
        <p:spPr>
          <a:xfrm>
            <a:off x="11082528" y="329184"/>
            <a:ext cx="566928" cy="566928"/>
          </a:xfrm>
          <a:prstGeom prst="rect">
            <a:avLst/>
          </a:prstGeom>
        </p:spPr>
      </p:pic>
      <p:sp>
        <p:nvSpPr>
          <p:cNvPr id="4" name="Text 0"/>
          <p:cNvSpPr/>
          <p:nvPr>
            <p:ph idx="100" type="body" hasCustomPrompt="1"/>
          </p:nvPr>
        </p:nvSpPr>
        <p:spPr>
          <a:xfrm>
            <a:off x="548640" y="384048"/>
            <a:ext cx="9875520" cy="310896"/>
          </a:xfrm>
          <a:prstGeom prst="rect">
            <a:avLst/>
          </a:prstGeom>
          <a:noFill/>
          <a:ln/>
        </p:spPr>
        <p:txBody>
          <a:bodyPr wrap="square" lIns="0" tIns="0" rIns="0" bIns="0" rtlCol="0" anchor="ctr"/>
          <a:lstStyle/>
          <a:p>
            <a:pPr indent="0" marL="0">
              <a:buNone/>
            </a:pPr>
            <a:r>
              <a:rPr lang="en-US" sz="1200" b="1" spc="300" kern="0" dirty="0">
                <a:solidFill>
                  <a:schemeClr val="accent1"/>
                </a:solidFill>
              </a:rPr>
              <a:t>WHY NOW · BUSINESS</a:t>
            </a:r>
            <a:endParaRPr lang="en-US" sz="1200" dirty="0"/>
          </a:p>
        </p:txBody>
      </p:sp>
      <p:sp>
        <p:nvSpPr>
          <p:cNvPr id="5" name="Text 0"/>
          <p:cNvSpPr/>
          <p:nvPr>
            <p:ph idx="101" type="title" hasCustomPrompt="1"/>
          </p:nvPr>
        </p:nvSpPr>
        <p:spPr>
          <a:xfrm>
            <a:off x="548640" y="713232"/>
            <a:ext cx="10241280" cy="777240"/>
          </a:xfrm>
          <a:prstGeom prst="rect">
            <a:avLst/>
          </a:prstGeom>
          <a:noFill/>
          <a:ln/>
        </p:spPr>
        <p:txBody>
          <a:bodyPr wrap="square" lIns="0" tIns="0" rIns="0" bIns="0" rtlCol="0" anchor="ctr"/>
          <a:lstStyle/>
          <a:p>
            <a:pPr algn="l" indent="0" marL="0">
              <a:buNone/>
            </a:pPr>
            <a:r>
              <a:rPr lang="en-US" sz="3400" b="1" dirty="0">
                <a:solidFill>
                  <a:schemeClr val="bg1"/>
                </a:solidFill>
              </a:rPr>
              <a:t>Consent management for the agent era</a:t>
            </a:r>
            <a:endParaRPr lang="en-US" sz="3400" dirty="0"/>
          </a:p>
        </p:txBody>
      </p:sp>
      <p:sp>
        <p:nvSpPr>
          <p:cNvPr id="6" name="anim-1-rise-t0"/>
          <p:cNvSpPr/>
          <p:nvPr/>
        </p:nvSpPr>
        <p:spPr>
          <a:xfrm>
            <a:off x="548640" y="1737360"/>
            <a:ext cx="3520440" cy="2240280"/>
          </a:xfrm>
          <a:prstGeom prst="roundRect">
            <a:avLst>
              <a:gd name="adj" fmla="val 5714"/>
            </a:avLst>
          </a:prstGeom>
          <a:solidFill>
            <a:srgbClr val="1A1B17">
              <a:alpha val="92000"/>
            </a:srgbClr>
          </a:solidFill>
          <a:ln w="12700">
            <a:solidFill>
              <a:srgbClr val="33342E"/>
            </a:solidFill>
            <a:prstDash val="solid"/>
          </a:ln>
        </p:spPr>
      </p:sp>
      <p:sp>
        <p:nvSpPr>
          <p:cNvPr id="7" name="anim-1-rise-th0"/>
          <p:cNvSpPr txBox="1"/>
          <p:nvPr/>
        </p:nvSpPr>
        <p:spPr>
          <a:xfrm>
            <a:off x="822960" y="1938528"/>
            <a:ext cx="3017520" cy="411480"/>
          </a:xfrm>
          <a:prstGeom prst="rect">
            <a:avLst/>
          </a:prstGeom>
          <a:noFill/>
          <a:ln/>
        </p:spPr>
        <p:txBody>
          <a:bodyPr wrap="square" lIns="0" tIns="0" rIns="0" bIns="0" rtlCol="0" anchor="ctr"/>
          <a:lstStyle/>
          <a:p>
            <a:pPr indent="0" marL="0">
              <a:buNone/>
            </a:pPr>
            <a:r>
              <a:rPr lang="en-US" sz="2000" b="1" dirty="0">
                <a:solidFill>
                  <a:srgbClr val="EFA56F"/>
                </a:solidFill>
              </a:rPr>
              <a:t>Open source</a:t>
            </a:r>
            <a:endParaRPr lang="en-US" sz="2000" dirty="0"/>
          </a:p>
        </p:txBody>
      </p:sp>
      <p:sp>
        <p:nvSpPr>
          <p:cNvPr id="8" name="anim-1-rise-tp0"/>
          <p:cNvSpPr txBox="1"/>
          <p:nvPr/>
        </p:nvSpPr>
        <p:spPr>
          <a:xfrm>
            <a:off x="822960" y="2359152"/>
            <a:ext cx="3017520" cy="274320"/>
          </a:xfrm>
          <a:prstGeom prst="rect">
            <a:avLst/>
          </a:prstGeom>
          <a:noFill/>
          <a:ln/>
        </p:spPr>
        <p:txBody>
          <a:bodyPr wrap="square" lIns="0" tIns="0" rIns="0" bIns="0" rtlCol="0" anchor="ctr"/>
          <a:lstStyle/>
          <a:p>
            <a:pPr indent="0" marL="0">
              <a:buNone/>
            </a:pPr>
            <a:r>
              <a:rPr lang="en-US" sz="1100" b="1" spc="200" kern="0" dirty="0">
                <a:solidFill>
                  <a:srgbClr val="A7A196"/>
                </a:solidFill>
              </a:rPr>
              <a:t>FREE</a:t>
            </a:r>
            <a:endParaRPr lang="en-US" sz="1100" dirty="0"/>
          </a:p>
        </p:txBody>
      </p:sp>
      <p:sp>
        <p:nvSpPr>
          <p:cNvPr id="9" name="anim-1-rise-tb0"/>
          <p:cNvSpPr txBox="1"/>
          <p:nvPr/>
        </p:nvSpPr>
        <p:spPr>
          <a:xfrm>
            <a:off x="822960" y="2724912"/>
            <a:ext cx="3017520" cy="1143000"/>
          </a:xfrm>
          <a:prstGeom prst="rect">
            <a:avLst/>
          </a:prstGeom>
          <a:noFill/>
          <a:ln/>
        </p:spPr>
        <p:txBody>
          <a:bodyPr wrap="square" lIns="0" tIns="0" rIns="0" bIns="0" rtlCol="0" anchor="t"/>
          <a:lstStyle/>
          <a:p>
            <a:pPr indent="0" marL="0">
              <a:buNone/>
            </a:pPr>
            <a:r>
              <a:rPr lang="en-US" sz="1400" dirty="0">
                <a:solidFill>
                  <a:srgbClr val="CDC7BB"/>
                </a:solidFill>
              </a:rPr>
              <a:t>Firewall, MCP server, ledger, local-first app. Developers adopt it bottom-up.</a:t>
            </a:r>
            <a:endParaRPr lang="en-US" sz="1400" dirty="0"/>
          </a:p>
        </p:txBody>
      </p:sp>
      <p:sp>
        <p:nvSpPr>
          <p:cNvPr id="10" name="anim-2-rise-t1"/>
          <p:cNvSpPr/>
          <p:nvPr/>
        </p:nvSpPr>
        <p:spPr>
          <a:xfrm>
            <a:off x="4297680" y="1737360"/>
            <a:ext cx="3520440" cy="2240280"/>
          </a:xfrm>
          <a:prstGeom prst="roundRect">
            <a:avLst>
              <a:gd name="adj" fmla="val 5714"/>
            </a:avLst>
          </a:prstGeom>
          <a:solidFill>
            <a:srgbClr val="1A1B17">
              <a:alpha val="92000"/>
            </a:srgbClr>
          </a:solidFill>
          <a:ln w="12700">
            <a:solidFill>
              <a:srgbClr val="33342E"/>
            </a:solidFill>
            <a:prstDash val="solid"/>
          </a:ln>
        </p:spPr>
      </p:sp>
      <p:sp>
        <p:nvSpPr>
          <p:cNvPr id="11" name="anim-2-rise-th1"/>
          <p:cNvSpPr txBox="1"/>
          <p:nvPr/>
        </p:nvSpPr>
        <p:spPr>
          <a:xfrm>
            <a:off x="4572000" y="1938528"/>
            <a:ext cx="3017520" cy="411480"/>
          </a:xfrm>
          <a:prstGeom prst="rect">
            <a:avLst/>
          </a:prstGeom>
          <a:noFill/>
          <a:ln/>
        </p:spPr>
        <p:txBody>
          <a:bodyPr wrap="square" lIns="0" tIns="0" rIns="0" bIns="0" rtlCol="0" anchor="ctr"/>
          <a:lstStyle/>
          <a:p>
            <a:pPr indent="0" marL="0">
              <a:buNone/>
            </a:pPr>
            <a:r>
              <a:rPr lang="en-US" sz="2000" b="1" dirty="0">
                <a:solidFill>
                  <a:srgbClr val="F6D8B4"/>
                </a:solidFill>
              </a:rPr>
              <a:t>Team gateway</a:t>
            </a:r>
            <a:endParaRPr lang="en-US" sz="2000" dirty="0"/>
          </a:p>
        </p:txBody>
      </p:sp>
      <p:sp>
        <p:nvSpPr>
          <p:cNvPr id="12" name="anim-2-rise-tp1"/>
          <p:cNvSpPr txBox="1"/>
          <p:nvPr/>
        </p:nvSpPr>
        <p:spPr>
          <a:xfrm>
            <a:off x="4572000" y="2359152"/>
            <a:ext cx="3017520" cy="274320"/>
          </a:xfrm>
          <a:prstGeom prst="rect">
            <a:avLst/>
          </a:prstGeom>
          <a:noFill/>
          <a:ln/>
        </p:spPr>
        <p:txBody>
          <a:bodyPr wrap="square" lIns="0" tIns="0" rIns="0" bIns="0" rtlCol="0" anchor="ctr"/>
          <a:lstStyle/>
          <a:p>
            <a:pPr indent="0" marL="0">
              <a:buNone/>
            </a:pPr>
            <a:r>
              <a:rPr lang="en-US" sz="1100" b="1" spc="200" kern="0" dirty="0">
                <a:solidFill>
                  <a:srgbClr val="A7A196"/>
                </a:solidFill>
              </a:rPr>
              <a:t>PER AGENT SEAT</a:t>
            </a:r>
            <a:endParaRPr lang="en-US" sz="1100" dirty="0"/>
          </a:p>
        </p:txBody>
      </p:sp>
      <p:sp>
        <p:nvSpPr>
          <p:cNvPr id="13" name="anim-2-rise-tb1"/>
          <p:cNvSpPr txBox="1"/>
          <p:nvPr/>
        </p:nvSpPr>
        <p:spPr>
          <a:xfrm>
            <a:off x="4572000" y="2724912"/>
            <a:ext cx="3017520" cy="1143000"/>
          </a:xfrm>
          <a:prstGeom prst="rect">
            <a:avLst/>
          </a:prstGeom>
          <a:noFill/>
          <a:ln/>
        </p:spPr>
        <p:txBody>
          <a:bodyPr wrap="square" lIns="0" tIns="0" rIns="0" bIns="0" rtlCol="0" anchor="t"/>
          <a:lstStyle/>
          <a:p>
            <a:pPr indent="0" marL="0">
              <a:buNone/>
            </a:pPr>
            <a:r>
              <a:rPr lang="en-US" sz="1400" dirty="0">
                <a:solidFill>
                  <a:srgbClr val="CDC7BB"/>
                </a:solidFill>
              </a:rPr>
              <a:t>Shared policies, SSO, SIEM export, per-agent data budgets, consent inbox.</a:t>
            </a:r>
            <a:endParaRPr lang="en-US" sz="1400" dirty="0"/>
          </a:p>
        </p:txBody>
      </p:sp>
      <p:sp>
        <p:nvSpPr>
          <p:cNvPr id="14" name="anim-3-rise-t2"/>
          <p:cNvSpPr/>
          <p:nvPr/>
        </p:nvSpPr>
        <p:spPr>
          <a:xfrm>
            <a:off x="8046720" y="1737360"/>
            <a:ext cx="3520440" cy="2240280"/>
          </a:xfrm>
          <a:prstGeom prst="roundRect">
            <a:avLst>
              <a:gd name="adj" fmla="val 5714"/>
            </a:avLst>
          </a:prstGeom>
          <a:solidFill>
            <a:srgbClr val="1A1B17">
              <a:alpha val="92000"/>
            </a:srgbClr>
          </a:solidFill>
          <a:ln w="12700">
            <a:solidFill>
              <a:srgbClr val="33342E"/>
            </a:solidFill>
            <a:prstDash val="solid"/>
          </a:ln>
        </p:spPr>
      </p:sp>
      <p:sp>
        <p:nvSpPr>
          <p:cNvPr id="15" name="anim-3-rise-th2"/>
          <p:cNvSpPr txBox="1"/>
          <p:nvPr/>
        </p:nvSpPr>
        <p:spPr>
          <a:xfrm>
            <a:off x="8321040" y="1938528"/>
            <a:ext cx="3017520" cy="411480"/>
          </a:xfrm>
          <a:prstGeom prst="rect">
            <a:avLst/>
          </a:prstGeom>
          <a:noFill/>
          <a:ln/>
        </p:spPr>
        <p:txBody>
          <a:bodyPr wrap="square" lIns="0" tIns="0" rIns="0" bIns="0" rtlCol="0" anchor="ctr"/>
          <a:lstStyle/>
          <a:p>
            <a:pPr indent="0" marL="0">
              <a:buNone/>
            </a:pPr>
            <a:r>
              <a:rPr lang="en-US" sz="2000" b="1" dirty="0">
                <a:solidFill>
                  <a:srgbClr val="FBBF24"/>
                </a:solidFill>
              </a:rPr>
              <a:t>Enterprise</a:t>
            </a:r>
            <a:endParaRPr lang="en-US" sz="2000" dirty="0"/>
          </a:p>
        </p:txBody>
      </p:sp>
      <p:sp>
        <p:nvSpPr>
          <p:cNvPr id="16" name="anim-3-rise-tp2"/>
          <p:cNvSpPr txBox="1"/>
          <p:nvPr/>
        </p:nvSpPr>
        <p:spPr>
          <a:xfrm>
            <a:off x="8321040" y="2359152"/>
            <a:ext cx="3017520" cy="274320"/>
          </a:xfrm>
          <a:prstGeom prst="rect">
            <a:avLst/>
          </a:prstGeom>
          <a:noFill/>
          <a:ln/>
        </p:spPr>
        <p:txBody>
          <a:bodyPr wrap="square" lIns="0" tIns="0" rIns="0" bIns="0" rtlCol="0" anchor="ctr"/>
          <a:lstStyle/>
          <a:p>
            <a:pPr indent="0" marL="0">
              <a:buNone/>
            </a:pPr>
            <a:r>
              <a:rPr lang="en-US" sz="1100" b="1" spc="200" kern="0" dirty="0">
                <a:solidFill>
                  <a:srgbClr val="A7A196"/>
                </a:solidFill>
              </a:rPr>
              <a:t>ANNUAL</a:t>
            </a:r>
            <a:endParaRPr lang="en-US" sz="1100" dirty="0"/>
          </a:p>
        </p:txBody>
      </p:sp>
      <p:sp>
        <p:nvSpPr>
          <p:cNvPr id="17" name="anim-3-rise-tb2"/>
          <p:cNvSpPr txBox="1"/>
          <p:nvPr/>
        </p:nvSpPr>
        <p:spPr>
          <a:xfrm>
            <a:off x="8321040" y="2724912"/>
            <a:ext cx="3017520" cy="1143000"/>
          </a:xfrm>
          <a:prstGeom prst="rect">
            <a:avLst/>
          </a:prstGeom>
          <a:noFill/>
          <a:ln/>
        </p:spPr>
        <p:txBody>
          <a:bodyPr wrap="square" lIns="0" tIns="0" rIns="0" bIns="0" rtlCol="0" anchor="t"/>
          <a:lstStyle/>
          <a:p>
            <a:pPr indent="0" marL="0">
              <a:buNone/>
            </a:pPr>
            <a:r>
              <a:rPr lang="en-US" sz="1400" dirty="0">
                <a:solidFill>
                  <a:srgbClr val="CDC7BB"/>
                </a:solidFill>
              </a:rPr>
              <a:t>HIPAA "minimum necessary" &amp; CCPA policy packs, ledger anchoring, deletion-request automation.</a:t>
            </a:r>
            <a:endParaRPr lang="en-US" sz="1400" dirty="0"/>
          </a:p>
        </p:txBody>
      </p:sp>
      <p:sp>
        <p:nvSpPr>
          <p:cNvPr id="18" name="anim-4-fade-why"/>
          <p:cNvSpPr txBox="1"/>
          <p:nvPr/>
        </p:nvSpPr>
        <p:spPr>
          <a:xfrm>
            <a:off x="548640" y="4297680"/>
            <a:ext cx="7589520" cy="1005840"/>
          </a:xfrm>
          <a:prstGeom prst="rect">
            <a:avLst/>
          </a:prstGeom>
          <a:noFill/>
          <a:ln/>
        </p:spPr>
        <p:txBody>
          <a:bodyPr wrap="square" lIns="0" tIns="0" rIns="0" bIns="0" rtlCol="0" anchor="t"/>
          <a:lstStyle/>
          <a:p>
            <a:pPr indent="0" marL="0">
              <a:buNone/>
            </a:pPr>
            <a:r>
              <a:rPr lang="en-US" sz="1600" dirty="0">
                <a:solidFill>
                  <a:srgbClr val="CDC7BB"/>
                </a:solidFill>
              </a:rPr>
              <a:t>Privacy law already demands purpose limitation and data minimization. Autonomous agents make both impossible without a boundary. Consentry is that boundary, and every decision comes with proof.</a:t>
            </a:r>
            <a:endParaRPr lang="en-US" sz="1600" dirty="0"/>
          </a:p>
        </p:txBody>
      </p:sp>
      <p:sp>
        <p:nvSpPr>
          <p:cNvPr id="19" name="anim-5-rise-close"/>
          <p:cNvSpPr txBox="1"/>
          <p:nvPr/>
        </p:nvSpPr>
        <p:spPr>
          <a:xfrm>
            <a:off x="548640" y="5440680"/>
            <a:ext cx="7589520" cy="548640"/>
          </a:xfrm>
          <a:prstGeom prst="rect">
            <a:avLst/>
          </a:prstGeom>
          <a:noFill/>
          <a:ln/>
        </p:spPr>
        <p:txBody>
          <a:bodyPr wrap="square" lIns="0" tIns="0" rIns="0" bIns="0" rtlCol="0" anchor="ctr"/>
          <a:lstStyle/>
          <a:p>
            <a:pPr indent="0" marL="0">
              <a:buNone/>
            </a:pPr>
            <a:r>
              <a:rPr lang="en-US" sz="2600" b="1" dirty="0">
                <a:solidFill>
                  <a:srgbClr val="FFFFFF"/>
                </a:solidFill>
              </a:rPr>
              <a:t>Your data. Your rules. Your receipt.</a:t>
            </a:r>
            <a:endParaRPr lang="en-US" sz="2600" dirty="0"/>
          </a:p>
        </p:txBody>
      </p:sp>
      <p:sp>
        <p:nvSpPr>
          <p:cNvPr id="20" name="anim-6-zoom-qrbg"/>
          <p:cNvSpPr/>
          <p:nvPr/>
        </p:nvSpPr>
        <p:spPr>
          <a:xfrm>
            <a:off x="8732520" y="4160520"/>
            <a:ext cx="2926080" cy="2103120"/>
          </a:xfrm>
          <a:prstGeom prst="roundRect">
            <a:avLst>
              <a:gd name="adj" fmla="val 6087"/>
            </a:avLst>
          </a:prstGeom>
          <a:solidFill>
            <a:srgbClr val="FFFFFF">
              <a:alpha val="92000"/>
            </a:srgbClr>
          </a:solidFill>
          <a:ln w="12700">
            <a:solidFill>
              <a:srgbClr val="FFFFFF"/>
            </a:solidFill>
            <a:prstDash val="solid"/>
          </a:ln>
        </p:spPr>
      </p:sp>
      <p:pic>
        <p:nvPicPr>
          <p:cNvPr id="21" name="anim-6-zoom-qr" descr="preencoded.png">    </p:cNvPr>
          <p:cNvPicPr>
            <a:picLocks noChangeAspect="1"/>
          </p:cNvPicPr>
          <p:nvPr/>
        </p:nvPicPr>
        <p:blipFill>
          <a:blip r:embed="rId3"/>
          <a:stretch>
            <a:fillRect/>
          </a:stretch>
        </p:blipFill>
        <p:spPr>
          <a:xfrm>
            <a:off x="8869680" y="4297680"/>
            <a:ext cx="1828800" cy="1828800"/>
          </a:xfrm>
          <a:prstGeom prst="rect">
            <a:avLst/>
          </a:prstGeom>
        </p:spPr>
      </p:pic>
      <p:sp>
        <p:nvSpPr>
          <p:cNvPr id="22" name="anim-6-zoom-qrt"/>
          <p:cNvSpPr txBox="1"/>
          <p:nvPr/>
        </p:nvSpPr>
        <p:spPr>
          <a:xfrm>
            <a:off x="10744200" y="4389120"/>
            <a:ext cx="868680" cy="1645920"/>
          </a:xfrm>
          <a:prstGeom prst="rect">
            <a:avLst/>
          </a:prstGeom>
          <a:noFill/>
          <a:ln/>
        </p:spPr>
        <p:txBody>
          <a:bodyPr wrap="square" lIns="0" tIns="0" rIns="0" bIns="0" rtlCol="0" anchor="ctr"/>
          <a:lstStyle/>
          <a:p>
            <a:pPr indent="0" marL="0">
              <a:buNone/>
            </a:pPr>
            <a:r>
              <a:rPr lang="en-US" sz="1200" b="1" dirty="0">
                <a:solidFill>
                  <a:srgbClr val="0E0F0C"/>
                </a:solidFill>
              </a:rPr>
              <a:t>Try the live demo</a:t>
            </a:r>
            <a:endParaRPr lang="en-US" sz="1200" dirty="0"/>
          </a:p>
        </p:txBody>
      </p:sp>
      <p:sp>
        <p:nvSpPr>
          <p:cNvPr id="23" name="anim-7-fade-links"/>
          <p:cNvSpPr txBox="1"/>
          <p:nvPr/>
        </p:nvSpPr>
        <p:spPr>
          <a:xfrm>
            <a:off x="8732520" y="6327648"/>
            <a:ext cx="2926080" cy="274320"/>
          </a:xfrm>
          <a:prstGeom prst="rect">
            <a:avLst/>
          </a:prstGeom>
          <a:noFill/>
          <a:ln/>
        </p:spPr>
        <p:txBody>
          <a:bodyPr wrap="square" lIns="0" tIns="0" rIns="0" bIns="0" rtlCol="0" anchor="ctr"/>
          <a:lstStyle/>
          <a:p>
            <a:pPr algn="ctr" indent="0" marL="0">
              <a:buNone/>
            </a:pPr>
            <a:r>
              <a:rPr lang="en-US" sz="1100" dirty="0">
                <a:solidFill>
                  <a:srgbClr val="A7A196"/>
                </a:solidFill>
              </a:rPr>
              <a:t>github.com/vnmoorthy/consentry</a:t>
            </a:r>
            <a:endParaRPr lang="en-US" sz="1100" dirty="0"/>
          </a:p>
        </p:txBody>
      </p:sp>
      <p:sp>
        <p:nvSpPr>
          <p:cNvPr id="25" name="Slide Number Placeholder 0"/>
          <p:cNvSpPr>
            <a:spLocks noGrp="1"/>
          </p:cNvSpPr>
          <p:nvPr>
            <p:ph type="sldNum" sz="quarter" idx="4294967295"/>
          </p:nvPr>
        </p:nvSpPr>
        <p:spPr>
          <a:xfrm>
            <a:off x="1129284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7736A"/>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0" fill="hold">
                            <p:stCondLst>
                              <p:cond delay="0"/>
                            </p:stCondLst>
                            <p:childTnLst>
                              <p:par>
                                <p:cTn id="8" presetID="42" presetClass="entr" presetSubtype="0" fill="hold" grpId="0" nodeType="afterEffect">
                                  <p:stCondLst>
                                    <p:cond delay="25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750"/>
                                        <p:tgtEl>
                                          <p:spTgt spid="6"/>
                                        </p:tgtEl>
                                      </p:cBhvr>
                                    </p:animEffect>
                                    <p:anim calcmode="lin" valueType="num">
                                      <p:cBhvr>
                                        <p:cTn id="6" dur="750" fill="hold"/>
                                        <p:tgtEl>
                                          <p:spTgt spid="6"/>
                                        </p:tgtEl>
                                        <p:attrNameLst>
                                          <p:attrName>ppt_x</p:attrName>
                                        </p:attrNameLst>
                                      </p:cBhvr>
                                      <p:tavLst>
                                        <p:tav tm="0">
                                          <p:val>
                                            <p:strVal val="#ppt_x"/>
                                          </p:val>
                                        </p:tav>
                                        <p:tav tm="100000">
                                          <p:val>
                                            <p:strVal val="#ppt_x"/>
                                          </p:val>
                                        </p:tav>
                                      </p:tavLst>
                                    </p:anim>
                                    <p:anim calcmode="lin" valueType="num">
                                      <p:cBhvr>
                                        <p:cTn id="7" dur="750" decel="100000" fill="hold"/>
                                        <p:tgtEl>
                                          <p:spTgt spid="6"/>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305"/>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750"/>
                                        <p:tgtEl>
                                          <p:spTgt spid="7"/>
                                        </p:tgtEl>
                                      </p:cBhvr>
                                    </p:animEffect>
                                    <p:anim calcmode="lin" valueType="num">
                                      <p:cBhvr>
                                        <p:cTn id="11" dur="750" fill="hold"/>
                                        <p:tgtEl>
                                          <p:spTgt spid="7"/>
                                        </p:tgtEl>
                                        <p:attrNameLst>
                                          <p:attrName>ppt_x</p:attrName>
                                        </p:attrNameLst>
                                      </p:cBhvr>
                                      <p:tavLst>
                                        <p:tav tm="0">
                                          <p:val>
                                            <p:strVal val="#ppt_x"/>
                                          </p:val>
                                        </p:tav>
                                        <p:tav tm="100000">
                                          <p:val>
                                            <p:strVal val="#ppt_x"/>
                                          </p:val>
                                        </p:tav>
                                      </p:tavLst>
                                    </p:anim>
                                    <p:anim calcmode="lin" valueType="num">
                                      <p:cBhvr>
                                        <p:cTn id="12" dur="750" decel="100000" fill="hold"/>
                                        <p:tgtEl>
                                          <p:spTgt spid="7"/>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36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750"/>
                                        <p:tgtEl>
                                          <p:spTgt spid="8"/>
                                        </p:tgtEl>
                                      </p:cBhvr>
                                    </p:animEffect>
                                    <p:anim calcmode="lin" valueType="num">
                                      <p:cBhvr>
                                        <p:cTn id="16" dur="750" fill="hold"/>
                                        <p:tgtEl>
                                          <p:spTgt spid="8"/>
                                        </p:tgtEl>
                                        <p:attrNameLst>
                                          <p:attrName>ppt_x</p:attrName>
                                        </p:attrNameLst>
                                      </p:cBhvr>
                                      <p:tavLst>
                                        <p:tav tm="0">
                                          <p:val>
                                            <p:strVal val="#ppt_x"/>
                                          </p:val>
                                        </p:tav>
                                        <p:tav tm="100000">
                                          <p:val>
                                            <p:strVal val="#ppt_x"/>
                                          </p:val>
                                        </p:tav>
                                      </p:tavLst>
                                    </p:anim>
                                    <p:anim calcmode="lin" valueType="num">
                                      <p:cBhvr>
                                        <p:cTn id="17" dur="750" decel="100000" fill="hold"/>
                                        <p:tgtEl>
                                          <p:spTgt spid="8"/>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415"/>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750"/>
                                        <p:tgtEl>
                                          <p:spTgt spid="9"/>
                                        </p:tgtEl>
                                      </p:cBhvr>
                                    </p:animEffect>
                                    <p:anim calcmode="lin" valueType="num">
                                      <p:cBhvr>
                                        <p:cTn id="21" dur="750" fill="hold"/>
                                        <p:tgtEl>
                                          <p:spTgt spid="9"/>
                                        </p:tgtEl>
                                        <p:attrNameLst>
                                          <p:attrName>ppt_x</p:attrName>
                                        </p:attrNameLst>
                                      </p:cBhvr>
                                      <p:tavLst>
                                        <p:tav tm="0">
                                          <p:val>
                                            <p:strVal val="#ppt_x"/>
                                          </p:val>
                                        </p:tav>
                                        <p:tav tm="100000">
                                          <p:val>
                                            <p:strVal val="#ppt_x"/>
                                          </p:val>
                                        </p:tav>
                                      </p:tavLst>
                                    </p:anim>
                                    <p:anim calcmode="lin" valueType="num">
                                      <p:cBhvr>
                                        <p:cTn id="22" dur="750" decel="100000" fill="hold"/>
                                        <p:tgtEl>
                                          <p:spTgt spid="9"/>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58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750"/>
                                        <p:tgtEl>
                                          <p:spTgt spid="10"/>
                                        </p:tgtEl>
                                      </p:cBhvr>
                                    </p:animEffect>
                                    <p:anim calcmode="lin" valueType="num">
                                      <p:cBhvr>
                                        <p:cTn id="26" dur="750" fill="hold"/>
                                        <p:tgtEl>
                                          <p:spTgt spid="10"/>
                                        </p:tgtEl>
                                        <p:attrNameLst>
                                          <p:attrName>ppt_x</p:attrName>
                                        </p:attrNameLst>
                                      </p:cBhvr>
                                      <p:tavLst>
                                        <p:tav tm="0">
                                          <p:val>
                                            <p:strVal val="#ppt_x"/>
                                          </p:val>
                                        </p:tav>
                                        <p:tav tm="100000">
                                          <p:val>
                                            <p:strVal val="#ppt_x"/>
                                          </p:val>
                                        </p:tav>
                                      </p:tavLst>
                                    </p:anim>
                                    <p:anim calcmode="lin" valueType="num">
                                      <p:cBhvr>
                                        <p:cTn id="27" dur="750" decel="100000" fill="hold"/>
                                        <p:tgtEl>
                                          <p:spTgt spid="10"/>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635"/>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750"/>
                                        <p:tgtEl>
                                          <p:spTgt spid="11"/>
                                        </p:tgtEl>
                                      </p:cBhvr>
                                    </p:animEffect>
                                    <p:anim calcmode="lin" valueType="num">
                                      <p:cBhvr>
                                        <p:cTn id="31" dur="750" fill="hold"/>
                                        <p:tgtEl>
                                          <p:spTgt spid="11"/>
                                        </p:tgtEl>
                                        <p:attrNameLst>
                                          <p:attrName>ppt_x</p:attrName>
                                        </p:attrNameLst>
                                      </p:cBhvr>
                                      <p:tavLst>
                                        <p:tav tm="0">
                                          <p:val>
                                            <p:strVal val="#ppt_x"/>
                                          </p:val>
                                        </p:tav>
                                        <p:tav tm="100000">
                                          <p:val>
                                            <p:strVal val="#ppt_x"/>
                                          </p:val>
                                        </p:tav>
                                      </p:tavLst>
                                    </p:anim>
                                    <p:anim calcmode="lin" valueType="num">
                                      <p:cBhvr>
                                        <p:cTn id="32" dur="750" decel="100000" fill="hold"/>
                                        <p:tgtEl>
                                          <p:spTgt spid="11"/>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69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750"/>
                                        <p:tgtEl>
                                          <p:spTgt spid="12"/>
                                        </p:tgtEl>
                                      </p:cBhvr>
                                    </p:animEffect>
                                    <p:anim calcmode="lin" valueType="num">
                                      <p:cBhvr>
                                        <p:cTn id="36" dur="750" fill="hold"/>
                                        <p:tgtEl>
                                          <p:spTgt spid="12"/>
                                        </p:tgtEl>
                                        <p:attrNameLst>
                                          <p:attrName>ppt_x</p:attrName>
                                        </p:attrNameLst>
                                      </p:cBhvr>
                                      <p:tavLst>
                                        <p:tav tm="0">
                                          <p:val>
                                            <p:strVal val="#ppt_x"/>
                                          </p:val>
                                        </p:tav>
                                        <p:tav tm="100000">
                                          <p:val>
                                            <p:strVal val="#ppt_x"/>
                                          </p:val>
                                        </p:tav>
                                      </p:tavLst>
                                    </p:anim>
                                    <p:anim calcmode="lin" valueType="num">
                                      <p:cBhvr>
                                        <p:cTn id="37" dur="750" decel="100000" fill="hold"/>
                                        <p:tgtEl>
                                          <p:spTgt spid="12"/>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745"/>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750"/>
                                        <p:tgtEl>
                                          <p:spTgt spid="13"/>
                                        </p:tgtEl>
                                      </p:cBhvr>
                                    </p:animEffect>
                                    <p:anim calcmode="lin" valueType="num">
                                      <p:cBhvr>
                                        <p:cTn id="41" dur="750" fill="hold"/>
                                        <p:tgtEl>
                                          <p:spTgt spid="13"/>
                                        </p:tgtEl>
                                        <p:attrNameLst>
                                          <p:attrName>ppt_x</p:attrName>
                                        </p:attrNameLst>
                                      </p:cBhvr>
                                      <p:tavLst>
                                        <p:tav tm="0">
                                          <p:val>
                                            <p:strVal val="#ppt_x"/>
                                          </p:val>
                                        </p:tav>
                                        <p:tav tm="100000">
                                          <p:val>
                                            <p:strVal val="#ppt_x"/>
                                          </p:val>
                                        </p:tav>
                                      </p:tavLst>
                                    </p:anim>
                                    <p:anim calcmode="lin" valueType="num">
                                      <p:cBhvr>
                                        <p:cTn id="42" dur="750" decel="100000" fill="hold"/>
                                        <p:tgtEl>
                                          <p:spTgt spid="13"/>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91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750"/>
                                        <p:tgtEl>
                                          <p:spTgt spid="14"/>
                                        </p:tgtEl>
                                      </p:cBhvr>
                                    </p:animEffect>
                                    <p:anim calcmode="lin" valueType="num">
                                      <p:cBhvr>
                                        <p:cTn id="46" dur="750" fill="hold"/>
                                        <p:tgtEl>
                                          <p:spTgt spid="14"/>
                                        </p:tgtEl>
                                        <p:attrNameLst>
                                          <p:attrName>ppt_x</p:attrName>
                                        </p:attrNameLst>
                                      </p:cBhvr>
                                      <p:tavLst>
                                        <p:tav tm="0">
                                          <p:val>
                                            <p:strVal val="#ppt_x"/>
                                          </p:val>
                                        </p:tav>
                                        <p:tav tm="100000">
                                          <p:val>
                                            <p:strVal val="#ppt_x"/>
                                          </p:val>
                                        </p:tav>
                                      </p:tavLst>
                                    </p:anim>
                                    <p:anim calcmode="lin" valueType="num">
                                      <p:cBhvr>
                                        <p:cTn id="47" dur="750" decel="100000" fill="hold"/>
                                        <p:tgtEl>
                                          <p:spTgt spid="14"/>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965"/>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750"/>
                                        <p:tgtEl>
                                          <p:spTgt spid="15"/>
                                        </p:tgtEl>
                                      </p:cBhvr>
                                    </p:animEffect>
                                    <p:anim calcmode="lin" valueType="num">
                                      <p:cBhvr>
                                        <p:cTn id="51" dur="750" fill="hold"/>
                                        <p:tgtEl>
                                          <p:spTgt spid="15"/>
                                        </p:tgtEl>
                                        <p:attrNameLst>
                                          <p:attrName>ppt_x</p:attrName>
                                        </p:attrNameLst>
                                      </p:cBhvr>
                                      <p:tavLst>
                                        <p:tav tm="0">
                                          <p:val>
                                            <p:strVal val="#ppt_x"/>
                                          </p:val>
                                        </p:tav>
                                        <p:tav tm="100000">
                                          <p:val>
                                            <p:strVal val="#ppt_x"/>
                                          </p:val>
                                        </p:tav>
                                      </p:tavLst>
                                    </p:anim>
                                    <p:anim calcmode="lin" valueType="num">
                                      <p:cBhvr>
                                        <p:cTn id="52" dur="750" decel="100000" fill="hold"/>
                                        <p:tgtEl>
                                          <p:spTgt spid="15"/>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102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750"/>
                                        <p:tgtEl>
                                          <p:spTgt spid="16"/>
                                        </p:tgtEl>
                                      </p:cBhvr>
                                    </p:animEffect>
                                    <p:anim calcmode="lin" valueType="num">
                                      <p:cBhvr>
                                        <p:cTn id="56" dur="750" fill="hold"/>
                                        <p:tgtEl>
                                          <p:spTgt spid="16"/>
                                        </p:tgtEl>
                                        <p:attrNameLst>
                                          <p:attrName>ppt_x</p:attrName>
                                        </p:attrNameLst>
                                      </p:cBhvr>
                                      <p:tavLst>
                                        <p:tav tm="0">
                                          <p:val>
                                            <p:strVal val="#ppt_x"/>
                                          </p:val>
                                        </p:tav>
                                        <p:tav tm="100000">
                                          <p:val>
                                            <p:strVal val="#ppt_x"/>
                                          </p:val>
                                        </p:tav>
                                      </p:tavLst>
                                    </p:anim>
                                    <p:anim calcmode="lin" valueType="num">
                                      <p:cBhvr>
                                        <p:cTn id="57" dur="750" decel="100000" fill="hold"/>
                                        <p:tgtEl>
                                          <p:spTgt spid="16"/>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1075"/>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750"/>
                                        <p:tgtEl>
                                          <p:spTgt spid="17"/>
                                        </p:tgtEl>
                                      </p:cBhvr>
                                    </p:animEffect>
                                    <p:anim calcmode="lin" valueType="num">
                                      <p:cBhvr>
                                        <p:cTn id="61" dur="750" fill="hold"/>
                                        <p:tgtEl>
                                          <p:spTgt spid="17"/>
                                        </p:tgtEl>
                                        <p:attrNameLst>
                                          <p:attrName>ppt_x</p:attrName>
                                        </p:attrNameLst>
                                      </p:cBhvr>
                                      <p:tavLst>
                                        <p:tav tm="0">
                                          <p:val>
                                            <p:strVal val="#ppt_x"/>
                                          </p:val>
                                        </p:tav>
                                        <p:tav tm="100000">
                                          <p:val>
                                            <p:strVal val="#ppt_x"/>
                                          </p:val>
                                        </p:tav>
                                      </p:tavLst>
                                    </p:anim>
                                    <p:anim calcmode="lin" valueType="num">
                                      <p:cBhvr>
                                        <p:cTn id="62" dur="750" decel="100000" fill="hold"/>
                                        <p:tgtEl>
                                          <p:spTgt spid="17"/>
                                        </p:tgtEl>
                                        <p:attrNameLst>
                                          <p:attrName>ppt_y</p:attrName>
                                        </p:attrNameLst>
                                      </p:cBhvr>
                                      <p:tavLst>
                                        <p:tav tm="0">
                                          <p:val>
                                            <p:strVal val="#ppt_y+.06"/>
                                          </p:val>
                                        </p:tav>
                                        <p:tav tm="100000">
                                          <p:val>
                                            <p:strVal val="#ppt_y"/>
                                          </p:val>
                                        </p:tav>
                                      </p:tavLst>
                                    </p:anim>
                                  </p:childTnLst>
                                </p:cTn>
                              </p:par>
                              <p:par>
                                <p:cTn id="66" presetID="10" presetClass="entr" presetSubtype="0" fill="hold" grpId="0" nodeType="withEffect">
                                  <p:stCondLst>
                                    <p:cond delay="124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650"/>
                                        <p:tgtEl>
                                          <p:spTgt spid="18"/>
                                        </p:tgtEl>
                                      </p:cBhvr>
                                    </p:animEffect>
                                  </p:childTnLst>
                                </p:cTn>
                              </p:par>
                              <p:par>
                                <p:cTn id="71" presetID="42" presetClass="entr" presetSubtype="0" fill="hold" grpId="0" nodeType="withEffect">
                                  <p:stCondLst>
                                    <p:cond delay="157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750"/>
                                        <p:tgtEl>
                                          <p:spTgt spid="19"/>
                                        </p:tgtEl>
                                      </p:cBhvr>
                                    </p:animEffect>
                                    <p:anim calcmode="lin" valueType="num">
                                      <p:cBhvr>
                                        <p:cTn id="69" dur="750" fill="hold"/>
                                        <p:tgtEl>
                                          <p:spTgt spid="19"/>
                                        </p:tgtEl>
                                        <p:attrNameLst>
                                          <p:attrName>ppt_x</p:attrName>
                                        </p:attrNameLst>
                                      </p:cBhvr>
                                      <p:tavLst>
                                        <p:tav tm="0">
                                          <p:val>
                                            <p:strVal val="#ppt_x"/>
                                          </p:val>
                                        </p:tav>
                                        <p:tav tm="100000">
                                          <p:val>
                                            <p:strVal val="#ppt_x"/>
                                          </p:val>
                                        </p:tav>
                                      </p:tavLst>
                                    </p:anim>
                                    <p:anim calcmode="lin" valueType="num">
                                      <p:cBhvr>
                                        <p:cTn id="70" dur="750" decel="100000" fill="hold"/>
                                        <p:tgtEl>
                                          <p:spTgt spid="19"/>
                                        </p:tgtEl>
                                        <p:attrNameLst>
                                          <p:attrName>ppt_y</p:attrName>
                                        </p:attrNameLst>
                                      </p:cBhvr>
                                      <p:tavLst>
                                        <p:tav tm="0">
                                          <p:val>
                                            <p:strVal val="#ppt_y+.06"/>
                                          </p:val>
                                        </p:tav>
                                        <p:tav tm="100000">
                                          <p:val>
                                            <p:strVal val="#ppt_y"/>
                                          </p:val>
                                        </p:tav>
                                      </p:tavLst>
                                    </p:anim>
                                  </p:childTnLst>
                                </p:cTn>
                              </p:par>
                              <p:par>
                                <p:cTn id="76" presetID="53" presetClass="entr" presetSubtype="16" fill="hold" grpId="0" nodeType="withEffect">
                                  <p:stCondLst>
                                    <p:cond delay="1900"/>
                                  </p:stCondLst>
                                  <p:childTnLst>
                                    <p:set>
                                      <p:cBhvr>
                                        <p:cTn id="72" dur="1" fill="hold">
                                          <p:stCondLst>
                                            <p:cond delay="0"/>
                                          </p:stCondLst>
                                        </p:cTn>
                                        <p:tgtEl>
                                          <p:spTgt spid="20"/>
                                        </p:tgtEl>
                                        <p:attrNameLst>
                                          <p:attrName>style.visibility</p:attrName>
                                        </p:attrNameLst>
                                      </p:cBhvr>
                                      <p:to>
                                        <p:strVal val="visible"/>
                                      </p:to>
                                    </p:set>
                                    <p:anim calcmode="lin" valueType="num">
                                      <p:cBhvr>
                                        <p:cTn id="73" dur="700" decel="100000" fill="hold"/>
                                        <p:tgtEl>
                                          <p:spTgt spid="20"/>
                                        </p:tgtEl>
                                        <p:attrNameLst>
                                          <p:attrName>ppt_w</p:attrName>
                                        </p:attrNameLst>
                                      </p:cBhvr>
                                      <p:tavLst>
                                        <p:tav tm="0">
                                          <p:val>
                                            <p:strVal val="0"/>
                                          </p:val>
                                        </p:tav>
                                        <p:tav tm="100000">
                                          <p:val>
                                            <p:strVal val="#ppt_w"/>
                                          </p:val>
                                        </p:tav>
                                      </p:tavLst>
                                    </p:anim>
                                    <p:anim calcmode="lin" valueType="num">
                                      <p:cBhvr>
                                        <p:cTn id="74" dur="700" decel="100000" fill="hold"/>
                                        <p:tgtEl>
                                          <p:spTgt spid="20"/>
                                        </p:tgtEl>
                                        <p:attrNameLst>
                                          <p:attrName>ppt_h</p:attrName>
                                        </p:attrNameLst>
                                      </p:cBhvr>
                                      <p:tavLst>
                                        <p:tav tm="0">
                                          <p:val>
                                            <p:strVal val="0"/>
                                          </p:val>
                                        </p:tav>
                                        <p:tav tm="100000">
                                          <p:val>
                                            <p:strVal val="#ppt_h"/>
                                          </p:val>
                                        </p:tav>
                                      </p:tavLst>
                                    </p:anim>
                                    <p:animEffect transition="in" filter="fade">
                                      <p:cBhvr>
                                        <p:cTn id="75" dur="700"/>
                                        <p:tgtEl>
                                          <p:spTgt spid="20"/>
                                        </p:tgtEl>
                                      </p:cBhvr>
                                    </p:animEffect>
                                  </p:childTnLst>
                                </p:cTn>
                              </p:par>
                              <p:par>
                                <p:cTn id="81" presetID="53" presetClass="entr" presetSubtype="16" fill="hold" grpId="0" nodeType="withEffect">
                                  <p:stCondLst>
                                    <p:cond delay="1955"/>
                                  </p:stCondLst>
                                  <p:childTnLst>
                                    <p:set>
                                      <p:cBhvr>
                                        <p:cTn id="77" dur="1" fill="hold">
                                          <p:stCondLst>
                                            <p:cond delay="0"/>
                                          </p:stCondLst>
                                        </p:cTn>
                                        <p:tgtEl>
                                          <p:spTgt spid="21"/>
                                        </p:tgtEl>
                                        <p:attrNameLst>
                                          <p:attrName>style.visibility</p:attrName>
                                        </p:attrNameLst>
                                      </p:cBhvr>
                                      <p:to>
                                        <p:strVal val="visible"/>
                                      </p:to>
                                    </p:set>
                                    <p:anim calcmode="lin" valueType="num">
                                      <p:cBhvr>
                                        <p:cTn id="78" dur="700" decel="100000" fill="hold"/>
                                        <p:tgtEl>
                                          <p:spTgt spid="21"/>
                                        </p:tgtEl>
                                        <p:attrNameLst>
                                          <p:attrName>ppt_w</p:attrName>
                                        </p:attrNameLst>
                                      </p:cBhvr>
                                      <p:tavLst>
                                        <p:tav tm="0">
                                          <p:val>
                                            <p:strVal val="0"/>
                                          </p:val>
                                        </p:tav>
                                        <p:tav tm="100000">
                                          <p:val>
                                            <p:strVal val="#ppt_w"/>
                                          </p:val>
                                        </p:tav>
                                      </p:tavLst>
                                    </p:anim>
                                    <p:anim calcmode="lin" valueType="num">
                                      <p:cBhvr>
                                        <p:cTn id="79" dur="700" decel="100000" fill="hold"/>
                                        <p:tgtEl>
                                          <p:spTgt spid="21"/>
                                        </p:tgtEl>
                                        <p:attrNameLst>
                                          <p:attrName>ppt_h</p:attrName>
                                        </p:attrNameLst>
                                      </p:cBhvr>
                                      <p:tavLst>
                                        <p:tav tm="0">
                                          <p:val>
                                            <p:strVal val="0"/>
                                          </p:val>
                                        </p:tav>
                                        <p:tav tm="100000">
                                          <p:val>
                                            <p:strVal val="#ppt_h"/>
                                          </p:val>
                                        </p:tav>
                                      </p:tavLst>
                                    </p:anim>
                                    <p:animEffect transition="in" filter="fade">
                                      <p:cBhvr>
                                        <p:cTn id="80" dur="700"/>
                                        <p:tgtEl>
                                          <p:spTgt spid="21"/>
                                        </p:tgtEl>
                                      </p:cBhvr>
                                    </p:animEffect>
                                  </p:childTnLst>
                                </p:cTn>
                              </p:par>
                              <p:par>
                                <p:cTn id="86" presetID="53" presetClass="entr" presetSubtype="16" fill="hold" grpId="0" nodeType="withEffect">
                                  <p:stCondLst>
                                    <p:cond delay="2010"/>
                                  </p:stCondLst>
                                  <p:childTnLst>
                                    <p:set>
                                      <p:cBhvr>
                                        <p:cTn id="82" dur="1" fill="hold">
                                          <p:stCondLst>
                                            <p:cond delay="0"/>
                                          </p:stCondLst>
                                        </p:cTn>
                                        <p:tgtEl>
                                          <p:spTgt spid="22"/>
                                        </p:tgtEl>
                                        <p:attrNameLst>
                                          <p:attrName>style.visibility</p:attrName>
                                        </p:attrNameLst>
                                      </p:cBhvr>
                                      <p:to>
                                        <p:strVal val="visible"/>
                                      </p:to>
                                    </p:set>
                                    <p:anim calcmode="lin" valueType="num">
                                      <p:cBhvr>
                                        <p:cTn id="83" dur="700" decel="100000" fill="hold"/>
                                        <p:tgtEl>
                                          <p:spTgt spid="22"/>
                                        </p:tgtEl>
                                        <p:attrNameLst>
                                          <p:attrName>ppt_w</p:attrName>
                                        </p:attrNameLst>
                                      </p:cBhvr>
                                      <p:tavLst>
                                        <p:tav tm="0">
                                          <p:val>
                                            <p:strVal val="0"/>
                                          </p:val>
                                        </p:tav>
                                        <p:tav tm="100000">
                                          <p:val>
                                            <p:strVal val="#ppt_w"/>
                                          </p:val>
                                        </p:tav>
                                      </p:tavLst>
                                    </p:anim>
                                    <p:anim calcmode="lin" valueType="num">
                                      <p:cBhvr>
                                        <p:cTn id="84" dur="700" decel="100000" fill="hold"/>
                                        <p:tgtEl>
                                          <p:spTgt spid="22"/>
                                        </p:tgtEl>
                                        <p:attrNameLst>
                                          <p:attrName>ppt_h</p:attrName>
                                        </p:attrNameLst>
                                      </p:cBhvr>
                                      <p:tavLst>
                                        <p:tav tm="0">
                                          <p:val>
                                            <p:strVal val="0"/>
                                          </p:val>
                                        </p:tav>
                                        <p:tav tm="100000">
                                          <p:val>
                                            <p:strVal val="#ppt_h"/>
                                          </p:val>
                                        </p:tav>
                                      </p:tavLst>
                                    </p:anim>
                                    <p:animEffect transition="in" filter="fade">
                                      <p:cBhvr>
                                        <p:cTn id="85" dur="700"/>
                                        <p:tgtEl>
                                          <p:spTgt spid="22"/>
                                        </p:tgtEl>
                                      </p:cBhvr>
                                    </p:animEffect>
                                  </p:childTnLst>
                                </p:cTn>
                              </p:par>
                              <p:par>
                                <p:cTn id="89" presetID="10" presetClass="entr" presetSubtype="0" fill="hold" grpId="0" nodeType="withEffect">
                                  <p:stCondLst>
                                    <p:cond delay="223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6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Lst>
  </p:timing>
</p:sld>
</file>

<file path=ppt/theme/theme1.xml><?xml version="1.0" encoding="utf-8"?>
<a:theme xmlns:a="http://schemas.openxmlformats.org/drawingml/2006/main" name="Consentry Ember Horizon">
  <a:themeElements>
    <a:clrScheme name="Consentry Ember Horizon">
      <a:dk1>
        <a:srgbClr val="0E0F0C"/>
      </a:dk1>
      <a:lt1>
        <a:srgbClr val="FFFFFF"/>
      </a:lt1>
      <a:dk2>
        <a:srgbClr val="1A1B17"/>
      </a:dk2>
      <a:lt2>
        <a:srgbClr val="CDC7BB"/>
      </a:lt2>
      <a:accent1>
        <a:srgbClr val="EFA56F"/>
      </a:accent1>
      <a:accent2>
        <a:srgbClr val="F6D8B4"/>
      </a:accent2>
      <a:accent3>
        <a:srgbClr val="FBBF24"/>
      </a:accent3>
      <a:accent4>
        <a:srgbClr val="FB7185"/>
      </a:accent4>
      <a:accent5>
        <a:srgbClr val="60A5FA"/>
      </a:accent5>
      <a:accent6>
        <a:srgbClr val="34D399"/>
      </a:accent6>
      <a:hlink>
        <a:srgbClr val="EFA56F"/>
      </a:hlink>
      <a:folHlink>
        <a:srgbClr val="F6D8B4"/>
      </a:folHlink>
    </a:clrScheme>
    <a:fontScheme name="Consentry Ember Horiz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Consentry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Consentry — the consent firewall for AI agents</dc:title>
  <dc:subject>National Renaissance Hackathon at super{set}</dc:subject>
  <dc:creator>vnmoorthy</dc:creator>
  <cp:lastModifiedBy>vnmoorthy</cp:lastModifiedBy>
  <cp:revision>1</cp:revision>
  <dcterms:created xsi:type="dcterms:W3CDTF">2026-10-22T22:06:11Z</dcterms:created>
  <dcterms:modified xsi:type="dcterms:W3CDTF">2026-10-22T22:06:11Z</dcterms:modified>
</cp:coreProperties>
</file>